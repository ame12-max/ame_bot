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5"/>
  </p:handoutMasterIdLst>
  <p:sldIdLst>
    <p:sldId id="256" r:id="rId2"/>
    <p:sldId id="286" r:id="rId3"/>
    <p:sldId id="304" r:id="rId4"/>
    <p:sldId id="303" r:id="rId5"/>
    <p:sldId id="288" r:id="rId6"/>
    <p:sldId id="289" r:id="rId7"/>
    <p:sldId id="305" r:id="rId8"/>
    <p:sldId id="310" r:id="rId9"/>
    <p:sldId id="307" r:id="rId10"/>
    <p:sldId id="308" r:id="rId11"/>
    <p:sldId id="290" r:id="rId12"/>
    <p:sldId id="291" r:id="rId13"/>
    <p:sldId id="292" r:id="rId14"/>
    <p:sldId id="295" r:id="rId15"/>
    <p:sldId id="297" r:id="rId16"/>
    <p:sldId id="298" r:id="rId17"/>
    <p:sldId id="311" r:id="rId18"/>
    <p:sldId id="261" r:id="rId19"/>
    <p:sldId id="262" r:id="rId20"/>
    <p:sldId id="263" r:id="rId21"/>
    <p:sldId id="264" r:id="rId22"/>
    <p:sldId id="265" r:id="rId23"/>
    <p:sldId id="266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263B428-6B48-4302-94FD-83C42E27A0A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AE217DF-6ECA-4714-86D4-8D0E7D6EEC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3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9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57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1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28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73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9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7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10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3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8AA6C-6AC6-468B-9D98-8500B28A35E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4289B-9613-4438-ACC5-39ADDFF60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62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d02360be45a080c7&amp;cs=0&amp;sxsrf=AE3TifNtLfuwGwRgdfREDQgnXiC-KFYUVA:1760175790621&amp;q=Literature+review&amp;sa=X&amp;ved=2ahUKEwib1sTl7ZuQAxWuVqQEHZIpLwQQxccNegQIFBAB&amp;mstk=AUtExfBULwefAxhJKPVIRtGD45xZ7JgZPx_ZeomRt2ZUFbaYySkowEI7dh_zUTEoT3PuM4FGLwjQ7DxEEcqMzlWulOdJt4l66G__389hiQul-RSeDQDb-sAJCl21HZ7RzwwnIMkkh3sI6uoNe2L9yMaFargFs-eTqWy0oPiddnCMsx1qH0E&amp;csui=3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d02360be45a080c7&amp;cs=0&amp;sxsrf=AE3TifNtLfuwGwRgdfREDQgnXiC-KFYUVA:1760175790621&amp;q=Methodology&amp;sa=X&amp;ved=2ahUKEwib1sTl7ZuQAxWuVqQEHZIpLwQQxccNegQIKBAB&amp;mstk=AUtExfBULwefAxhJKPVIRtGD45xZ7JgZPx_ZeomRt2ZUFbaYySkowEI7dh_zUTEoT3PuM4FGLwjQ7DxEEcqMzlWulOdJt4l66G__389hiQul-RSeDQDb-sAJCl21HZ7RzwwnIMkkh3sI6uoNe2L9yMaFargFs-eTqWy0oPiddnCMsx1qH0E&amp;csui=3" TargetMode="External"/><Relationship Id="rId7" Type="http://schemas.openxmlformats.org/officeDocument/2006/relationships/hyperlink" Target="https://www.google.com/search?sca_esv=d02360be45a080c7&amp;cs=0&amp;sxsrf=AE3TifNtLfuwGwRgdfREDQgnXiC-KFYUVA:1760175790621&amp;q=Budget&amp;sa=X&amp;ved=2ahUKEwib1sTl7ZuQAxWuVqQEHZIpLwQQxccNegQIExAB&amp;mstk=AUtExfBULwefAxhJKPVIRtGD45xZ7JgZPx_ZeomRt2ZUFbaYySkowEI7dh_zUTEoT3PuM4FGLwjQ7DxEEcqMzlWulOdJt4l66G__389hiQul-RSeDQDb-sAJCl21HZ7RzwwnIMkkh3sI6uoNe2L9yMaFargFs-eTqWy0oPiddnCMsx1qH0E&amp;csui=3" TargetMode="External"/><Relationship Id="rId2" Type="http://schemas.openxmlformats.org/officeDocument/2006/relationships/hyperlink" Target="https://www.google.com/search?sca_esv=d02360be45a080c7&amp;cs=0&amp;sxsrf=AE3TifNtLfuwGwRgdfREDQgnXiC-KFYUVA:1760175790621&amp;q=Research+questions/Objectives&amp;sa=X&amp;ved=2ahUKEwib1sTl7ZuQAxWuVqQEHZIpLwQQxccNegQISBAB&amp;mstk=AUtExfBULwefAxhJKPVIRtGD45xZ7JgZPx_ZeomRt2ZUFbaYySkowEI7dh_zUTEoT3PuM4FGLwjQ7DxEEcqMzlWulOdJt4l66G__389hiQul-RSeDQDb-sAJCl21HZ7RzwwnIMkkh3sI6uoNe2L9yMaFargFs-eTqWy0oPiddnCMsx1qH0E&amp;csui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sca_esv=d02360be45a080c7&amp;cs=0&amp;sxsrf=AE3TifNtLfuwGwRgdfREDQgnXiC-KFYUVA:1760175790621&amp;q=Timeline&amp;sa=X&amp;ved=2ahUKEwib1sTl7ZuQAxWuVqQEHZIpLwQQxccNegQIQxAB&amp;mstk=AUtExfBULwefAxhJKPVIRtGD45xZ7JgZPx_ZeomRt2ZUFbaYySkowEI7dh_zUTEoT3PuM4FGLwjQ7DxEEcqMzlWulOdJt4l66G__389hiQul-RSeDQDb-sAJCl21HZ7RzwwnIMkkh3sI6uoNe2L9yMaFargFs-eTqWy0oPiddnCMsx1qH0E&amp;csui=3" TargetMode="External"/><Relationship Id="rId5" Type="http://schemas.openxmlformats.org/officeDocument/2006/relationships/hyperlink" Target="https://www.google.com/search?sca_esv=d02360be45a080c7&amp;cs=0&amp;sxsrf=AE3TifNtLfuwGwRgdfREDQgnXiC-KFYUVA:1760175790621&amp;q=Ethical+considerations&amp;sa=X&amp;ved=2ahUKEwib1sTl7ZuQAxWuVqQEHZIpLwQQxccNegQIRxAB&amp;mstk=AUtExfBULwefAxhJKPVIRtGD45xZ7JgZPx_ZeomRt2ZUFbaYySkowEI7dh_zUTEoT3PuM4FGLwjQ7DxEEcqMzlWulOdJt4l66G__389hiQul-RSeDQDb-sAJCl21HZ7RzwwnIMkkh3sI6uoNe2L9yMaFargFs-eTqWy0oPiddnCMsx1qH0E&amp;csui=3" TargetMode="External"/><Relationship Id="rId4" Type="http://schemas.openxmlformats.org/officeDocument/2006/relationships/hyperlink" Target="https://www.google.com/search?sca_esv=d02360be45a080c7&amp;cs=0&amp;sxsrf=AE3TifNtLfuwGwRgdfREDQgnXiC-KFYUVA:1760175790621&amp;q=Limitations&amp;sa=X&amp;ved=2ahUKEwib1sTl7ZuQAxWuVqQEHZIpLwQQxccNegQIRBAB&amp;mstk=AUtExfBULwefAxhJKPVIRtGD45xZ7JgZPx_ZeomRt2ZUFbaYySkowEI7dh_zUTEoT3PuM4FGLwjQ7DxEEcqMzlWulOdJt4l66G__389hiQul-RSeDQDb-sAJCl21HZ7RzwwnIMkkh3sI6uoNe2L9yMaFargFs-eTqWy0oPiddnCMsx1qH0E&amp;csui=3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CHAPTER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1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400800" cy="1752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Overview of </a:t>
            </a:r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</a:t>
            </a: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382000" cy="685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lvl="0"/>
            <a:r>
              <a:rPr lang="en-GB" sz="4000" b="1" dirty="0" smtClean="0">
                <a:cs typeface="Arial" pitchFamily="34" charset="0"/>
              </a:rPr>
              <a:t> </a:t>
            </a:r>
            <a:r>
              <a:rPr lang="en-US" sz="4000" dirty="0"/>
              <a:t>1.1.Definition of research </a:t>
            </a:r>
            <a:endParaRPr lang="en-US" sz="4000" b="1" dirty="0"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410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term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‘Research’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consists of two words:</a:t>
            </a:r>
          </a:p>
          <a:p>
            <a:pPr algn="just">
              <a:spcBef>
                <a:spcPts val="0"/>
              </a:spcBef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=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 + Search</a:t>
            </a:r>
          </a:p>
          <a:p>
            <a:pPr algn="just">
              <a:spcBef>
                <a:spcPts val="0"/>
              </a:spcBef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2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’ means again and again and ‘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Search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’ means to find out something, the following is the process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research is a process of which a person observes the phenomena again and again and collects the data and on the basis of data he draws some conclusions</a:t>
            </a:r>
            <a:endParaRPr 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32"/>
          <a:stretch/>
        </p:blipFill>
        <p:spPr bwMode="auto">
          <a:xfrm>
            <a:off x="228601" y="3886200"/>
            <a:ext cx="8763000" cy="124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946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1.2.What is research and not? </a:t>
            </a:r>
            <a:endParaRPr lang="en-US" sz="3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63880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8000" b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Research </a:t>
            </a:r>
            <a:r>
              <a:rPr lang="en-US" sz="80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problems</a:t>
            </a:r>
            <a:r>
              <a:rPr lang="en-US" sz="8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are typically more complex, involve systematic investigation, and aim to contribute new knowledge or solutions to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broader questions.</a:t>
            </a:r>
          </a:p>
          <a:p>
            <a:pPr>
              <a:lnSpc>
                <a:spcPct val="170000"/>
              </a:lnSpc>
              <a:buFont typeface="Wingdings" pitchFamily="2" charset="2"/>
              <a:buChar char="§"/>
            </a:pPr>
            <a:r>
              <a:rPr lang="en-US" sz="7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Scientific Inquiry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8000" dirty="0">
                <a:latin typeface="Times New Roman" pitchFamily="18" charset="0"/>
                <a:cs typeface="Times New Roman" pitchFamily="18" charset="0"/>
              </a:rPr>
            </a:b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- Investigating the effects of a new drug on a specific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disease.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§"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Sciences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8000" dirty="0">
                <a:latin typeface="Times New Roman" pitchFamily="18" charset="0"/>
                <a:cs typeface="Times New Roman" pitchFamily="18" charset="0"/>
              </a:rPr>
            </a:b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- Examining the relationship between social media use and mental health.</a:t>
            </a:r>
            <a:br>
              <a:rPr lang="en-US" sz="8000" dirty="0">
                <a:latin typeface="Times New Roman" pitchFamily="18" charset="0"/>
                <a:cs typeface="Times New Roman" pitchFamily="18" charset="0"/>
              </a:rPr>
            </a:b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- Analyzing the effects of education policies on student performance.</a:t>
            </a:r>
          </a:p>
          <a:p>
            <a:pPr>
              <a:lnSpc>
                <a:spcPct val="170000"/>
              </a:lnSpc>
              <a:buFont typeface="Wingdings" pitchFamily="2" charset="2"/>
              <a:buChar char="§"/>
            </a:pP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Technology Development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8000" dirty="0">
                <a:latin typeface="Times New Roman" pitchFamily="18" charset="0"/>
                <a:cs typeface="Times New Roman" pitchFamily="18" charset="0"/>
              </a:rPr>
            </a:b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- Developing algorithms for improving machine learning accuracy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§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Engineering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8000" dirty="0">
                <a:latin typeface="Times New Roman" pitchFamily="18" charset="0"/>
                <a:cs typeface="Times New Roman" pitchFamily="18" charset="0"/>
              </a:rPr>
            </a:b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- Designing a new type of renewable energy system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59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What is research and not?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86800" cy="6019800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Non-research problems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tend to be practical, routine, and immediate challenges faced in daily life or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business. </a:t>
            </a:r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Font typeface="Wingdings" pitchFamily="2" charset="2"/>
              <a:buChar char="§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Daily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Life Issues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Deciding what to cook for dinner.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Organizing a schedule for a busy week.</a:t>
            </a: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Business Operations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Managing employee schedules.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Resolving customer complaints.</a:t>
            </a: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Technical Support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Troubleshooting a software issue.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Setting up a home Wi-Fi network.</a:t>
            </a: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Personal Finance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Creating a monthly budget.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Comparing prices for a new car.</a:t>
            </a: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Community Issues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Planning a local event.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Coordinating volunteer efforts for a charity.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6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/>
              <a:t>Why Research ?</a:t>
            </a:r>
          </a:p>
        </p:txBody>
      </p:sp>
      <p:sp>
        <p:nvSpPr>
          <p:cNvPr id="8197" name="Content Placeholder 2"/>
          <p:cNvSpPr>
            <a:spLocks noGrp="1"/>
          </p:cNvSpPr>
          <p:nvPr>
            <p:ph idx="1"/>
          </p:nvPr>
        </p:nvSpPr>
        <p:spPr>
          <a:xfrm>
            <a:off x="117475" y="838200"/>
            <a:ext cx="8763000" cy="5943600"/>
          </a:xfrm>
        </p:spPr>
        <p:txBody>
          <a:bodyPr/>
          <a:lstStyle/>
          <a:p>
            <a:pPr marL="234950" indent="-234950" algn="just" eaLnBrk="1" hangingPunct="1"/>
            <a:r>
              <a:rPr lang="en-US" sz="2800" dirty="0" smtClean="0"/>
              <a:t>Research allows you to learn something new, to perfect your problem-solving skills, to challenge yourself in new ways and to pursue your interests. </a:t>
            </a:r>
          </a:p>
          <a:p>
            <a:pPr lvl="1" algn="just" eaLnBrk="1" hangingPunct="1"/>
            <a:r>
              <a:rPr lang="en-US" sz="2400" dirty="0" smtClean="0"/>
              <a:t>To learn to read and think critically. </a:t>
            </a:r>
          </a:p>
          <a:p>
            <a:pPr lvl="1" algn="just" eaLnBrk="1" hangingPunct="1"/>
            <a:r>
              <a:rPr lang="en-US" sz="2400" dirty="0" smtClean="0"/>
              <a:t>To face a challenge </a:t>
            </a:r>
          </a:p>
          <a:p>
            <a:pPr lvl="1" algn="just" eaLnBrk="1" hangingPunct="1"/>
            <a:r>
              <a:rPr lang="en-US" sz="2400" dirty="0" smtClean="0"/>
              <a:t>To solve a problem </a:t>
            </a:r>
          </a:p>
          <a:p>
            <a:pPr lvl="1" algn="just" eaLnBrk="1" hangingPunct="1"/>
            <a:r>
              <a:rPr lang="en-US" sz="2400" dirty="0" smtClean="0"/>
              <a:t>To get a degree </a:t>
            </a:r>
          </a:p>
          <a:p>
            <a:pPr lvl="1" algn="just" eaLnBrk="1" hangingPunct="1"/>
            <a:r>
              <a:rPr lang="en-US" sz="2400" dirty="0" smtClean="0"/>
              <a:t>To get intellectual joy </a:t>
            </a:r>
          </a:p>
          <a:p>
            <a:pPr lvl="1" algn="just" eaLnBrk="1" hangingPunct="1"/>
            <a:r>
              <a:rPr lang="en-US" sz="2400" dirty="0" smtClean="0"/>
              <a:t>To bring advancement of wealth of human knowledge  </a:t>
            </a:r>
          </a:p>
          <a:p>
            <a:pPr lvl="1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2400" dirty="0" smtClean="0"/>
              <a:t>To serve society 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dirty="0" smtClean="0"/>
              <a:t>by increasing standard of living in case of Science &amp;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86E59-477D-43A1-9DD2-5427A2D9905D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8195" name="Picture 4" descr="computer 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828800"/>
            <a:ext cx="3200400" cy="2691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5130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Content Placeholder 4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6172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3000" dirty="0" smtClean="0">
                <a:solidFill>
                  <a:srgbClr val="7030A0"/>
                </a:solidFill>
              </a:rPr>
              <a:t>The possible motives for doing research: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solidFill>
                  <a:schemeClr val="tx1"/>
                </a:solidFill>
                <a:latin typeface="+mj-lt"/>
              </a:rPr>
              <a:t>Desire to get a research degree along with its consequential benefits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solidFill>
                  <a:schemeClr val="tx1"/>
                </a:solidFill>
                <a:latin typeface="+mj-lt"/>
              </a:rPr>
              <a:t>Desire to face the challenge in solving the unsolved problems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solidFill>
                  <a:schemeClr val="tx1"/>
                </a:solidFill>
                <a:latin typeface="+mj-lt"/>
              </a:rPr>
              <a:t>Desire to get intellectual joy of doing some creative work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solidFill>
                  <a:schemeClr val="tx1"/>
                </a:solidFill>
                <a:latin typeface="+mj-lt"/>
              </a:rPr>
              <a:t>Desire to be of service to society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7030A0"/>
                </a:solidFill>
              </a:rPr>
              <a:t>Additional </a:t>
            </a:r>
            <a:r>
              <a:rPr lang="en-US" dirty="0">
                <a:solidFill>
                  <a:srgbClr val="7030A0"/>
                </a:solidFill>
              </a:rPr>
              <a:t>factors motivating for doing research</a:t>
            </a:r>
            <a:r>
              <a:rPr lang="en-US" dirty="0" smtClean="0">
                <a:solidFill>
                  <a:srgbClr val="7030A0"/>
                </a:solidFill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Directives </a:t>
            </a:r>
            <a:r>
              <a:rPr lang="en-US" dirty="0"/>
              <a:t>of government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Employment </a:t>
            </a:r>
            <a:r>
              <a:rPr lang="en-US" dirty="0"/>
              <a:t>conditions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Curiosity </a:t>
            </a:r>
            <a:r>
              <a:rPr lang="en-US" dirty="0"/>
              <a:t>about new things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</a:t>
            </a:r>
            <a:r>
              <a:rPr lang="en-US" dirty="0" smtClean="0"/>
              <a:t>esire </a:t>
            </a:r>
            <a:r>
              <a:rPr lang="en-US" dirty="0"/>
              <a:t>to understand causal relationships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 smtClean="0">
                <a:solidFill>
                  <a:srgbClr val="FF0000"/>
                </a:solidFill>
              </a:rPr>
              <a:t>ocial </a:t>
            </a:r>
            <a:r>
              <a:rPr lang="en-US" dirty="0">
                <a:solidFill>
                  <a:srgbClr val="FF0000"/>
                </a:solidFill>
              </a:rPr>
              <a:t>thinking </a:t>
            </a:r>
            <a:r>
              <a:rPr lang="en-US" dirty="0"/>
              <a:t>and </a:t>
            </a:r>
            <a:r>
              <a:rPr lang="en-US" dirty="0" smtClean="0"/>
              <a:t>developing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sz="2400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152400"/>
            <a:ext cx="8229600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cs typeface="Arial" pitchFamily="34" charset="0"/>
              </a:rPr>
              <a:t>Motivation in </a:t>
            </a:r>
            <a:r>
              <a:rPr lang="en-GB" sz="3600" b="1" dirty="0" smtClean="0">
                <a:cs typeface="Arial" pitchFamily="34" charset="0"/>
              </a:rPr>
              <a:t>Research</a:t>
            </a:r>
            <a:endParaRPr lang="en-GB" sz="36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1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1.3.Research objective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13556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Objective is the goal intended to be attained (and which is believed to be attainable)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research objective is a clear, concise statement that outlines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specific goals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study 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aims to achieve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guide every step of the research process, from data collection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analysis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should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SMART.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84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Objectives should be SMART: 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Specific</a:t>
            </a:r>
            <a:r>
              <a:rPr lang="en-US" b="1" dirty="0">
                <a:solidFill>
                  <a:srgbClr val="7030A0"/>
                </a:solidFill>
              </a:rPr>
              <a:t>: </a:t>
            </a:r>
            <a:r>
              <a:rPr lang="en-US" dirty="0"/>
              <a:t>states exactly what you need to </a:t>
            </a:r>
            <a:r>
              <a:rPr lang="en-US" dirty="0" smtClean="0"/>
              <a:t>achieve</a:t>
            </a:r>
          </a:p>
          <a:p>
            <a:r>
              <a:rPr lang="en-US" dirty="0" smtClean="0"/>
              <a:t> </a:t>
            </a:r>
            <a:r>
              <a:rPr lang="en-US" b="1" dirty="0">
                <a:solidFill>
                  <a:srgbClr val="00B0F0"/>
                </a:solidFill>
              </a:rPr>
              <a:t>Measurable: </a:t>
            </a:r>
            <a:r>
              <a:rPr lang="en-US" dirty="0"/>
              <a:t>includes a quality or quantity measure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Achievable/Agreeable</a:t>
            </a:r>
            <a:r>
              <a:rPr lang="en-US" dirty="0" smtClean="0"/>
              <a:t> </a:t>
            </a:r>
            <a:r>
              <a:rPr lang="en-US" dirty="0"/>
              <a:t>between you and your </a:t>
            </a:r>
            <a:r>
              <a:rPr lang="en-US" dirty="0" smtClean="0"/>
              <a:t>Supervisor/Reviewer</a:t>
            </a:r>
          </a:p>
          <a:p>
            <a:r>
              <a:rPr lang="en-US" b="1" dirty="0" smtClean="0"/>
              <a:t>Relevant</a:t>
            </a:r>
            <a:r>
              <a:rPr lang="en-US" b="1" dirty="0"/>
              <a:t>:</a:t>
            </a:r>
            <a:r>
              <a:rPr lang="en-US" dirty="0"/>
              <a:t> can be challenging but must be achievable </a:t>
            </a:r>
            <a:endParaRPr lang="en-US" dirty="0" smtClean="0"/>
          </a:p>
          <a:p>
            <a:r>
              <a:rPr lang="en-US" b="1" dirty="0" smtClean="0">
                <a:solidFill>
                  <a:srgbClr val="002060"/>
                </a:solidFill>
              </a:rPr>
              <a:t>Time bound: </a:t>
            </a:r>
            <a:r>
              <a:rPr lang="en-US" dirty="0"/>
              <a:t>with a clear end date or timescale</a:t>
            </a:r>
          </a:p>
        </p:txBody>
      </p:sp>
    </p:spTree>
    <p:extLst>
      <p:ext uri="{BB962C8B-B14F-4D97-AF65-F5344CB8AC3E}">
        <p14:creationId xmlns:p14="http://schemas.microsoft.com/office/powerpoint/2010/main" val="419278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686800" cy="55927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300" b="1" dirty="0">
                <a:latin typeface="Times New Roman" pitchFamily="18" charset="0"/>
                <a:cs typeface="Times New Roman" pitchFamily="18" charset="0"/>
              </a:rPr>
              <a:t>In formulating objectives, care must be taken specifically to</a:t>
            </a: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514350" indent="-514350" algn="just">
              <a:buAutoNum type="arabicParenR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objectives that are clear, well written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precise</a:t>
            </a:r>
          </a:p>
          <a:p>
            <a:pPr marL="514350" indent="-514350" algn="just">
              <a:buAutoNum type="arabicParenR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specific, significant, realistic, and achievable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arenR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Ensure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that objectives flow logically from the statement of need and address the problem.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arenR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fall within the range of results, which are expected to be achieved within the limit of time, money and human resources available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arenR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objectives as far as possible in terms, which allow measurements or at least observation of their achievement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Objectives should be hierarchical and/or chronological</a:t>
            </a:r>
          </a:p>
        </p:txBody>
      </p:sp>
    </p:spTree>
    <p:extLst>
      <p:ext uri="{BB962C8B-B14F-4D97-AF65-F5344CB8AC3E}">
        <p14:creationId xmlns:p14="http://schemas.microsoft.com/office/powerpoint/2010/main" val="56658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763000" cy="60198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of a research project summarize what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be achieved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by the study and they should be closely related to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statement of the problem. 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Research objectives can be:-</a:t>
            </a:r>
          </a:p>
          <a:p>
            <a:pPr marL="514350" indent="-514350" algn="just">
              <a:buAutoNum type="arabicPeriod"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General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states what researchers expect to achieve by the study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 general terms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Specific 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objectives: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smaller, logically connected parts of general objective.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/>
              <a:t>hould </a:t>
            </a:r>
            <a:r>
              <a:rPr lang="en-US" dirty="0"/>
              <a:t>specify what we will do in our study, where and for what purpose.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46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612774" y="228600"/>
            <a:ext cx="8226425" cy="6096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4000" b="1" dirty="0" smtClean="0">
                <a:cs typeface="Arial" pitchFamily="34" charset="0"/>
              </a:rPr>
              <a:t>Types of Research 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idx="1"/>
          </p:nvPr>
        </p:nvSpPr>
        <p:spPr>
          <a:xfrm>
            <a:off x="304800" y="1066800"/>
            <a:ext cx="8305800" cy="54864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Research 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can be classified based on certain criteria such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as:</a:t>
            </a:r>
          </a:p>
          <a:p>
            <a:pPr lvl="1">
              <a:lnSpc>
                <a:spcPct val="150000"/>
              </a:lnSpc>
            </a:pPr>
            <a:r>
              <a:rPr lang="en-US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Goals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(applied and basic/pure research) </a:t>
            </a:r>
            <a:endParaRPr lang="en-US" altLang="en-US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specific objectives 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(descriptive, explanatory and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exploratory)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designs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(experimental and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non-experimental)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time dimension 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(cross sectional and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longitudinal)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pproaches</a:t>
            </a: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such as quantitative and qualitative approaches and also Mixed Methods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Approach</a:t>
            </a:r>
            <a:endParaRPr lang="en-US" altLang="en-US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30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45720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altLang="zh-CN" sz="4000" b="1" dirty="0" smtClean="0">
                <a:cs typeface="Arial" pitchFamily="34" charset="0"/>
              </a:rPr>
              <a:t/>
            </a:r>
            <a:br>
              <a:rPr lang="en-US" altLang="zh-CN" sz="4000" b="1" dirty="0" smtClean="0">
                <a:cs typeface="Arial" pitchFamily="34" charset="0"/>
              </a:rPr>
            </a:br>
            <a:r>
              <a:rPr lang="en-US" altLang="zh-CN" sz="4000" b="1" dirty="0" smtClean="0">
                <a:cs typeface="Arial" pitchFamily="34" charset="0"/>
              </a:rPr>
              <a:t>Applied </a:t>
            </a:r>
            <a:r>
              <a:rPr lang="en-US" altLang="zh-CN" sz="4000" b="1" dirty="0">
                <a:cs typeface="Arial" pitchFamily="34" charset="0"/>
              </a:rPr>
              <a:t>vs. Fundamental</a:t>
            </a:r>
            <a:br>
              <a:rPr lang="en-US" altLang="zh-CN" sz="4000" b="1" dirty="0">
                <a:cs typeface="Arial" pitchFamily="34" charset="0"/>
              </a:rPr>
            </a:br>
            <a:endParaRPr lang="en-US" sz="4000" b="1" dirty="0" smtClean="0">
              <a:cs typeface="Arial" pitchFamily="34" charset="0"/>
            </a:endParaRPr>
          </a:p>
        </p:txBody>
      </p:sp>
      <p:sp>
        <p:nvSpPr>
          <p:cNvPr id="17412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Applied research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aims at 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finding a solution for an immediate problem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facing a society or an industrial/business organization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only focuses on </a:t>
            </a:r>
            <a:r>
              <a:rPr lang="en-US" i="1" dirty="0">
                <a:solidFill>
                  <a:srgbClr val="FF0000"/>
                </a:solidFill>
              </a:rPr>
              <a:t>applying knowledge </a:t>
            </a:r>
            <a:r>
              <a:rPr lang="en-US" dirty="0"/>
              <a:t>to solve existing problems hence, it is solution-specific. 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/>
              <a:t>applied research does not lead to the acquisition of new </a:t>
            </a:r>
            <a:r>
              <a:rPr lang="en-US" dirty="0" smtClean="0"/>
              <a:t>knowledge</a:t>
            </a:r>
          </a:p>
          <a:p>
            <a:pPr algn="just"/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Fundamental/Basic/Pure research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is mainly concerned </a:t>
            </a:r>
            <a:r>
              <a:rPr lang="en-US" altLang="zh-CN" dirty="0" smtClean="0"/>
              <a:t>with</a:t>
            </a:r>
            <a:r>
              <a:rPr lang="en-US" dirty="0" smtClean="0"/>
              <a:t> </a:t>
            </a:r>
            <a:r>
              <a:rPr lang="en-US" dirty="0"/>
              <a:t>the acquisition of new knowledge and it also expands existing </a:t>
            </a:r>
            <a:r>
              <a:rPr lang="en-US" dirty="0" smtClean="0"/>
              <a:t>knowledge.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95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601979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31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Descriptive Research 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aims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accurately and systematically describe a population, situation or phenomenon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 </a:t>
            </a:r>
            <a:r>
              <a:rPr lang="en-US" dirty="0"/>
              <a:t>It </a:t>
            </a:r>
            <a:r>
              <a:rPr lang="en-US" dirty="0" smtClean="0"/>
              <a:t>answers </a:t>
            </a:r>
            <a:r>
              <a:rPr lang="en-US" dirty="0">
                <a:solidFill>
                  <a:srgbClr val="00B050"/>
                </a:solidFill>
              </a:rPr>
              <a:t>what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where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when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how</a:t>
            </a:r>
            <a:r>
              <a:rPr lang="en-US" dirty="0"/>
              <a:t> questions, but not </a:t>
            </a:r>
            <a:r>
              <a:rPr lang="en-US" dirty="0">
                <a:solidFill>
                  <a:srgbClr val="FF0000"/>
                </a:solidFill>
              </a:rPr>
              <a:t>why</a:t>
            </a:r>
            <a:r>
              <a:rPr lang="en-US" dirty="0"/>
              <a:t> questions</a:t>
            </a:r>
            <a:r>
              <a:rPr lang="en-US" dirty="0" smtClean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 It </a:t>
            </a:r>
            <a:r>
              <a:rPr lang="en-US" dirty="0"/>
              <a:t>can be conducted through various means, including observation, case studies, and surveys.</a:t>
            </a: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6" algn="just">
              <a:lnSpc>
                <a:spcPct val="120000"/>
              </a:lnSpc>
            </a:pP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CFEBE3-65F4-4FED-BD7A-414E1A80F279}" type="slidenum">
              <a:rPr lang="zh-CN" altLang="en-US" smtClean="0"/>
              <a:pPr/>
              <a:t>13</a:t>
            </a:fld>
            <a:endParaRPr lang="zh-CN" altLang="en-US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775" y="228600"/>
            <a:ext cx="8153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3600" b="1" dirty="0" smtClean="0">
              <a:cs typeface="Arial" pitchFamily="34" charset="0"/>
            </a:endParaRPr>
          </a:p>
          <a:p>
            <a:r>
              <a:rPr lang="en-US" altLang="zh-CN" sz="3600" b="1" dirty="0" smtClean="0">
                <a:cs typeface="Arial" pitchFamily="34" charset="0"/>
              </a:rPr>
              <a:t>Descriptive, Explanatory and Exploratory</a:t>
            </a:r>
            <a:br>
              <a:rPr lang="en-US" altLang="zh-CN" sz="3600" b="1" dirty="0" smtClean="0">
                <a:cs typeface="Arial" pitchFamily="34" charset="0"/>
              </a:rPr>
            </a:br>
            <a:endParaRPr lang="en-US" sz="3600" b="1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82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86800" cy="6553199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33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Explanatory </a:t>
            </a:r>
            <a:r>
              <a:rPr lang="en-US" sz="33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Research 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This type of </a:t>
            </a:r>
            <a:r>
              <a:rPr lang="en-US" dirty="0"/>
              <a:t>researcher is trying to identify the causes and effects of whatever phenomenon is being studied</a:t>
            </a:r>
            <a:r>
              <a:rPr lang="en-US" dirty="0" smtClean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is </a:t>
            </a:r>
            <a:r>
              <a:rPr lang="en-US" dirty="0"/>
              <a:t>a research method that </a:t>
            </a:r>
            <a:r>
              <a:rPr lang="en-US" dirty="0">
                <a:solidFill>
                  <a:srgbClr val="FF0000"/>
                </a:solidFill>
              </a:rPr>
              <a:t>explores why something </a:t>
            </a:r>
            <a:r>
              <a:rPr lang="en-US" dirty="0" smtClean="0">
                <a:solidFill>
                  <a:srgbClr val="FF0000"/>
                </a:solidFill>
              </a:rPr>
              <a:t>occurs.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can </a:t>
            </a:r>
            <a:r>
              <a:rPr lang="en-US" dirty="0"/>
              <a:t>also be explained as a “cause and effect” </a:t>
            </a:r>
            <a:r>
              <a:rPr lang="en-US" dirty="0" smtClean="0"/>
              <a:t>or causal research.</a:t>
            </a:r>
            <a:endParaRPr lang="en-US" dirty="0" smtClean="0">
              <a:solidFill>
                <a:srgbClr val="FF0000"/>
              </a:solidFill>
            </a:endParaRPr>
          </a:p>
          <a:p>
            <a:pPr lvl="7" algn="just">
              <a:lnSpc>
                <a:spcPct val="120000"/>
              </a:lnSpc>
            </a:pP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CFEBE3-65F4-4FED-BD7A-414E1A80F279}" type="slidenum">
              <a:rPr lang="zh-CN" altLang="en-US" smtClean="0"/>
              <a:pPr/>
              <a:t>14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95145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04800" y="914399"/>
            <a:ext cx="8610600" cy="5791201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Exploratory </a:t>
            </a:r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Research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/>
              <a:t>I</a:t>
            </a:r>
            <a:r>
              <a:rPr lang="en-US" sz="2400" dirty="0" smtClean="0"/>
              <a:t>s a research </a:t>
            </a:r>
            <a:r>
              <a:rPr lang="en-US" sz="2400" dirty="0"/>
              <a:t>conducted to investigate a problem that is not clearly defined, has been under-investigated, or is otherwise poorly understood</a:t>
            </a:r>
            <a:r>
              <a:rPr lang="en-US" sz="2400" dirty="0" smtClean="0"/>
              <a:t>. 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provides insights into and comprehension of an issue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Its purpose is to gain background information and better understand and clarify a problem</a:t>
            </a:r>
          </a:p>
          <a:p>
            <a:pPr lvl="7" algn="just"/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CFEBE3-65F4-4FED-BD7A-414E1A80F279}" type="slidenum">
              <a:rPr lang="zh-CN" altLang="en-US" smtClean="0"/>
              <a:pPr/>
              <a:t>15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4870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04800" y="685801"/>
            <a:ext cx="8610600" cy="6019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itchFamily="18" charset="0"/>
              </a:rPr>
              <a:t>Qualitative 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Research</a:t>
            </a:r>
            <a:endParaRPr lang="en-US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Qualitative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research involves studies that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 not attempt to quantify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their results through statistical summary or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analysis.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 research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involves analyzing and interpreting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interviews and observations in order to discover meaningful patterns descriptive of a particular phenomenon.</a:t>
            </a:r>
            <a:endParaRPr lang="en-US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Quantitative Research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Quantitative research is the systematic and scientific investigation of quantitative properties and phenomena and their relationships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objective of quantitative research is to develop and employ mathematical models, theories and hypotheses pertaining to natural phenomena</a:t>
            </a:r>
          </a:p>
          <a:p>
            <a:pPr lvl="1"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7" algn="just">
              <a:lnSpc>
                <a:spcPct val="150000"/>
              </a:lnSpc>
            </a:pP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CFEBE3-65F4-4FED-BD7A-414E1A80F279}" type="slidenum">
              <a:rPr lang="zh-CN" altLang="en-US" smtClean="0"/>
              <a:pPr/>
              <a:t>16</a:t>
            </a:fld>
            <a:endParaRPr lang="zh-CN" altLang="en-US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775" y="228600"/>
            <a:ext cx="8153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3600" b="1" dirty="0" smtClean="0">
              <a:cs typeface="Arial" pitchFamily="34" charset="0"/>
            </a:endParaRPr>
          </a:p>
          <a:p>
            <a:r>
              <a:rPr lang="en-US" altLang="zh-CN" sz="3600" b="1" dirty="0" smtClean="0">
                <a:cs typeface="Arial" pitchFamily="34" charset="0"/>
              </a:rPr>
              <a:t>Qualitative &amp; Quantitative </a:t>
            </a:r>
            <a:r>
              <a:rPr lang="en-US" altLang="zh-CN" sz="3600" b="1" dirty="0">
                <a:cs typeface="Arial" pitchFamily="34" charset="0"/>
              </a:rPr>
              <a:t>Research</a:t>
            </a:r>
            <a:r>
              <a:rPr lang="en-US" altLang="zh-CN" sz="3600" b="1" dirty="0" smtClean="0">
                <a:cs typeface="Arial" pitchFamily="34" charset="0"/>
              </a:rPr>
              <a:t/>
            </a:r>
            <a:br>
              <a:rPr lang="en-US" altLang="zh-CN" sz="3600" b="1" dirty="0" smtClean="0">
                <a:cs typeface="Arial" pitchFamily="34" charset="0"/>
              </a:rPr>
            </a:br>
            <a:endParaRPr lang="en-US" sz="3600" b="1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5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Chapter 2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336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The nature and scope of research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856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2.1 Research and Theory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91600" cy="6172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theory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conceptualization, or description, of a phenomenon that attempts to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integrate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all that we know about the phenomenon into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brief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statement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or question.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Finally, theories often serve as a good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 research ideas. Theories can serve several purposes, but in the research context, they typically function as a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rich source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hypotheses that can be examined empirically. </a:t>
            </a:r>
          </a:p>
        </p:txBody>
      </p:sp>
    </p:spTree>
    <p:extLst>
      <p:ext uri="{BB962C8B-B14F-4D97-AF65-F5344CB8AC3E}">
        <p14:creationId xmlns:p14="http://schemas.microsoft.com/office/powerpoint/2010/main" val="3687260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2.2 The Scientific Approach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6096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scientific   approach is   an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empirical method   of   acquiring knowledge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It  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involves formulating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hypotheses, via induction,     based     on  observations;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Experimental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     measurement-based     testing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conclusions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drawn from the hypotheses; and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Refinement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(or elimination) of the hypotheses based on the experimental findings.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544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.2.1    Overview of science and the scientific method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 simple  terms,  science  can  be  defined  as  a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methodological  and  systematic  approach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to   the acquisition of new knowledge.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Scientific knowledge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not based on the opinions, feelings, or perception of the scientist.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Instead, scientific knowledge is based on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objective data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short, scientific knowledge is based on the accumulation of empirical evidence.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scientific method is best thought of as an approach to the acquisition of new knowledge, and this approach effectively distinguishes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science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 science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13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915400" cy="6324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Although some disagreement exists regarding the exact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the scientific method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most agree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it is characterized by the following elements: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Empirical Approach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scientific method is firmly based on the empirical approach. 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empirical approach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 an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evidence-based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approach that relies on direct observation and experimentation in the acquisition of new knowledge.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816958"/>
              </p:ext>
            </p:extLst>
          </p:nvPr>
        </p:nvGraphicFramePr>
        <p:xfrm>
          <a:off x="762000" y="1600200"/>
          <a:ext cx="60960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676400">
                <a:tc>
                  <a:txBody>
                    <a:bodyPr/>
                    <a:lstStyle/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Empirical approach</a:t>
                      </a:r>
                    </a:p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Observations</a:t>
                      </a:r>
                    </a:p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Questions</a:t>
                      </a:r>
                    </a:p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Hypotheses</a:t>
                      </a:r>
                    </a:p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Experiments</a:t>
                      </a:r>
                    </a:p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Analyses</a:t>
                      </a:r>
                    </a:p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Conclusions</a:t>
                      </a:r>
                    </a:p>
                    <a:p>
                      <a:pPr marL="285750" indent="-285750">
                        <a:buFont typeface="Courier New" pitchFamily="49" charset="0"/>
                        <a:buChar char="o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Replication</a:t>
                      </a:r>
                    </a:p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133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400800"/>
          </a:xfrm>
        </p:spPr>
        <p:txBody>
          <a:bodyPr>
            <a:normAutofit/>
          </a:bodyPr>
          <a:lstStyle/>
          <a:p>
            <a:pPr>
              <a:buFont typeface="Courier New" pitchFamily="49" charset="0"/>
              <a:buChar char="o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Observations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important component in any scientific investigation is observation.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this sense, observation refers to two distinct concepts—being aware of the world around us and making careful measurements. </a:t>
            </a:r>
          </a:p>
          <a:p>
            <a:pPr>
              <a:buFont typeface="Courier New" pitchFamily="49" charset="0"/>
              <a:buChar char="o"/>
            </a:pP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Questions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next step in the research process involves translating that research idea into an unanswerable question. 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would obviously  be  a  frustrating  and  ultimately  unrewarding  effort  to  attempt  to  answer   an unanswerable  research  question  through  scientific investigation.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18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 example of an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unanswerable research question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following:</a:t>
            </a:r>
          </a:p>
          <a:p>
            <a:pPr algn="just">
              <a:lnSpc>
                <a:spcPct val="150000"/>
              </a:lnSpc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there an exact replica of me in another universe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One might ask, for example,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whether exercising 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reduces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cholesterol levels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question could be researched and answered using established scientific methods.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049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2.3.Stages of the research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638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ease your burden in doing research, here are the seven steps in the research process: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Problem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Identification: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Choose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topic and clearly define the research problem or question to be investigated. 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Literature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Review: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Search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and review existing sources like scholarly articles to gain background information and understand what is already known about the topic. 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 Formulate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Questions/Hypotheses: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Develop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specific research questions or a testable hypothesis based on the literature review.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Research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Design: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Plan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methodology for the study, including the research design and sampling methods. 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698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Data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Collection: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Gather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data according to the established research design. 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6. Data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Analysis: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analyze the collected data to find patterns, relationships, and insights.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7. Draw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Conclusions: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Interpret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findings from the data analysis and determine the conclusions, which may involve testing the hypothesis. 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8. Report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Writing: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Write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comprehensive report to communicate the research process, findings, and conclusions. 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2.3.Stages of the research process </a:t>
            </a:r>
          </a:p>
        </p:txBody>
      </p:sp>
    </p:spTree>
    <p:extLst>
      <p:ext uri="{BB962C8B-B14F-4D97-AF65-F5344CB8AC3E}">
        <p14:creationId xmlns:p14="http://schemas.microsoft.com/office/powerpoint/2010/main" val="3192797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2.4.Components of a Research Proposal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rmAutofit lnSpcReduction="10000"/>
          </a:bodyPr>
          <a:lstStyle/>
          <a:p>
            <a:pPr>
              <a:buFont typeface="Courier New" pitchFamily="49" charset="0"/>
              <a:buChar char="o"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clear and descriptive summary of the research topic. 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Courier New" pitchFamily="49" charset="0"/>
              <a:buChar char="o"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Answers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"so what?" for your audience by explaining what you want to do and why it matters. 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fontAlgn="ctr">
              <a:buFont typeface="Courier New" pitchFamily="49" charset="0"/>
              <a:buChar char="o"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Background of the study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Establishes the context and rationale for the research. </a:t>
            </a:r>
          </a:p>
          <a:p>
            <a:pPr fontAlgn="ctr">
              <a:buFont typeface="Courier New" pitchFamily="49" charset="0"/>
              <a:buChar char="o"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Statement of the problem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Clearly articulates the research question or problem. </a:t>
            </a:r>
          </a:p>
          <a:p>
            <a:pPr>
              <a:buFont typeface="Courier New" pitchFamily="49" charset="0"/>
              <a:buChar char="o"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Significance of the study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Explains why the research is important and its potential contribution. </a:t>
            </a:r>
          </a:p>
          <a:p>
            <a:pPr>
              <a:buFont typeface="Courier New" pitchFamily="49" charset="0"/>
              <a:buChar char="o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  <a:hlinkClick r:id="rId2"/>
              </a:rPr>
              <a:t>Literature review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Demonstrates an awareness of previous research, identifies gaps, and shows how your work fits into the existing body of knowledge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48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2.4.Components of a Research Proposal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287963"/>
          </a:xfrm>
        </p:spPr>
        <p:txBody>
          <a:bodyPr>
            <a:normAutofit/>
          </a:bodyPr>
          <a:lstStyle/>
          <a:p>
            <a:pPr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hlinkClick r:id="rId2"/>
              </a:rPr>
              <a:t>Research questions/Objectives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States what the research aims to accomplish and the specific questions it will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answer.</a:t>
            </a:r>
          </a:p>
          <a:p>
            <a:pPr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hlinkClick r:id="rId3"/>
              </a:rPr>
              <a:t>Methodology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Outlines the research design, data collection methods, and data analysis plan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>
              <a:buFont typeface="Courier New" pitchFamily="49" charset="0"/>
              <a:buChar char="o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Limitations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Identifies the boundaries and potential weaknesses of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</a:t>
            </a:r>
          </a:p>
          <a:p>
            <a:pPr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hlinkClick r:id="rId5"/>
              </a:rPr>
              <a:t>Ethical considerations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Addresses any ethical issues and how they will be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managed.</a:t>
            </a:r>
          </a:p>
          <a:p>
            <a:pPr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hlinkClick r:id="rId6"/>
              </a:rPr>
              <a:t>Timeline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Provides a realistic schedule for completing the research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phases</a:t>
            </a:r>
          </a:p>
          <a:p>
            <a:pPr>
              <a:buFont typeface="Courier New" pitchFamily="49" charset="0"/>
              <a:buChar char="o"/>
            </a:pPr>
            <a:r>
              <a:rPr lang="en-US" sz="2400" b="1" dirty="0">
                <a:hlinkClick r:id="rId7"/>
              </a:rPr>
              <a:t>Budget</a:t>
            </a:r>
            <a:r>
              <a:rPr lang="en-US" sz="2400" b="1" dirty="0"/>
              <a:t>:</a:t>
            </a:r>
            <a:r>
              <a:rPr lang="en-US" sz="2400" dirty="0"/>
              <a:t> Details the financial resources needed for the </a:t>
            </a:r>
            <a:r>
              <a:rPr lang="en-US" sz="2400" dirty="0" smtClean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944759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860" y="3505200"/>
            <a:ext cx="881247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Formulating the Research Problem 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19200" y="990600"/>
            <a:ext cx="7406640" cy="706902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4800" b="1" dirty="0" smtClean="0"/>
              <a:t> Chapter Three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85812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4864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 a Research Problem?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research process, the first and foremost step happens to be that of selecting and properly defining a research problem</a:t>
            </a:r>
          </a:p>
          <a:p>
            <a:pPr lvl="1" algn="just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researcher must find the problem and formulate it so that it becomes susceptible to research</a:t>
            </a:r>
          </a:p>
          <a:p>
            <a:pPr lvl="1" algn="just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research problem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in general, refers to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some difficulty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a researcher experiences in the context of either a theoretical or practical situation and wants to obtain a solution for the same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42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Components a Research Problem: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(i) There must be an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individual or a group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has some difficulty or the problem</a:t>
            </a:r>
          </a:p>
          <a:p>
            <a:pPr lvl="1" algn="just">
              <a:lnSpc>
                <a:spcPct val="12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(ii) There must be some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objective(s)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be attained at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one wants nothing, one cannot have a problem.</a:t>
            </a:r>
          </a:p>
          <a:p>
            <a:pPr lvl="2" algn="just">
              <a:lnSpc>
                <a:spcPct val="12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(iii) There must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alternative means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(or the courses of action) for obtaining the objective(s) one wishes to attain</a:t>
            </a:r>
          </a:p>
          <a:p>
            <a:pPr lvl="1" algn="just">
              <a:lnSpc>
                <a:spcPct val="12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(iv) There must remain some doubt in the mind of a researcher with regard to the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selection of alternatives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means that research must answer the question concerning the relative efficiency of the possible alternatives</a:t>
            </a:r>
          </a:p>
          <a:p>
            <a:pPr lvl="2" algn="just">
              <a:lnSpc>
                <a:spcPct val="12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(v) There must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some environment(s)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which the difficulty pertains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1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Necessity of Formulating the Research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Problem: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important to formulate a research problem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properly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problem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clearly stated is a problem half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solved</a:t>
            </a:r>
          </a:p>
          <a:p>
            <a:pPr lvl="1" algn="just">
              <a:lnSpc>
                <a:spcPct val="12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definition of a problem serves the following purposes: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definition of a problem sets the direction of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definition reveals the methodology or procedure of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definition helps the researcher to control subjectivity or biases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researcher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definition of the problem suggests and specifies the variables to be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taken up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investigation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through a problem involved into so many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variables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definition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makes the research work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practicable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2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3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Sources of Research Problems (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4Ps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Peoples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group of individuals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Problems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Examine the existence of certain issues or problems relating to their lives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ascertain attitude of a group of people towards an issue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Programs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evaluate the effectiveness of an intervention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Phenomena</a:t>
            </a:r>
          </a:p>
          <a:p>
            <a:pPr lvl="2"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establish the existence of a regularity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63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Sources of Research Problems (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4Ps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research study has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aspects:</a:t>
            </a:r>
          </a:p>
          <a:p>
            <a:pPr algn="just">
              <a:lnSpc>
                <a:spcPct val="12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Study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Population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People: Individuals, organizations, groups, communities( they provide you with the information or you collect information about them)</a:t>
            </a:r>
          </a:p>
          <a:p>
            <a:pPr lvl="1" algn="just">
              <a:lnSpc>
                <a:spcPct val="12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Subject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Area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Problems: Issues, situations, associations, needs, profiles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Program: Content, structure, outcomes, attributes, satisfactions, consumers, service providers, etc.</a:t>
            </a:r>
          </a:p>
          <a:p>
            <a:pPr lvl="1" algn="just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Phenomenon: Cause-and-effect relationships, the study of a phenomenon itself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58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  <a:ln>
            <a:solidFill>
              <a:schemeClr val="bg1"/>
            </a:solidFill>
          </a:ln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Considerations in Selecting a Research Problem:</a:t>
            </a:r>
          </a:p>
          <a:p>
            <a:pPr algn="just">
              <a:lnSpc>
                <a:spcPct val="11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Interest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 should select topic of great interest to sustain the required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pPr lvl="1" algn="just">
              <a:lnSpc>
                <a:spcPct val="11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Magnitude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extremely important to select a topic that you can manage within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time and resources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 your disposal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Narrow the topic down to something manageable, specific and clear</a:t>
            </a:r>
          </a:p>
          <a:p>
            <a:pPr lvl="1" algn="just">
              <a:lnSpc>
                <a:spcPct val="11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Level of expertise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Make sure that you have adequate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level of expertise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task you are proposing since you need to do the work yourself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62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Considerations in Selecting a Research Problem:</a:t>
            </a:r>
          </a:p>
          <a:p>
            <a:pPr algn="just">
              <a:lnSpc>
                <a:spcPct val="11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Relevance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 that your study adds to the existing body of knowledge, bridges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current gaps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is useful in policy formulation</a:t>
            </a:r>
          </a:p>
          <a:p>
            <a:pPr lvl="1" algn="just">
              <a:lnSpc>
                <a:spcPct val="11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Availability of data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Before finalizing the topic, make sure that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data are available</a:t>
            </a:r>
          </a:p>
          <a:p>
            <a:pPr lvl="1" algn="just">
              <a:lnSpc>
                <a:spcPct val="11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issues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ethical issues can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affect the study population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how ethical problems can be overcome should be thoroughly examined at the problem formulating stage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23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867400"/>
          </a:xfrm>
          <a:ln>
            <a:solidFill>
              <a:schemeClr val="bg1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Steps in Formulating a Research Problem: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Step 1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a broad field or subject area of interest to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Social Media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Step 2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Dissect the broad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area into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subareas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Usage of  Social Media in local government</a:t>
            </a:r>
          </a:p>
          <a:p>
            <a:pPr lvl="1"/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Impact of Social Media on students performance</a:t>
            </a:r>
          </a:p>
          <a:p>
            <a:pPr lvl="1"/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Detection of Fake News on Social Media</a:t>
            </a:r>
          </a:p>
          <a:p>
            <a:pPr lvl="1"/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Community attitude on Social Media</a:t>
            </a:r>
          </a:p>
          <a:p>
            <a:pPr lvl="1"/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Step 3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Select what is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interest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you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Impact of Social Media on students performance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29400" y="4038599"/>
            <a:ext cx="2345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Social Media</a:t>
            </a:r>
          </a:p>
        </p:txBody>
      </p:sp>
      <p:sp>
        <p:nvSpPr>
          <p:cNvPr id="8" name="Right Brace 7"/>
          <p:cNvSpPr/>
          <p:nvPr/>
        </p:nvSpPr>
        <p:spPr>
          <a:xfrm>
            <a:off x="6096000" y="3505200"/>
            <a:ext cx="914400" cy="16764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Steps in Formulating a Research Problem: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Raise research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it that I want to find out about in the subareas?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question what you want to find yourself in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situation</a:t>
            </a:r>
          </a:p>
          <a:p>
            <a:pPr lvl="1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 5: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Formulate objectives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Formulate your main objectives and your sub objectives 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main difference between objectives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research questions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in to behavioral aims by using action –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oriented words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such as to find out, to determine’ , ‘to ascertain and ‘to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examine’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83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  <a:ln>
            <a:solidFill>
              <a:schemeClr val="bg1"/>
            </a:solidFill>
          </a:ln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Steps in Formulating a Research Problem: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6: Assess your objectives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Now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examine your objectives to ascertain the feasibility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achieving them through your research endeavor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them in the light of the time, resources (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financial and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human) and technical expertise at your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disposal</a:t>
            </a:r>
          </a:p>
          <a:p>
            <a:pPr lvl="1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Step 7: Double-check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Go back and give final consideration to whether or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not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you are sufficiently interested in the study,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have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adequate resources to undertake it.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yourself , am I really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excited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about this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 really have enough resources to undertake it?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questions thoughtfully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realistically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78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15000"/>
          </a:xfrm>
          <a:ln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Components of  Problem 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Statement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3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Identification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wrong with the current situation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Background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the nature of the problem that readers to understand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Scope of the problem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big is the problem,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persons affected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Consequences of the problem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the cost of not fixing it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Solutions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this new study contribute to solving the problem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8536" y="152400"/>
            <a:ext cx="8229600" cy="5635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200" b="1" dirty="0" smtClean="0">
                <a:effectLst/>
                <a:latin typeface="Times New Roman" pitchFamily="18" charset="0"/>
                <a:cs typeface="Times New Roman" pitchFamily="18" charset="0"/>
              </a:rPr>
              <a:t>Formulating The Research Problem</a:t>
            </a:r>
            <a:endParaRPr lang="en-US" sz="32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95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Hypotheses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15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Hypothesis:-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simply an educated— and testable—guess about the answer to your research question.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Hypotheses can take various forms, depending on the question being asked and the type of study being conducted.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key feature of all hypotheses is that each must make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prediction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example, a researcher may hypothesize that “</a:t>
            </a:r>
            <a:r>
              <a:rPr lang="en-US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if people exercise for 30 minutes per day at least three days per week, then their cholesterol levels will be reduced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.” This hypothesis makes a prediction about the effects of exercising on levels of cholesterol, and the prediction can be tested by gathering and analyzing data.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117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2232" y="752538"/>
            <a:ext cx="8382000" cy="571500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Formulation of Hypothesis </a:t>
            </a:r>
            <a:endParaRPr lang="am-ET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good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hypothesis 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one which meets such criteria to a large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extent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these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characteristics are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enumerated below: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be conceptually clear;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must be testable;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be related to the existing body or theory and impact;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have logical unity and comprehensiveness;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be capable of verification; and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be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operational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Hypothesis plays a key role in formulating and guiding any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hypotheses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generally derived from earlier research findings, existing theories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personal observations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experience. </a:t>
            </a:r>
          </a:p>
        </p:txBody>
      </p:sp>
    </p:spTree>
    <p:extLst>
      <p:ext uri="{BB962C8B-B14F-4D97-AF65-F5344CB8AC3E}">
        <p14:creationId xmlns:p14="http://schemas.microsoft.com/office/powerpoint/2010/main" val="96848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2232" y="752538"/>
            <a:ext cx="8382000" cy="571500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Types of Hypothesis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Hypotheses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articulated in two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forms</a:t>
            </a:r>
          </a:p>
          <a:p>
            <a:pPr lvl="1" algn="just"/>
            <a:r>
              <a:rPr lang="en-US" sz="2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Null hypothesis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alternative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hypothesis</a:t>
            </a:r>
          </a:p>
          <a:p>
            <a:pPr lvl="1"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Null Hypothesis is also called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statistical hypothesis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because this type of hypothesis 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for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statistical testing and statically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interpretation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null hypothesis predicts that, there 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relationship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independent variable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dependent variable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null hypothesis, denoted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H0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There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relationship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usage of social media sites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 school education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00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2232" y="752538"/>
            <a:ext cx="8382000" cy="571500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Types of Hypothesis</a:t>
            </a:r>
          </a:p>
          <a:p>
            <a:pPr algn="just"/>
            <a:r>
              <a:rPr lang="en-US" sz="23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Alternative hypothesis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predicts that, there is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significant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relationship between the independent variable and dependent variable</a:t>
            </a:r>
          </a:p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alternative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hypothesis predicts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is the opposite of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null hypothesis, the verification of which is expected from the research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alternative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hypothesis, denoted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H1</a:t>
            </a:r>
          </a:p>
          <a:p>
            <a:pPr algn="just"/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It has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two versions: directional and non-directional alternative hypotheses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Example: There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a relationship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usage of social media sites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high school education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19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2584</Words>
  <Application>Microsoft Office PowerPoint</Application>
  <PresentationFormat>On-screen Show (4:3)</PresentationFormat>
  <Paragraphs>345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CHAPTER 1</vt:lpstr>
      <vt:lpstr> 1.1.Definition of research </vt:lpstr>
      <vt:lpstr>1.2.What is research and not? </vt:lpstr>
      <vt:lpstr>What is research and not? </vt:lpstr>
      <vt:lpstr>Why Research ?</vt:lpstr>
      <vt:lpstr>PowerPoint Presentation</vt:lpstr>
      <vt:lpstr>1.3.Research objective </vt:lpstr>
      <vt:lpstr>PowerPoint Presentation</vt:lpstr>
      <vt:lpstr>PowerPoint Presentation</vt:lpstr>
      <vt:lpstr>PowerPoint Presentation</vt:lpstr>
      <vt:lpstr>Types of Research </vt:lpstr>
      <vt:lpstr> Applied vs. Fundamental </vt:lpstr>
      <vt:lpstr>PowerPoint Presentation</vt:lpstr>
      <vt:lpstr>PowerPoint Presentation</vt:lpstr>
      <vt:lpstr>PowerPoint Presentation</vt:lpstr>
      <vt:lpstr>PowerPoint Presentation</vt:lpstr>
      <vt:lpstr>Chapter 2</vt:lpstr>
      <vt:lpstr>2.1 Research and Theory </vt:lpstr>
      <vt:lpstr>  2.2 The Scientific Approach </vt:lpstr>
      <vt:lpstr>2.2.1    Overview of science and the scientific method</vt:lpstr>
      <vt:lpstr>PowerPoint Presentation</vt:lpstr>
      <vt:lpstr>PowerPoint Presentation</vt:lpstr>
      <vt:lpstr>PowerPoint Presentation</vt:lpstr>
      <vt:lpstr>2.3.Stages of the research process </vt:lpstr>
      <vt:lpstr>2.3.Stages of the research process </vt:lpstr>
      <vt:lpstr>2.4.Components of a Research Proposal </vt:lpstr>
      <vt:lpstr>2.4.Components of a Research Proposal </vt:lpstr>
      <vt:lpstr> Chapter Three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Hypotheses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ONE</dc:title>
  <dc:creator>user</dc:creator>
  <cp:lastModifiedBy>hp</cp:lastModifiedBy>
  <cp:revision>86</cp:revision>
  <cp:lastPrinted>2022-11-29T11:10:19Z</cp:lastPrinted>
  <dcterms:created xsi:type="dcterms:W3CDTF">2022-11-07T06:03:53Z</dcterms:created>
  <dcterms:modified xsi:type="dcterms:W3CDTF">2025-10-31T07:10:50Z</dcterms:modified>
</cp:coreProperties>
</file>