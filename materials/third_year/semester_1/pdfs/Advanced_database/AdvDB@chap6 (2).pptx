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90" r:id="rId5"/>
    <p:sldId id="273" r:id="rId6"/>
    <p:sldId id="274" r:id="rId7"/>
    <p:sldId id="281" r:id="rId8"/>
    <p:sldId id="260" r:id="rId9"/>
    <p:sldId id="279" r:id="rId10"/>
    <p:sldId id="285" r:id="rId11"/>
    <p:sldId id="286" r:id="rId12"/>
    <p:sldId id="284" r:id="rId13"/>
    <p:sldId id="261" r:id="rId14"/>
    <p:sldId id="267" r:id="rId15"/>
    <p:sldId id="287" r:id="rId16"/>
    <p:sldId id="288" r:id="rId17"/>
    <p:sldId id="264" r:id="rId18"/>
    <p:sldId id="278" r:id="rId19"/>
    <p:sldId id="265" r:id="rId20"/>
    <p:sldId id="282" r:id="rId21"/>
    <p:sldId id="283" r:id="rId22"/>
    <p:sldId id="266" r:id="rId23"/>
    <p:sldId id="271" r:id="rId24"/>
    <p:sldId id="28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>
      <p:cViewPr varScale="1">
        <p:scale>
          <a:sx n="67" d="100"/>
          <a:sy n="67" d="100"/>
        </p:scale>
        <p:origin x="150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AC0C4-C550-4F68-B139-C9934E11EA9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91F4A6-9B96-4D49-A101-8A1C3F06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45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EA3DE30B-9E90-09FC-126F-4E9F82CAE6E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070F383-824F-42DB-912B-A8B7AD42F79B}" type="slidenum">
              <a:rPr lang="en-US" altLang="en-US">
                <a:latin typeface="Calibri" panose="020F0502020204030204" pitchFamily="34" charset="0"/>
                <a:cs typeface="WenQuanYi Micro He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>
              <a:latin typeface="Calibri" panose="020F0502020204030204" pitchFamily="34" charset="0"/>
              <a:cs typeface="WenQuanYi Micro Hei" charset="0"/>
            </a:endParaRPr>
          </a:p>
        </p:txBody>
      </p:sp>
      <p:sp>
        <p:nvSpPr>
          <p:cNvPr id="8195" name="Text Box 1">
            <a:extLst>
              <a:ext uri="{FF2B5EF4-FFF2-40B4-BE49-F238E27FC236}">
                <a16:creationId xmlns:a16="http://schemas.microsoft.com/office/drawing/2014/main" id="{5FB4098F-55E7-8ED8-7849-5BE979F4A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4871695-6C59-40C9-B663-08488817FDF2}" type="slidenum">
              <a:rPr lang="en-CA" altLang="en-US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CA" altLang="en-US">
              <a:latin typeface="Calibri" panose="020F0502020204030204" pitchFamily="34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3C12E966-4FBF-1FF5-1488-5DBD4B57BA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F6CC666B-4E75-0EF8-C9CF-4ADF076A1D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ct val="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>
              <a:latin typeface="Calibri" panose="020F0502020204030204" pitchFamily="34" charset="0"/>
              <a:cs typeface="WenQuanYi Micro He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87D4B-66ED-4DA3-AC77-5A095C819210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31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59DD7-0949-41AF-B011-E65E386A9997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BDAD1-49E6-4610-AF85-DB3E25B7164D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98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C4E4-F824-493E-B5A2-93B033ACA124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47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CEDEB-5C8F-42D3-AB85-4D1B3A5121CE}" type="datetime1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85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A6B9-2534-46AA-A3C1-1EF353525C4F}" type="datetime1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94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0966-CA05-4790-888E-FCF982787E6D}" type="datetime1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6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5A5C4-5DB8-4BC1-8C46-35B9EA9C3B32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35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B5EE8-106E-4157-A2B4-0DDBB189E620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7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9BBFF-1918-46C8-8360-9C2B0E60B359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69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3DEE5-85F8-4D28-A977-F808D1CF8015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57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A0347-3999-4C13-AF4F-C7D51632ED83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5B9A8-719B-4BB0-B532-15E0DF50E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67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5" y="136525"/>
            <a:ext cx="9020175" cy="1022349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sz="11500" dirty="0">
                <a:solidFill>
                  <a:srgbClr val="C00000"/>
                </a:solidFill>
                <a:latin typeface="Brush Script MT" pitchFamily="66" charset="0"/>
              </a:rPr>
              <a:t>Chapter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775" y="1295401"/>
            <a:ext cx="8991600" cy="1752600"/>
          </a:xfrm>
          <a:solidFill>
            <a:schemeClr val="bg2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Viner Hand ITC" pitchFamily="66" charset="0"/>
              </a:rPr>
              <a:t>Data warehousing and data mining techniques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FA558B-46F0-9D2F-1935-6A3FEEA6F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971800"/>
            <a:ext cx="9067800" cy="388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4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067800" cy="685800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915400" cy="6019800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 warehousing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Data warehousing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 and online transaction processing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 mining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techniques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79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136525"/>
            <a:ext cx="8915400" cy="690562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sz="3200" b="1" dirty="0">
                <a:latin typeface="Century Gothic" pitchFamily="34" charset="0"/>
              </a:rPr>
              <a:t>Introduction to Data warehousing</a:t>
            </a:r>
            <a:br>
              <a:rPr lang="en-US" sz="3200" b="1" dirty="0">
                <a:latin typeface="Century Gothic" pitchFamily="34" charset="0"/>
              </a:rPr>
            </a:br>
            <a:endParaRPr lang="en-US" sz="3200" b="1" dirty="0">
              <a:latin typeface="Century Gothic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525"/>
            <a:ext cx="8915400" cy="6721475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endParaRPr lang="en-US" sz="1600" i="1" dirty="0">
              <a:latin typeface="Century Gothic" pitchFamily="34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warehouse as a storehouse, is a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 of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collected from multiple data sources (often heterogeneous) and is intended to be used as a whole under the same unified schema.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of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collecting, storing, and managing large volumes of historical data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multiple sources to support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analysis, reporting, and decision making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gives the option to analyze data from different sources under the same roof.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 involves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data integration, and data consolidations.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 A data warehouse is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repository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integrated data from one or more different, separate sources.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4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DD4E6-D914-FE63-4404-2C2A5803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6CF89-1D52-6291-760A-698273755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6525"/>
            <a:ext cx="8763000" cy="6721475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endParaRPr lang="en-US" sz="1600" i="1" dirty="0">
              <a:latin typeface="Century Gothic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operational data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 to run daily business activities.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database storing: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enrollment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results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change frequently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from multiple databases for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reporting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data warehouse used to analyze: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over 5 years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trends by department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Graduation rates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is mostly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read-only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952A7-7295-EF8B-260E-89EBA131A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A175C90-CF3E-C58F-6CFE-54F9FB3D5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Cont..</a:t>
            </a:r>
          </a:p>
        </p:txBody>
      </p:sp>
    </p:spTree>
    <p:extLst>
      <p:ext uri="{BB962C8B-B14F-4D97-AF65-F5344CB8AC3E}">
        <p14:creationId xmlns:p14="http://schemas.microsoft.com/office/powerpoint/2010/main" val="1086964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9067800" cy="762000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br>
              <a:rPr lang="en-US" i="1" dirty="0">
                <a:latin typeface="Century Gothic" pitchFamily="34" charset="0"/>
              </a:rPr>
            </a:br>
            <a:r>
              <a:rPr lang="en-US" i="1" dirty="0">
                <a:latin typeface="Century Gothic" pitchFamily="34" charset="0"/>
              </a:rPr>
              <a:t>How Data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</a:t>
            </a:r>
            <a:r>
              <a:rPr lang="en-US" i="1" dirty="0">
                <a:latin typeface="Century Gothic" pitchFamily="34" charset="0"/>
              </a:rPr>
              <a:t> works?</a:t>
            </a:r>
            <a:br>
              <a:rPr lang="en-US" i="1" dirty="0">
                <a:latin typeface="Century Gothic" pitchFamily="34" charset="0"/>
              </a:rPr>
            </a:br>
            <a:endParaRPr lang="en-US" dirty="0">
              <a:latin typeface="Century Gothic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6019800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Warehouse </a:t>
            </a:r>
            <a:r>
              <a:rPr lang="en-US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as a central repository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information arrives from one or more data sources.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flows into a data warehouse </a:t>
            </a:r>
            <a:r>
              <a:rPr lang="en-US" sz="8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transactional system and other relational databases.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in each database </a:t>
            </a:r>
            <a:r>
              <a:rPr lang="en-US" sz="8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organized into row and columns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warehouse merges information coming from different sources into one </a:t>
            </a:r>
            <a:r>
              <a:rPr lang="en-US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database tables can be organized inside schema which are think as folder.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merging all of this information in one place, an organization can analyze its customers more holistically. This helps to ensure that it has considered all the information available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09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85800"/>
          </a:xfrm>
          <a:solidFill>
            <a:schemeClr val="accent2"/>
          </a:solidFill>
        </p:spPr>
        <p:txBody>
          <a:bodyPr>
            <a:noAutofit/>
          </a:bodyPr>
          <a:lstStyle/>
          <a:p>
            <a:pPr lvl="0"/>
            <a:br>
              <a:rPr lang="en-US" sz="3200" b="1" i="1" dirty="0">
                <a:solidFill>
                  <a:srgbClr val="000000"/>
                </a:solidFill>
                <a:latin typeface="Segoe UI Semibold" pitchFamily="34" charset="0"/>
                <a:cs typeface="Segoe UI Semibold" pitchFamily="34" charset="0"/>
              </a:rPr>
            </a:br>
            <a:r>
              <a:rPr lang="en-US" sz="3200" b="1" i="1" dirty="0">
                <a:solidFill>
                  <a:srgbClr val="000000"/>
                </a:solidFill>
                <a:latin typeface="Segoe UI Semibold" pitchFamily="34" charset="0"/>
                <a:cs typeface="Segoe UI Semibold" pitchFamily="34" charset="0"/>
              </a:rPr>
              <a:t>Benefits of Data Warehouse</a:t>
            </a:r>
            <a:br>
              <a:rPr lang="en-US" sz="3200" b="1" i="1" dirty="0">
                <a:solidFill>
                  <a:srgbClr val="000000"/>
                </a:solidFill>
                <a:latin typeface="Segoe UI Semibold" pitchFamily="34" charset="0"/>
                <a:cs typeface="Segoe UI Semibold" pitchFamily="34" charset="0"/>
              </a:rPr>
            </a:br>
            <a:endParaRPr lang="en-US" sz="3200" dirty="0">
              <a:latin typeface="Segoe UI Semibold" pitchFamily="34" charset="0"/>
              <a:cs typeface="Segoe UI Semibold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21176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4CB60A-64AF-FB56-61AD-7C6692D3260C}"/>
              </a:ext>
            </a:extLst>
          </p:cNvPr>
          <p:cNvSpPr txBox="1"/>
          <p:nvPr/>
        </p:nvSpPr>
        <p:spPr>
          <a:xfrm>
            <a:off x="304800" y="914400"/>
            <a:ext cx="8534400" cy="4099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Repository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data from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sources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one place.</a:t>
            </a:r>
            <a:endParaRPr lang="en-US" sz="2000" b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facilitate reporting as well as analysis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Informed decision making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accurate, integrated, and historical data</a:t>
            </a:r>
            <a:endParaRPr lang="en-US" sz="2000" b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Analysis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Enables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time-based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(monthly, yearly trends) Stores data over long periods (years).</a:t>
            </a:r>
            <a:endParaRPr lang="en-US" sz="2000" b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Query Performance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for complex analytical queries</a:t>
            </a:r>
          </a:p>
        </p:txBody>
      </p:sp>
    </p:spTree>
    <p:extLst>
      <p:ext uri="{BB962C8B-B14F-4D97-AF65-F5344CB8AC3E}">
        <p14:creationId xmlns:p14="http://schemas.microsoft.com/office/powerpoint/2010/main" val="2266858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850AE303-D889-7905-B68F-81F5C6FA9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3BE2404-9E85-4959-9D72-82D69EBEB6D1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75FC19F7-5E17-21F0-A4AB-12900946E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36524"/>
            <a:ext cx="8610600" cy="706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576263" indent="-576263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2pPr>
            <a:lvl3pPr marL="1325563" indent="-411163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3pPr>
            <a:lvl4pPr marL="1741488" indent="-369888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1146175" algn="l"/>
                <a:tab pos="2060575" algn="l"/>
                <a:tab pos="2974975" algn="l"/>
                <a:tab pos="3889375" algn="l"/>
                <a:tab pos="4803775" algn="l"/>
                <a:tab pos="5718175" algn="l"/>
                <a:tab pos="6632575" algn="l"/>
                <a:tab pos="7546975" algn="l"/>
                <a:tab pos="8461375" algn="l"/>
                <a:tab pos="9375775" algn="l"/>
                <a:tab pos="1029017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9pPr>
          </a:lstStyle>
          <a:p>
            <a:pPr marL="0" indent="0">
              <a:buNone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Data warehouse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Subject-Oriented:-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 contains data organized by topics. E.g. Sales, marketing, finance, etc.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variant:-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warehouse contains data that reflect what happened last week, last month, past five years, and so on.  Time based reporting 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centralized, consolidated database that integrates data derived from the entire organization.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 volatile:-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data enter the data warehouse, they are never removed. Because the data in the warehouse represent the company‘s entire history</a:t>
            </a:r>
            <a:r>
              <a:rPr lang="en-US" altLang="en-US" sz="2800" dirty="0"/>
              <a:t>.  </a:t>
            </a:r>
          </a:p>
        </p:txBody>
      </p:sp>
      <p:sp>
        <p:nvSpPr>
          <p:cNvPr id="7172" name="Text Box 3">
            <a:extLst>
              <a:ext uri="{FF2B5EF4-FFF2-40B4-BE49-F238E27FC236}">
                <a16:creationId xmlns:a16="http://schemas.microsoft.com/office/drawing/2014/main" id="{44F1E254-9099-767E-5888-CB6F17B90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WenQuanYi Micro Hei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521109A-BD5A-488F-881E-2A0850CC0EEC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304800"/>
            <a:ext cx="8610600" cy="761999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 and online transaction processing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799"/>
            <a:ext cx="8991600" cy="6248401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minor systems that are useful in managing this data include Data Warehousing (DWH) as well as Online Transaction Processing (OLTP).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 is a technique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gathers or collects data from different sources into a central repository, or, in other words, a single, complete, and consistent store of data that is obtained from different sources.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powerful database model that enhances the user’s ability to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huge, multidimensional datasets. </a:t>
            </a:r>
          </a:p>
          <a:p>
            <a:pPr algn="just">
              <a:lnSpc>
                <a:spcPct val="17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67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400"/>
            <a:ext cx="9067800" cy="381000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sz="3600" dirty="0">
                <a:latin typeface="Century Gothic" pitchFamily="34" charset="0"/>
              </a:rPr>
              <a:t>Online-Transaction Processing /OLTP/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533400"/>
            <a:ext cx="8991600" cy="56388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technique used for detailed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day-to-day transactions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data which continuously chain on an everyday-basis. 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describe OLTP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upport daily operational activities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an organization by processing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number of short, fast, and concurrent transactions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 time. 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featured by a large number of short on-line transactions (INSERT, UPDATE, and DELETE).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OLTP or Online Transaction Processing is a type of data processing that consists of executing a number of transactions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occurring concurrently—online banking, shopping, order entry, or sending text messages, for example.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primary significance of OLTP operations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put on very rapid query processing, maintaining record integrity in multi-access environments, and effectiveness consistent by the number of transactions per second.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72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0D830-9465-29A1-F119-5045E27FC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1FCAA-3D78-4D64-C307-E6A66F000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14400"/>
            <a:ext cx="8991600" cy="5562600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Banking System (ATM / Mobile Banking)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OLTP Activities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 money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Withdraw money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funds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University Student Registration System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OLTP Activities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new students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or drop courses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grades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student profiles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1430B-CF08-46F5-C74C-886FC48C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237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A917E-B360-479B-DDCF-5EF019C06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548EF-AA1D-96A5-CFA4-8702E171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75D17-A041-2D4D-C4ED-396B4D7F6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38200"/>
            <a:ext cx="8610600" cy="5287963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1: Bank Data Warehouse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Stored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years of transaction history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and credit data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2: University Data Warehouse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Stored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over many years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trends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Graduation and dropout data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B1BB6-CB4B-1D85-5ACF-1D1B3FCCE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13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9FC2B-FDFE-5E92-5E68-1F259FD7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0B9F62-6E78-DD36-B977-CDC8E5B30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274638"/>
            <a:ext cx="8847208" cy="673576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19835-1A8A-5323-215E-243D070A4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53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5100"/>
            <a:ext cx="8763000" cy="533400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 mining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309" y="1066800"/>
            <a:ext cx="8887691" cy="6111875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9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extracting or mining knowledge from large amounts of data.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process of </a:t>
            </a:r>
            <a:r>
              <a:rPr lang="en-US" sz="9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extracting and discovering patterns in large data sets and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patterns or knowledge from huge amount of data.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main goals of data mining is </a:t>
            </a:r>
            <a:r>
              <a:rPr 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9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 meaningful patterns, relationships, trends, and knowledge from large volumes of data</a:t>
            </a:r>
            <a:endParaRPr lang="en-US" sz="9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 stores data → data mining analyzes data</a:t>
            </a: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899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95534"/>
          </a:xfrm>
        </p:spPr>
        <p:txBody>
          <a:bodyPr>
            <a:normAutofit fontScale="90000"/>
          </a:bodyPr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B36B68-C0FD-AB95-C70E-C2EE4DDD4185}"/>
              </a:ext>
            </a:extLst>
          </p:cNvPr>
          <p:cNvSpPr txBox="1"/>
          <p:nvPr/>
        </p:nvSpPr>
        <p:spPr>
          <a:xfrm>
            <a:off x="152400" y="295534"/>
            <a:ext cx="8991600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Process (KDD Model)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Cleaning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errors, and missing values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duplicate records and inconsistencies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incomplete student records from a university database.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 Integration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data from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sources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one dataset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Merging student data from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Data Selection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mining task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only GPA, attendance, and exam scores to analyze student performance.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877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58A88-AE02-4265-50FC-114A61E1C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161E4-8451-00AD-E587-A8784EB17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5E369-B0C0-7D48-E2C6-853FCD7AA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6DC206-4B12-EBA2-113A-EB605EC15B10}"/>
              </a:ext>
            </a:extLst>
          </p:cNvPr>
          <p:cNvSpPr txBox="1"/>
          <p:nvPr/>
        </p:nvSpPr>
        <p:spPr>
          <a:xfrm>
            <a:off x="152400" y="136526"/>
            <a:ext cx="8991600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Data Transformation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data into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format             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Normalize, aggregate, or encode data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raw marks into grade categories (A, B, C).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 Data Mining (Core Step)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algorithms to extract patterns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Pattern Evaluation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interesting and useful patterns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irrelevant or redundant results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Keeping only rules with high confidence like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“Students with attendance &gt; 80% usually pass.”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145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22A43-259D-599D-8AF3-635A5168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47DC5-C567-11C6-708C-8067B1624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DF0F5-5A18-0738-AB14-FFA9610EF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5FF957-3C66-9F9C-C938-932DB1870293}"/>
              </a:ext>
            </a:extLst>
          </p:cNvPr>
          <p:cNvSpPr txBox="1"/>
          <p:nvPr/>
        </p:nvSpPr>
        <p:spPr>
          <a:xfrm>
            <a:off x="152400" y="136526"/>
            <a:ext cx="8991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 Knowledge Presentation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results in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human-understandable form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graphs, reports, dashboards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showing student performance trends.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196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17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8686800" cy="6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6473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98438"/>
            <a:ext cx="7848600" cy="94456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211763"/>
          </a:xfrm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6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data to predefined classes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labeled data (supervised learning)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/ Fail students</a:t>
            </a:r>
          </a:p>
          <a:p>
            <a:pPr lvl="1">
              <a:lnSpc>
                <a:spcPct val="150000"/>
              </a:lnSpc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/ Not Spam emails</a:t>
            </a:r>
          </a:p>
          <a:p>
            <a:pPr>
              <a:lnSpc>
                <a:spcPct val="150000"/>
              </a:lnSpc>
            </a:pPr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 Trees, Naïve Bayes, Neural Networks</a:t>
            </a:r>
          </a:p>
          <a:p>
            <a:pPr>
              <a:lnSpc>
                <a:spcPct val="150000"/>
              </a:lnSpc>
              <a:buNone/>
            </a:pPr>
            <a:r>
              <a:rPr lang="en-US" sz="6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similar data items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predefined classes (unsupervised learning)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696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19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8D9618-5EB1-E4AD-271F-95C31738B9C1}"/>
              </a:ext>
            </a:extLst>
          </p:cNvPr>
          <p:cNvSpPr txBox="1"/>
          <p:nvPr/>
        </p:nvSpPr>
        <p:spPr>
          <a:xfrm>
            <a:off x="228600" y="274638"/>
            <a:ext cx="86106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customers by buying behavior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students by performance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 K-means, Hierarchical clustering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Association Rule Mining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relationships between items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IF–THEN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customer buys bread → they also buy butter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Apriori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933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2CB80-0FED-0802-011E-C9290E95F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1A26-F4AE-2333-DD86-4AE129E6E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5415F-D099-6669-0894-F7DA2B3E4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BDB49-9018-6AF0-B2DF-CAC11BC17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20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F1BBE-5B78-7984-B8EA-4A3453D126C9}"/>
              </a:ext>
            </a:extLst>
          </p:cNvPr>
          <p:cNvSpPr txBox="1"/>
          <p:nvPr/>
        </p:nvSpPr>
        <p:spPr>
          <a:xfrm>
            <a:off x="152400" y="457200"/>
            <a:ext cx="8991600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numerical values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relationship between variables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salary based on experience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sales amount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student GPA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Linear regression, Multiple regression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Anomaly (Outlier) Detection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unusual or abnormal data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intrusion detection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737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0228-436A-E517-5302-579978B17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87DD2-E297-7F7F-BA05-FF265C50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85800"/>
            <a:ext cx="8382000" cy="54403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(University)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student records, grades, attendance for many years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Mining: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students at risk of failure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students by performance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factors affecting GPA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E61D4-AB8F-B0A8-D46E-9D8CAB92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27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22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47737"/>
            <a:ext cx="8617099" cy="496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6214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4762"/>
            <a:ext cx="9067800" cy="685800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04800"/>
            <a:ext cx="9144000" cy="6553200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 is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of discovering interesting patterns from large amounts of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the data can be stored in databases, data warehouses, or other information repositories. 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young interdisciplinary field, drawing from areas such as database systems, data warehousing, statistics, machine learning, data visualization, information retrieval, and high-performance computing </a:t>
            </a:r>
            <a:b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044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6FFB2-5868-5B05-8E5F-24DEF22FF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A42C-AE84-9D90-CD6F-2C8D4C6D7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525"/>
            <a:ext cx="9144000" cy="6721475"/>
          </a:xfrm>
        </p:spPr>
        <p:txBody>
          <a:bodyPr>
            <a:norm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sz="19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D01F6-3D7A-942A-E73E-36ED322D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5B9A8-719B-4BB0-B532-15E0DF50EDF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96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1363</Words>
  <Application>Microsoft Office PowerPoint</Application>
  <PresentationFormat>On-screen Show (4:3)</PresentationFormat>
  <Paragraphs>196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Brush Script MT</vt:lpstr>
      <vt:lpstr>Calibri</vt:lpstr>
      <vt:lpstr>Century Gothic</vt:lpstr>
      <vt:lpstr>Segoe UI Semibold</vt:lpstr>
      <vt:lpstr>Times New Roman</vt:lpstr>
      <vt:lpstr>Viner Hand ITC</vt:lpstr>
      <vt:lpstr>Wingdings</vt:lpstr>
      <vt:lpstr>Office Theme</vt:lpstr>
      <vt:lpstr>Chapter 6</vt:lpstr>
      <vt:lpstr>Chapter outline</vt:lpstr>
      <vt:lpstr>Introduction to Data warehousing </vt:lpstr>
      <vt:lpstr>Cont..</vt:lpstr>
      <vt:lpstr> How Data warehouse works? </vt:lpstr>
      <vt:lpstr> Benefits of Data Warehouse </vt:lpstr>
      <vt:lpstr>PowerPoint Presentation</vt:lpstr>
      <vt:lpstr>Data warehousing and online transaction processing </vt:lpstr>
      <vt:lpstr>Online-Transaction Processing /OLTP/</vt:lpstr>
      <vt:lpstr>eg</vt:lpstr>
      <vt:lpstr>eg</vt:lpstr>
      <vt:lpstr>PowerPoint Presentation</vt:lpstr>
      <vt:lpstr> Introduction to data mining </vt:lpstr>
      <vt:lpstr>Cont..</vt:lpstr>
      <vt:lpstr>PowerPoint Presentation</vt:lpstr>
      <vt:lpstr>PowerPoint Presentation</vt:lpstr>
      <vt:lpstr>PowerPoint Presentation</vt:lpstr>
      <vt:lpstr>Data Mining Techniques</vt:lpstr>
      <vt:lpstr>Cont..</vt:lpstr>
      <vt:lpstr>Cont..</vt:lpstr>
      <vt:lpstr>Cont..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chilote dessalew</cp:lastModifiedBy>
  <cp:revision>212</cp:revision>
  <dcterms:created xsi:type="dcterms:W3CDTF">2024-12-09T06:39:41Z</dcterms:created>
  <dcterms:modified xsi:type="dcterms:W3CDTF">2025-12-22T11:09:26Z</dcterms:modified>
</cp:coreProperties>
</file>