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3"/>
  </p:notesMasterIdLst>
  <p:sldIdLst>
    <p:sldId id="256" r:id="rId3"/>
    <p:sldId id="257" r:id="rId4"/>
    <p:sldId id="283" r:id="rId5"/>
    <p:sldId id="259" r:id="rId6"/>
    <p:sldId id="260" r:id="rId7"/>
    <p:sldId id="261" r:id="rId8"/>
    <p:sldId id="287" r:id="rId9"/>
    <p:sldId id="262" r:id="rId10"/>
    <p:sldId id="284" r:id="rId11"/>
    <p:sldId id="272" r:id="rId12"/>
    <p:sldId id="263" r:id="rId13"/>
    <p:sldId id="264" r:id="rId14"/>
    <p:sldId id="273" r:id="rId15"/>
    <p:sldId id="289" r:id="rId16"/>
    <p:sldId id="292" r:id="rId17"/>
    <p:sldId id="291" r:id="rId18"/>
    <p:sldId id="266" r:id="rId19"/>
    <p:sldId id="286" r:id="rId20"/>
    <p:sldId id="278" r:id="rId21"/>
    <p:sldId id="293" r:id="rId22"/>
    <p:sldId id="294" r:id="rId23"/>
    <p:sldId id="267" r:id="rId24"/>
    <p:sldId id="270" r:id="rId25"/>
    <p:sldId id="280" r:id="rId26"/>
    <p:sldId id="268" r:id="rId27"/>
    <p:sldId id="269" r:id="rId28"/>
    <p:sldId id="276" r:id="rId29"/>
    <p:sldId id="281" r:id="rId30"/>
    <p:sldId id="295" r:id="rId31"/>
    <p:sldId id="28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41" autoAdjust="0"/>
  </p:normalViewPr>
  <p:slideViewPr>
    <p:cSldViewPr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2E230-E26E-4950-B024-B3C05D4DCD25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CC638-A54F-4005-9EC6-09AF83B9E5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2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CC638-A54F-4005-9EC6-09AF83B9E59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867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B6D6175-3AE6-FFB8-7AAA-00636970FA9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6BE7D7A-F344-402A-A750-4A0080B6F48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WenQuanYi Micro Hei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WenQuanYi Micro Hei" charset="0"/>
            </a:endParaRPr>
          </a:p>
        </p:txBody>
      </p:sp>
      <p:sp>
        <p:nvSpPr>
          <p:cNvPr id="12291" name="Text Box 1">
            <a:extLst>
              <a:ext uri="{FF2B5EF4-FFF2-40B4-BE49-F238E27FC236}">
                <a16:creationId xmlns:a16="http://schemas.microsoft.com/office/drawing/2014/main" id="{2AF8AE72-46B7-2767-94FF-2CC74A4DE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269C31A-127F-493E-B33D-16BEA452B9BF}" type="slidenum">
              <a:rPr kumimoji="0" lang="en-C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CA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5DF0BD36-F5FC-C12C-4765-850AA86D4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B49EA38D-E2AD-41A6-4F75-1F11D7BD9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>
              <a:latin typeface="Calibri" panose="020F0502020204030204" pitchFamily="34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DE8BD88F-C308-7C0D-23E5-A6E879B9561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492BFAA-D75F-4D68-AC82-F450434FCDC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WenQuanYi Micro Hei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WenQuanYi Micro Hei" charset="0"/>
            </a:endParaRPr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39F90FBA-AACF-574E-B8DF-0D7C29501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10DB9827-91CD-30B7-2DD0-AE0C89BBA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5CEF3D2-2955-5F41-C7D2-1FEF030FC10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71FF0CB-5816-42B4-9953-4F6F9FDCF43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WenQuanYi Micro Hei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WenQuanYi Micro Hei" charset="0"/>
            </a:endParaRPr>
          </a:p>
        </p:txBody>
      </p:sp>
      <p:sp>
        <p:nvSpPr>
          <p:cNvPr id="18435" name="Text Box 1">
            <a:extLst>
              <a:ext uri="{FF2B5EF4-FFF2-40B4-BE49-F238E27FC236}">
                <a16:creationId xmlns:a16="http://schemas.microsoft.com/office/drawing/2014/main" id="{ECA1D847-704E-7A9B-0518-ADD236031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73F7269-F370-48FD-A89E-A62F1BDE7299}" type="slidenum">
              <a:rPr kumimoji="0" lang="en-C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CA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62B8CA5F-B3FB-BCFD-32A0-705F1D1176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875408F2-B988-2C2F-1464-63DD3A414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>
              <a:latin typeface="Calibri" panose="020F0502020204030204" pitchFamily="34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9DFB56BA-4B18-CFBE-D702-32426FB6B03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2DFB29-495A-4432-BA2F-59427E9E33D3}" type="slidenum">
              <a:rPr lang="en-US" altLang="en-US">
                <a:latin typeface="Calibri" panose="020F0502020204030204" pitchFamily="34" charset="0"/>
                <a:cs typeface="WenQuanYi Micro He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>
              <a:latin typeface="Calibri" panose="020F0502020204030204" pitchFamily="34" charset="0"/>
              <a:cs typeface="WenQuanYi Micro Hei" charset="0"/>
            </a:endParaRPr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6475C198-7064-FBC5-D9F5-70CD539540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EEAAA8F0-384F-C587-9D83-AC95BE1EA4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3F9EB-6DE3-4853-8F68-77A95C7280C1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98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12DB-04AB-4EDE-BFC9-CCBAC64A1CF6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57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79B80-654F-4CC6-99EB-CC882735DC00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93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E6EC-317D-42D9-B0CE-8E6AB436119A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66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B208D-9AEB-40BF-BD63-4337CA743D18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09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58E7-CE95-4188-BC6F-1CB6079D55F5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8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60B8-E799-4EFE-A38E-35815579280A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1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3D1AE-3609-4D7D-8CAF-EB6B53C85C07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DAE7-EFDC-49F8-98B0-6C6D12D74360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32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B59E-842D-4215-8B66-5F1E39304AE7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24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12C9-951E-4DC5-B21C-3F532FBCB50C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354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B27BB-F374-0A62-838E-4CE2B5332FB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CE6FF8-30F3-016C-C928-75CD9CE059C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FD7ACF-3879-455C-82CD-AD1FD98839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508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45CB48-F9FA-D178-660E-18ECF960397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BEC666-E8F6-C469-E8C6-863AC16D231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4E17-5604-4D64-A6C0-0C85194085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855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23657-7465-344D-19EF-2E28C02D0A7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AE763F-6BDD-FC34-024E-C3EDAFE886E3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AF41-C6A2-4803-B2CD-15E651D6B0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029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8AAD10B-EAC2-691E-1280-B617B7D2E7D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E14B9-8CA2-665E-24E7-5D6A02A0731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3C9460-2FE4-4C2C-85A3-410B821150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7058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08C0029-3D89-FEAE-8B70-0C38E4274A8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3613DD4-F071-C121-DEA5-E38ADF0DA0A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76A60E-BFBE-42B4-A90A-01BE4515A3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17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8B1BC38-1A96-C5D9-1002-48DDDA2D569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7682D41-CDAE-FBEE-27BA-BAC9A1C9C0CD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33A07-B65A-402A-8EB1-EB6BAC5A4F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420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B19B488-506A-7467-FF06-3187752B9B7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4033C02-FEF2-8403-2E68-3E8FC9FE7E9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314B1E-639C-4DB2-B6FB-ADC9FE630E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637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043633-3345-2F43-1AFF-7ADA50363E4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89190E-7A06-1CFD-7E97-49361B98717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E37E6E-D918-4F66-80A3-419B387CC4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084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3B48418-508B-9E9B-5592-3082AECAE04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A7D94C-8D8E-C8CC-3316-CFD8E3F420E3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DF1FB0-6FFB-4E37-9D3E-2064A098A3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1693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EA12AC-6595-0678-0CEC-5C6589EA73C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1F6310-6576-F6C9-3275-5ABF60E944E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E47308-4CEB-465D-8857-10D8B04DAA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5397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8588"/>
            <a:ext cx="2055813" cy="6762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8588"/>
            <a:ext cx="6019800" cy="6762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67EBE4-A48C-677B-D3BB-4C9C679CF95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E29224-99BA-66B2-0A02-23B6971633AF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9410B-61B7-4DD8-931B-18AFA6C031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89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E4ECF-9A3D-4A8A-9021-B4C75FD9E1C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916EB-B0D1-4DA3-BA8D-D6B6B831E9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46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2F9A58A6-3564-B499-7936-C46664908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8588"/>
            <a:ext cx="8228013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500D737F-0D24-FF27-1F24-D56DAA114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0DD0F90-41E2-803F-5BDA-E02510E5958B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4763"/>
            <a:ext cx="2132013" cy="366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51EEEE9D-F096-0327-80A8-8E8FE731A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54763"/>
            <a:ext cx="2895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9084E7-D784-8A7A-6410-CAB5FC06FBB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4763"/>
            <a:ext cx="2132013" cy="366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eaLnBrk="1" hangingPunct="1">
              <a:buSzPct val="100000"/>
              <a:defRPr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fld id="{8856295E-2532-4DA3-A0C0-41C1E08568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13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WenQuanYi Micro Hei" charset="0"/>
          <a:cs typeface="WenQuanYi Micro Hei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what-is-a-distributed-system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371601"/>
          </a:xfrm>
          <a:solidFill>
            <a:schemeClr val="accent5">
              <a:lumMod val="50000"/>
            </a:schemeClr>
          </a:solidFill>
        </p:spPr>
        <p:txBody>
          <a:bodyPr>
            <a:normAutofit fontScale="90000"/>
          </a:bodyPr>
          <a:lstStyle/>
          <a:p>
            <a:br>
              <a:rPr lang="en-US" b="1" dirty="0">
                <a:latin typeface="Century Gothic" pitchFamily="34" charset="0"/>
              </a:rPr>
            </a:br>
            <a:r>
              <a:rPr lang="en-US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4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371601"/>
            <a:ext cx="9144000" cy="5486399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DISTIBUTED DATABASE</a:t>
            </a:r>
          </a:p>
          <a:p>
            <a:pPr algn="l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SYTEM /DDBS/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07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  <a:solidFill>
            <a:schemeClr val="bg2">
              <a:lumMod val="10000"/>
            </a:schemeClr>
          </a:solidFill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entury Gothic" pitchFamily="34" charset="0"/>
              </a:rPr>
              <a:t>CHAPTER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4525963"/>
          </a:xfrm>
          <a:solidFill>
            <a:srgbClr val="7030A0"/>
          </a:solidFill>
        </p:spPr>
        <p:txBody>
          <a:bodyPr>
            <a:norm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entury Gothic" pitchFamily="34" charset="0"/>
              </a:rPr>
              <a:t>Concepts of Distributed databases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entury Gothic" pitchFamily="34" charset="0"/>
              </a:rPr>
              <a:t>Distributed database design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entury Gothic" pitchFamily="34" charset="0"/>
              </a:rPr>
              <a:t>Distributed query processing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entury Gothic" pitchFamily="34" charset="0"/>
              </a:rPr>
              <a:t>Distributed transaction management and recovery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81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"/>
            <a:ext cx="88392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926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2562"/>
          </a:xfrm>
        </p:spPr>
        <p:txBody>
          <a:bodyPr>
            <a:normAutofit fontScale="90000"/>
          </a:bodyPr>
          <a:lstStyle/>
          <a:p>
            <a:r>
              <a:rPr lang="en-US" dirty="0"/>
              <a:t>Central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8000999" cy="541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6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04801"/>
            <a:ext cx="9144000" cy="1676399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DISTIBUTED DATABASE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382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174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715962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b="1" i="1" dirty="0">
                <a:latin typeface="Century Gothic" pitchFamily="34" charset="0"/>
              </a:rPr>
              <a:t>Distributed Database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364163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database is defined as is a collection of multiple, logically interrelated databases that are spread across different locations but connected through a network.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the data is stored in different physical sites, the system works as </a:t>
            </a:r>
            <a:r>
              <a:rPr 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single database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user.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database management system (DDBMS) is then defined as the software system that permits the management of the distributed database and makes the distribution transparent to the users. 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important terms in these definitions are “logically interrelated” and “distributed over a computer network.” 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a centralized database that runs on a single machine, a distributed database appears as a single logical database to the user, but its data is physically distributed across multiple sites connected by a network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US" dirty="0">
              <a:latin typeface="Century Gothic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73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7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19400"/>
            <a:ext cx="81534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F2AF1B-54C9-9046-10FB-A879D9C64DB7}"/>
              </a:ext>
            </a:extLst>
          </p:cNvPr>
          <p:cNvSpPr txBox="1"/>
          <p:nvPr/>
        </p:nvSpPr>
        <p:spPr>
          <a:xfrm>
            <a:off x="457200" y="457200"/>
            <a:ext cx="868680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bank with branches in many cities where each branch stores its own customers’ data, but all branches can access each other's data as one database.</a:t>
            </a:r>
          </a:p>
        </p:txBody>
      </p:sp>
    </p:spTree>
    <p:extLst>
      <p:ext uri="{BB962C8B-B14F-4D97-AF65-F5344CB8AC3E}">
        <p14:creationId xmlns:p14="http://schemas.microsoft.com/office/powerpoint/2010/main" val="184199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199"/>
            <a:ext cx="8382000" cy="655637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br>
              <a:rPr lang="en-US" sz="2200" b="1" i="1" dirty="0">
                <a:solidFill>
                  <a:srgbClr val="C00000"/>
                </a:solidFill>
                <a:latin typeface="Century Gothic" pitchFamily="34" charset="0"/>
              </a:rPr>
            </a:br>
            <a:r>
              <a:rPr lang="en-US" sz="2200" b="1" i="1" dirty="0">
                <a:latin typeface="Century Gothic" pitchFamily="34" charset="0"/>
              </a:rPr>
              <a:t>Homogenous distributed database system</a:t>
            </a:r>
            <a:br>
              <a:rPr lang="en-US" b="1" i="1" dirty="0">
                <a:latin typeface="Century Gothic" pitchFamily="34" charset="0"/>
              </a:rPr>
            </a:br>
            <a:endParaRPr lang="en-US" i="1" dirty="0">
              <a:latin typeface="Century Gothic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440363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homogenous distributed database system, all the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locations have the same underlying hardware and run the same operating systems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8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all computers Oracle/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/other DBMS is used as DBMS system.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appear to the user as a single system, and they can be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 easier to design and manage. 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distributed database system to be homogenous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data structures at each location must be either identical or compatible. </a:t>
            </a:r>
          </a:p>
          <a:p>
            <a:pPr algn="just">
              <a:lnSpc>
                <a:spcPct val="170000"/>
              </a:lnSpc>
              <a:buBlip>
                <a:blip r:embed="rId2"/>
              </a:buBlip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application used at each location must also be either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identical or compatible. </a:t>
            </a:r>
          </a:p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83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458200" cy="60499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homogeneous distributed database: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database is independent that is it functions on its own.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integrated by a controlling application and use message passing to share data updates.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Non-autonomous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distributed across the homogeneous nodes and a central or master DBMS co-ordinates data updates across the sites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78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rgbClr val="FF0000"/>
                </a:solidFill>
                <a:latin typeface="Century Gothic" pitchFamily="34" charset="0"/>
              </a:rPr>
              <a:t>Example of Homo DDB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22000976"/>
              </p:ext>
            </p:extLst>
          </p:nvPr>
        </p:nvGraphicFramePr>
        <p:xfrm>
          <a:off x="304800" y="914400"/>
          <a:ext cx="8229600" cy="544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779264" imgH="3095447" progId="Visio.Drawing.11">
                  <p:embed/>
                </p:oleObj>
              </mc:Choice>
              <mc:Fallback>
                <p:oleObj name="Visio" r:id="rId3" imgW="4779264" imgH="3095447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14400"/>
                        <a:ext cx="8229600" cy="544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514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066800"/>
          </a:xfrm>
        </p:spPr>
        <p:txBody>
          <a:bodyPr>
            <a:normAutofit/>
          </a:bodyPr>
          <a:lstStyle/>
          <a:p>
            <a:r>
              <a:rPr lang="en-US" sz="2800" b="1" i="1" dirty="0">
                <a:solidFill>
                  <a:srgbClr val="C00000"/>
                </a:solidFill>
                <a:latin typeface="Century Gothic" pitchFamily="34" charset="0"/>
              </a:rPr>
              <a:t>Heterogeneous Distributed Database System</a:t>
            </a:r>
            <a:br>
              <a:rPr lang="en-US" sz="2800" b="1" i="1" dirty="0">
                <a:solidFill>
                  <a:srgbClr val="C00000"/>
                </a:solidFill>
                <a:latin typeface="Century Gothic" pitchFamily="34" charset="0"/>
              </a:rPr>
            </a:br>
            <a:endParaRPr lang="en-US" sz="2800" b="1" i="1" dirty="0">
              <a:solidFill>
                <a:srgbClr val="C00000"/>
              </a:solidFill>
              <a:latin typeface="Century Gothic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 fontScale="32500" lnSpcReduction="20000"/>
          </a:bodyPr>
          <a:lstStyle/>
          <a:p>
            <a:endParaRPr lang="en-US" sz="5600" dirty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heterogeneous distributed database, </a:t>
            </a:r>
            <a:r>
              <a:rPr lang="en-US" sz="6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hardware, operating systems or database applications may be different at each location.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sites may use different schemas and software, although a difference in schema can make </a:t>
            </a:r>
            <a:r>
              <a:rPr lang="en-US" sz="6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and transaction processing difficult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6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nodes may have different hardware, software and data structure, or they may be in locations that are not compatible.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at one location may be able to read data at another location but not upload or alter it.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Heterogeneous distributed databases are </a:t>
            </a:r>
            <a:r>
              <a:rPr lang="en-US" sz="6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difficult to use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economically infeasible for many businesses.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9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663575"/>
            <a:ext cx="8229600" cy="685800"/>
          </a:xfrm>
        </p:spPr>
        <p:txBody>
          <a:bodyPr>
            <a:noAutofit/>
          </a:bodyPr>
          <a:lstStyle/>
          <a:p>
            <a:r>
              <a:rPr lang="en-US" sz="3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---Types </a:t>
            </a:r>
            <a:r>
              <a:rPr lang="en-US" sz="3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Hetro</a:t>
            </a:r>
            <a:r>
              <a:rPr lang="en-US" sz="3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059363"/>
          </a:xfrm>
        </p:spPr>
        <p:txBody>
          <a:bodyPr>
            <a:normAutofit/>
          </a:bodyPr>
          <a:lstStyle/>
          <a:p>
            <a:endParaRPr lang="en-US" dirty="0"/>
          </a:p>
          <a:p>
            <a:pPr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heterogeneous database systems are independent in nature and integrated together so that they function as a single database system.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Un-federated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database systems employ a central coordinating module through which the databases are accessed.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85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txBody>
          <a:bodyPr>
            <a:noAutofit/>
          </a:bodyPr>
          <a:lstStyle/>
          <a:p>
            <a:r>
              <a:rPr lang="en-US" sz="3600" i="1" dirty="0">
                <a:solidFill>
                  <a:srgbClr val="C00000"/>
                </a:solidFill>
                <a:latin typeface="Century Gothic" pitchFamily="34" charset="0"/>
              </a:rPr>
              <a:t>Example of HDDBS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71475503"/>
              </p:ext>
            </p:extLst>
          </p:nvPr>
        </p:nvGraphicFramePr>
        <p:xfrm>
          <a:off x="228600" y="609600"/>
          <a:ext cx="8686800" cy="574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484052" imgH="3124275" progId="Visio.Drawing.11">
                  <p:embed/>
                </p:oleObj>
              </mc:Choice>
              <mc:Fallback>
                <p:oleObj name="Visio" r:id="rId2" imgW="5484052" imgH="3124275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686800" cy="574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0098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">
            <a:extLst>
              <a:ext uri="{FF2B5EF4-FFF2-40B4-BE49-F238E27FC236}">
                <a16:creationId xmlns:a16="http://schemas.microsoft.com/office/drawing/2014/main" id="{7AC8B7B7-E320-1D57-4416-606CF9618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2A12AA3-8D28-4814-88BC-A3A8B79141B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AB12E81C-D611-9776-84AE-E65B572B9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7475"/>
            <a:ext cx="8915400" cy="674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576263" indent="-5762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 marL="1325563" indent="-4111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 marL="1741488" indent="-369888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576263" marR="0" lvl="0" indent="-576263" algn="l" defTabSz="457200" rtl="0" eaLnBrk="1" fontAlgn="base" latinLnBrk="0" hangingPunct="1">
              <a:lnSpc>
                <a:spcPct val="9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Font typeface="Wingdings" panose="05000000000000000000" pitchFamily="2" charset="2"/>
              <a:buChar char="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DDB :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 &amp; Availability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Failure of one site doesn’t crash the entire system.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replication allows continued access from other nodes.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Easier to scale horizontally by adding more servers/nodes.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Can handle increased load by distributing data and transactions.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Speed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can be stored closer to where it’s most frequently used (location transparency).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3399"/>
              </a:buClr>
              <a:buSzPct val="100000"/>
              <a:buNone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Parallel processing of queries across nodes reduces response times.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F9785C87-F1F1-9A19-A91F-CEDBD726D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11B6CEC-0D1B-4A68-ABDE-B02990A7656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2B261-ACCD-DE83-18E0-7CFA5D7ACB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03/03/12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0327F-CC92-2EFA-D994-3FFC164BE35E}"/>
              </a:ext>
            </a:extLst>
          </p:cNvPr>
          <p:cNvSpPr txBox="1"/>
          <p:nvPr/>
        </p:nvSpPr>
        <p:spPr>
          <a:xfrm>
            <a:off x="304800" y="228601"/>
            <a:ext cx="86868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expansion (scalability):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new nodes (computers) to be added anytime without changing   the entire configuration.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advantage of a distributed database system is that it can provide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availability and reliability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the data is stored across multiple sites, the system can continue to function even if one or more sites fail.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a distributed database system can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better performance by distributing the data and processing load across multiple sites.</a:t>
            </a:r>
          </a:p>
        </p:txBody>
      </p:sp>
    </p:spTree>
    <p:extLst>
      <p:ext uri="{BB962C8B-B14F-4D97-AF65-F5344CB8AC3E}">
        <p14:creationId xmlns:p14="http://schemas.microsoft.com/office/powerpoint/2010/main" val="3855676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69DB5931-5E44-B72C-0F5F-0A72AC289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C1D3FC9-2148-4C64-8DA0-4CB804D42CD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3C4B402E-22CF-6E3F-6A0F-7FEBCCE05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3399"/>
              </a:buClr>
              <a:buSzPct val="100000"/>
              <a:buFont typeface="Wingdings" panose="05000000000000000000" pitchFamily="2" charset="2"/>
              <a:buChar char="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 Disadvantages of Distributed Database</a:t>
            </a:r>
          </a:p>
        </p:txBody>
      </p:sp>
      <p:sp>
        <p:nvSpPr>
          <p:cNvPr id="15364" name="Text Box 3">
            <a:extLst>
              <a:ext uri="{FF2B5EF4-FFF2-40B4-BE49-F238E27FC236}">
                <a16:creationId xmlns:a16="http://schemas.microsoft.com/office/drawing/2014/main" id="{26F1C19D-1CCD-5A17-3761-7CA86A8BC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38200"/>
            <a:ext cx="8839200" cy="530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</a:rPr>
              <a:t>Complexity-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 implementation, and maintenance are significantly more complex than centralized DBS.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handling network issues, partitioning, replication, and distributed transactions.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100000"/>
              <a:buNone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</a:rPr>
              <a:t>Cost-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Since DDBMS needs more people and more hardware , maintaining and running the system can be more expensive than the centralized  system 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100000"/>
              <a:buNone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</a:rPr>
              <a:t>Problem of connecting Dissimilar Machine-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Additional layers of operation system software are needed to translate and coordinate the flow of data between machines.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100000"/>
              <a:buNone/>
              <a:tabLst>
                <a:tab pos="857250" algn="l"/>
                <a:tab pos="1771650" algn="l"/>
                <a:tab pos="2686050" algn="l"/>
                <a:tab pos="3600450" algn="l"/>
                <a:tab pos="4514850" algn="l"/>
                <a:tab pos="5429250" algn="l"/>
                <a:tab pos="6343650" algn="l"/>
                <a:tab pos="7258050" algn="l"/>
                <a:tab pos="8172450" algn="l"/>
                <a:tab pos="9086850" algn="l"/>
                <a:tab pos="1000125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</a:rPr>
              <a:t>Data integrity and security problem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- Because data  maintained  by distributed systems can be accessed at locations  in the network, controlling the integrity  of a database can be difficult.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382000" cy="914399"/>
          </a:xfrm>
          <a:solidFill>
            <a:schemeClr val="accent5">
              <a:lumMod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>
                <a:latin typeface="Century Gothic" pitchFamily="34" charset="0"/>
              </a:rPr>
              <a:t> </a:t>
            </a:r>
            <a:br>
              <a:rPr lang="en-US" dirty="0">
                <a:latin typeface="Century Gothic" pitchFamily="34" charset="0"/>
              </a:rPr>
            </a:br>
            <a:r>
              <a:rPr lang="en-US" sz="4900" dirty="0">
                <a:latin typeface="Century Gothic" pitchFamily="34" charset="0"/>
              </a:rPr>
              <a:t>Distributed database design</a:t>
            </a:r>
            <a:br>
              <a:rPr lang="en-US" sz="4900" dirty="0">
                <a:latin typeface="Century Gothic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287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in general several design alternatives. But common are: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 approach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first the general concepts, the global framework are defined, after then the details.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Down-top approach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first the detail modules are defined, after then the global framework.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system should match to existing systems or some modules are yet ready,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down-top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usually used.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58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Top- Down design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18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19200"/>
            <a:ext cx="7467599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475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381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entury Gothic" pitchFamily="34" charset="0"/>
              </a:rPr>
              <a:t>General design steps according to the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6526"/>
            <a:ext cx="8153400" cy="5989638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external, application requirements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of the global schema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of the fragmentation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of the distribution schema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design of the local schemes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of the local physical layers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DDBMS -specific design steps: -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of the fragmentation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of the distribution schema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During the requirement analysis phase, also the fragmentation and distribution requirements are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17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>
            <a:extLst>
              <a:ext uri="{FF2B5EF4-FFF2-40B4-BE49-F238E27FC236}">
                <a16:creationId xmlns:a16="http://schemas.microsoft.com/office/drawing/2014/main" id="{65E49F7F-A6EE-1896-DEBD-6E3A75309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E2C9458-1437-4668-8D5A-A170BBC1095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8FB0ADF5-9C9D-A8D3-991C-D84A6AB35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2. Data Replication and  Fragmentation: </a:t>
            </a:r>
            <a:r>
              <a:rPr kumimoji="0" lang="en-US" altLang="en-US" sz="2300" b="1" i="1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data storage</a:t>
            </a: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C617C8A8-0410-91F7-EC64-62C127466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096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515938" indent="-515938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 marL="806450" indent="-174625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 marL="920750" indent="1698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515938" marR="0" lvl="0" indent="-515938" algn="l" defTabSz="457200" rtl="0" eaLnBrk="1" fontAlgn="base" latinLnBrk="0" hangingPunct="1">
              <a:lnSpc>
                <a:spcPct val="90000"/>
              </a:lnSpc>
              <a:spcBef>
                <a:spcPts val="575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Char char="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/>
            </a:pP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approaches to store the relation in the distributed database :</a:t>
            </a: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Replication and Fragmentation  </a:t>
            </a:r>
          </a:p>
          <a:p>
            <a:pPr marL="515938" marR="0" lvl="0" indent="-515938" algn="l" defTabSz="457200" rtl="0" eaLnBrk="1" fontAlgn="base" latinLnBrk="0" hangingPunct="1">
              <a:lnSpc>
                <a:spcPct val="90000"/>
              </a:lnSpc>
              <a:spcBef>
                <a:spcPts val="575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Times New Roman" panose="02020603050405020304" pitchFamily="18" charset="0"/>
              <a:buAutoNum type="romanUcPeriod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/>
            </a:pP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Replication</a:t>
            </a: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806450" marR="0" lvl="1" indent="-174625" algn="l" defTabSz="457200" rtl="0" eaLnBrk="1" fontAlgn="base" latinLnBrk="0" hangingPunct="1">
              <a:lnSpc>
                <a:spcPct val="90000"/>
              </a:lnSpc>
              <a:spcBef>
                <a:spcPts val="575"/>
              </a:spcBef>
              <a:spcAft>
                <a:spcPct val="0"/>
              </a:spcAft>
              <a:buClr>
                <a:srgbClr val="FF3399"/>
              </a:buClr>
              <a:buSzPct val="100000"/>
              <a:buFont typeface="Wingdings" panose="05000000000000000000" pitchFamily="2" charset="2"/>
              <a:buChar char="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/>
            </a:pP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 several identical copies of the relation &amp; store each copy at a different site </a:t>
            </a:r>
          </a:p>
          <a:p>
            <a:pPr marL="806450" marR="0" lvl="1" indent="-174625" algn="l" defTabSz="457200" rtl="0" eaLnBrk="1" fontAlgn="base" latinLnBrk="0" hangingPunct="1">
              <a:lnSpc>
                <a:spcPct val="90000"/>
              </a:lnSpc>
              <a:spcBef>
                <a:spcPts val="575"/>
              </a:spcBef>
              <a:spcAft>
                <a:spcPct val="0"/>
              </a:spcAft>
              <a:buClr>
                <a:srgbClr val="FF3399"/>
              </a:buClr>
              <a:buSzPct val="100000"/>
              <a:buFont typeface="Wingdings" panose="05000000000000000000" pitchFamily="2" charset="2"/>
              <a:buChar char="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/>
            </a:pP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general it enhance the performance of read operation  and increase the availability of data to read only transaction. However, </a:t>
            </a: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incur greater overhead</a:t>
            </a:r>
          </a:p>
          <a:p>
            <a:pPr marL="515938" marR="0" lvl="0" indent="-515938" algn="l" defTabSz="457200" rtl="0" eaLnBrk="1" fontAlgn="base" latinLnBrk="0" hangingPunct="1">
              <a:lnSpc>
                <a:spcPct val="90000"/>
              </a:lnSpc>
              <a:spcBef>
                <a:spcPts val="575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Times New Roman" panose="02020603050405020304" pitchFamily="18" charset="0"/>
              <a:buAutoNum type="romanUcPeriod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/>
            </a:pP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Fragmentation</a:t>
            </a:r>
          </a:p>
          <a:p>
            <a:pPr marR="0" lvl="0" algn="l" defTabSz="457200" rtl="0" eaLnBrk="1" fontAlgn="base" latinLnBrk="0" hangingPunct="1">
              <a:lnSpc>
                <a:spcPct val="150000"/>
              </a:lnSpc>
              <a:spcBef>
                <a:spcPts val="575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Char char="Ø"/>
              <a:tabLst>
                <a:tab pos="1085850" algn="l"/>
                <a:tab pos="2000250" algn="l"/>
                <a:tab pos="2914650" algn="l"/>
                <a:tab pos="3829050" algn="l"/>
                <a:tab pos="4743450" algn="l"/>
                <a:tab pos="5657850" algn="l"/>
                <a:tab pos="6572250" algn="l"/>
                <a:tab pos="7486650" algn="l"/>
                <a:tab pos="8401050" algn="l"/>
                <a:tab pos="9315450" algn="l"/>
                <a:tab pos="1022985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Split a relation into logically related and correct parts.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Fragmentation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a database into smaller subsets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stored on different nodes.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primarily done for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performance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EC59E848-B820-1BC0-3FA7-A8DD30723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34C4200-8AF6-4AB3-9C65-E1264CD4888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>
            <a:extLst>
              <a:ext uri="{FF2B5EF4-FFF2-40B4-BE49-F238E27FC236}">
                <a16:creationId xmlns:a16="http://schemas.microsoft.com/office/drawing/2014/main" id="{E6BEFBDD-1B43-8DA9-DBCD-7E48F4EBA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043348E-445B-42EF-A84F-98229891AAD4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9459" name="Text Box 2">
            <a:extLst>
              <a:ext uri="{FF2B5EF4-FFF2-40B4-BE49-F238E27FC236}">
                <a16:creationId xmlns:a16="http://schemas.microsoft.com/office/drawing/2014/main" id="{AF00507E-8F63-E16F-CA80-77DA8D122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136525"/>
            <a:ext cx="9220200" cy="665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406400" indent="-17621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 marL="741363" indent="-284163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 marL="1141413" indent="-22701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976313" algn="l"/>
                <a:tab pos="1890713" algn="l"/>
                <a:tab pos="2805113" algn="l"/>
                <a:tab pos="3719513" algn="l"/>
                <a:tab pos="4633913" algn="l"/>
                <a:tab pos="5548313" algn="l"/>
                <a:tab pos="6462713" algn="l"/>
                <a:tab pos="7377113" algn="l"/>
                <a:tab pos="8291513" algn="l"/>
                <a:tab pos="9205913" algn="l"/>
                <a:tab pos="1012031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relation can be fragmented in two ways:</a:t>
            </a:r>
          </a:p>
          <a:p>
            <a:pPr lvl="1" eaLnBrk="1" hangingPunct="1">
              <a:spcBef>
                <a:spcPts val="600"/>
              </a:spcBef>
              <a:buClr>
                <a:srgbClr val="3333CC"/>
              </a:buClr>
              <a:buFont typeface="Wingdings" panose="05000000000000000000" pitchFamily="2" charset="2"/>
              <a:buChar char=""/>
            </a:pPr>
            <a:r>
              <a:rPr lang="en-US" altLang="en-US" sz="24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fragmentation</a:t>
            </a:r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horizontal subset of a relation which contain those of rows which satisfy selection conditions.</a:t>
            </a:r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a table by ROWS</a:t>
            </a:r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Employee relation with selection condition (DNO = 5).  All rows satisfy this condition will create a subset which will be a horizontal fragment of Employee relation.</a:t>
            </a:r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selection condition may be composed of several conditions connected by AND or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2" indent="0" eaLnBrk="1" hangingPunct="1">
              <a:lnSpc>
                <a:spcPct val="150000"/>
              </a:lnSpc>
              <a:buNone/>
            </a:pPr>
            <a:r>
              <a:rPr lang="en-US" altLang="en-US" sz="24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fragmentation 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subset of a relation which is created by a subset of columns.  Thus a vertical fragment of a relation will contain values of selected columns.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a table by COLUMNS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457200"/>
          </a:xfrm>
          <a:solidFill>
            <a:schemeClr val="accent5">
              <a:lumMod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>
                <a:latin typeface="Century Gothic" pitchFamily="34" charset="0"/>
              </a:rPr>
              <a:t> </a:t>
            </a:r>
            <a:br>
              <a:rPr lang="en-US" dirty="0">
                <a:latin typeface="Century Gothic" pitchFamily="34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query processing</a:t>
            </a:r>
            <a:br>
              <a:rPr lang="en-US" dirty="0">
                <a:latin typeface="Century Gothic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382000" cy="55927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Query Processing Query processing is a set of all activities starting from query placement to displaying the results of the query. Steps are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22</a:t>
            </a:fld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77724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5163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23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457200"/>
            <a:ext cx="8791575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5328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Non Distributed /centralized transaction/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24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4" y="914400"/>
            <a:ext cx="7439025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7276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50000"/>
            </a:schemeClr>
          </a:solidFill>
        </p:spPr>
        <p:txBody>
          <a:bodyPr>
            <a:normAutofit fontScale="90000"/>
          </a:bodyPr>
          <a:lstStyle/>
          <a:p>
            <a:br>
              <a:rPr lang="en-US" dirty="0">
                <a:latin typeface="Century Gothic" pitchFamily="34" charset="0"/>
              </a:rPr>
            </a:br>
            <a:r>
              <a:rPr lang="en-US" dirty="0">
                <a:latin typeface="Century Gothic" pitchFamily="34" charset="0"/>
              </a:rPr>
              <a:t>4. </a:t>
            </a:r>
            <a:r>
              <a:rPr lang="en-US" sz="3100" dirty="0">
                <a:latin typeface="Century Gothic" pitchFamily="34" charset="0"/>
              </a:rPr>
              <a:t>Distributed transaction execution and management</a:t>
            </a:r>
            <a:br>
              <a:rPr lang="en-US" dirty="0">
                <a:latin typeface="Century Gothic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25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57313"/>
            <a:ext cx="8305799" cy="489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7007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  <a:solidFill>
            <a:schemeClr val="accent5">
              <a:lumMod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3600" dirty="0">
                <a:latin typeface="Century Gothic" pitchFamily="34" charset="0"/>
              </a:rPr>
              <a:t> Distributed transaction recovery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915400" cy="551656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techniques in distributed systems are essential for ensuring that the system can return to a stable state after encountering errors or failures.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in </a:t>
            </a:r>
            <a:r>
              <a:rPr lang="en-US" sz="8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distributed systems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maintaining functionality and data integrity despite failures.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strategies for detecting faults, restoring state, and ensuring continuity across interconnected nodes.</a:t>
            </a:r>
          </a:p>
          <a:p>
            <a:pPr marL="0" indent="0" fontAlgn="base">
              <a:lnSpc>
                <a:spcPct val="170000"/>
              </a:lnSpc>
              <a:buNone/>
            </a:pPr>
            <a:r>
              <a:rPr 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can be broadly categorized into the following:</a:t>
            </a:r>
          </a:p>
          <a:p>
            <a:pPr fontAlgn="base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Checkpointing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Periodically saving the system’s state to a stable storage, so that in the event of a failure, the system can be restored to the last known good state.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Checkpointing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key aspect of backward recovery.</a:t>
            </a:r>
          </a:p>
          <a:p>
            <a:pPr fontAlgn="base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 Recovery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Involves reverting the system to a previous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checkpointed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upon detecting an error. This technique is useful for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undoing the effects of errors and is often combined with </a:t>
            </a:r>
            <a:r>
              <a:rPr lang="en-US" sz="8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checkpointing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7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534400" cy="5440363"/>
          </a:xfrm>
        </p:spPr>
        <p:txBody>
          <a:bodyPr>
            <a:normAutofit fontScale="40000" lnSpcReduction="20000"/>
          </a:bodyPr>
          <a:lstStyle/>
          <a:p>
            <a:pPr fontAlgn="base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Recovery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Instead of reverting to a previous state, forward recovery attempts to move the system from an erroneous state to a new, correct state. This requires anticipating possible errors and having strategies in place to correct them on the fly.</a:t>
            </a:r>
          </a:p>
          <a:p>
            <a:pPr fontAlgn="base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Replay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Keeping logs of system operations and replaying them from a certain point to recover the system’s state. This is useful in scenarios where a complete rollback might not be feasible.</a:t>
            </a:r>
          </a:p>
          <a:p>
            <a:pPr fontAlgn="base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Maintaining multiple copies of data or system components across different nodes. If one component fails, another can take over, ensuring continuity of service.</a:t>
            </a:r>
          </a:p>
          <a:p>
            <a:pPr fontAlgn="base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 and Correction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Incorporating mechanisms that detect errors and automatically correct them before they lead to system failure. This is a proactive approach that enhances system resilience.</a:t>
            </a:r>
          </a:p>
          <a:p>
            <a:pPr algn="just">
              <a:lnSpc>
                <a:spcPct val="170000"/>
              </a:lnSpc>
            </a:pPr>
            <a:endParaRPr lang="en-US" dirty="0">
              <a:latin typeface="Century Gothic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2B517D-F99D-D16A-57CB-66D914C1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Cont..</a:t>
            </a:r>
          </a:p>
        </p:txBody>
      </p:sp>
    </p:spTree>
    <p:extLst>
      <p:ext uri="{BB962C8B-B14F-4D97-AF65-F5344CB8AC3E}">
        <p14:creationId xmlns:p14="http://schemas.microsoft.com/office/powerpoint/2010/main" val="1327705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62000"/>
          </a:xfrm>
          <a:solidFill>
            <a:schemeClr val="accent4"/>
          </a:solidFill>
        </p:spPr>
        <p:txBody>
          <a:bodyPr>
            <a:normAutofit/>
          </a:bodyPr>
          <a:lstStyle/>
          <a:p>
            <a:r>
              <a:rPr lang="en-US" i="1" dirty="0">
                <a:latin typeface="Century Gothic" pitchFamily="34" charset="0"/>
              </a:rPr>
              <a:t>Applications of DDB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61722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Web Applications: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and services like social media platforms, e-commerce sites, and content delivery networks use distributed databases to handle massive amounts of user-generated data and transactions.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Many cloud services utilize distributed databases to provide scalable and reliable storage solutions.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Distributed databases are essential for big data applications, where data is collected from various sources and analyzed in real-time. Technologies like Apache Cassandra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often employed for such purposes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Internet of Things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generates vast amounts of data from connected devices. Distributed databases can efficiently store and process this data while ensuring availability and fault tolerance.</a:t>
            </a:r>
          </a:p>
          <a:p>
            <a:pPr marL="0" indent="0">
              <a:lnSpc>
                <a:spcPct val="170000"/>
              </a:lnSpc>
              <a:buNone/>
            </a:pPr>
            <a:endParaRPr lang="en-US" sz="1200" dirty="0">
              <a:latin typeface="Century Gothic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76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0ADB-AE9E-FEB2-8985-4CA03A9D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CDBD-5E60-F211-3D1C-DE452CE88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Financial Services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Banks and financial institutions use distributed databases to maintain transaction records across multiple branches and locations, ensuring data consistency and security.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Healthcare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Distributed databases can manage patient records and medical data across different healthcare facilities, enabling better data sharing and collaboration while maintaining compliance with regulations.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Telecommunications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Telecom companies utilize distributed databases to handle call records, billing information, and customer data across various regions and networks.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8F15D-35A3-D8F6-AC7E-8C135774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62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16EB-B0D1-4DA3-BA8D-D6B6B831E99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216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WenQuanYi Micro Hei"/>
        <a:cs typeface="WenQuanYi Micro Hei"/>
      </a:majorFont>
      <a:minorFont>
        <a:latin typeface="Calibri"/>
        <a:ea typeface="WenQuanYi Micro Hei"/>
        <a:cs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1794</Words>
  <Application>Microsoft Office PowerPoint</Application>
  <PresentationFormat>On-screen Show (4:3)</PresentationFormat>
  <Paragraphs>172</Paragraphs>
  <Slides>30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Century Gothic</vt:lpstr>
      <vt:lpstr>Times New Roman</vt:lpstr>
      <vt:lpstr>Wingdings</vt:lpstr>
      <vt:lpstr>Office Theme</vt:lpstr>
      <vt:lpstr>1_Office Theme</vt:lpstr>
      <vt:lpstr>Visio</vt:lpstr>
      <vt:lpstr> CHAPTER 4 </vt:lpstr>
      <vt:lpstr>CHAPTER OUTLINE</vt:lpstr>
      <vt:lpstr>PowerPoint Presentation</vt:lpstr>
      <vt:lpstr>Central DB</vt:lpstr>
      <vt:lpstr>DISTIBUTED DATABASE SYSTEM </vt:lpstr>
      <vt:lpstr>Distributed Database system</vt:lpstr>
      <vt:lpstr>PowerPoint Presentation</vt:lpstr>
      <vt:lpstr> Homogenous distributed database system </vt:lpstr>
      <vt:lpstr>..</vt:lpstr>
      <vt:lpstr>Example of Homo DDB</vt:lpstr>
      <vt:lpstr>Heterogeneous Distributed Database System </vt:lpstr>
      <vt:lpstr>---Types Hetro DDB</vt:lpstr>
      <vt:lpstr>Example of HDDBS</vt:lpstr>
      <vt:lpstr>PowerPoint Presentation</vt:lpstr>
      <vt:lpstr>PowerPoint Presentation</vt:lpstr>
      <vt:lpstr>PowerPoint Presentation</vt:lpstr>
      <vt:lpstr>  Distributed database design </vt:lpstr>
      <vt:lpstr>Top- Down design example</vt:lpstr>
      <vt:lpstr>General design steps according to the structure</vt:lpstr>
      <vt:lpstr>PowerPoint Presentation</vt:lpstr>
      <vt:lpstr>PowerPoint Presentation</vt:lpstr>
      <vt:lpstr>  Distributed query processing </vt:lpstr>
      <vt:lpstr>..</vt:lpstr>
      <vt:lpstr>Non Distributed /centralized transaction/</vt:lpstr>
      <vt:lpstr> 4. Distributed transaction execution and management </vt:lpstr>
      <vt:lpstr> Distributed transaction recovery</vt:lpstr>
      <vt:lpstr>Cont..</vt:lpstr>
      <vt:lpstr>Applications of DDB</vt:lpstr>
      <vt:lpstr>Cont..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chilote dessalew</cp:lastModifiedBy>
  <cp:revision>237</cp:revision>
  <dcterms:created xsi:type="dcterms:W3CDTF">2024-12-09T06:38:53Z</dcterms:created>
  <dcterms:modified xsi:type="dcterms:W3CDTF">2025-12-01T06:50:05Z</dcterms:modified>
</cp:coreProperties>
</file>