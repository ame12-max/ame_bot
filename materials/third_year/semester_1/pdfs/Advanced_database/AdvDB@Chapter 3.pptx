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325" r:id="rId2"/>
    <p:sldId id="257" r:id="rId3"/>
    <p:sldId id="258" r:id="rId4"/>
    <p:sldId id="260" r:id="rId5"/>
    <p:sldId id="261" r:id="rId6"/>
    <p:sldId id="269" r:id="rId7"/>
    <p:sldId id="270" r:id="rId8"/>
    <p:sldId id="271" r:id="rId9"/>
    <p:sldId id="282" r:id="rId10"/>
    <p:sldId id="272" r:id="rId11"/>
    <p:sldId id="273" r:id="rId12"/>
    <p:sldId id="277" r:id="rId13"/>
    <p:sldId id="275" r:id="rId14"/>
    <p:sldId id="281" r:id="rId15"/>
    <p:sldId id="262" r:id="rId16"/>
    <p:sldId id="330" r:id="rId17"/>
    <p:sldId id="314" r:id="rId18"/>
    <p:sldId id="289" r:id="rId19"/>
    <p:sldId id="283" r:id="rId20"/>
    <p:sldId id="284" r:id="rId21"/>
    <p:sldId id="285" r:id="rId22"/>
    <p:sldId id="259" r:id="rId23"/>
    <p:sldId id="331" r:id="rId24"/>
    <p:sldId id="332" r:id="rId25"/>
    <p:sldId id="333" r:id="rId26"/>
    <p:sldId id="263" r:id="rId27"/>
    <p:sldId id="264" r:id="rId28"/>
    <p:sldId id="335" r:id="rId29"/>
    <p:sldId id="336" r:id="rId30"/>
    <p:sldId id="338" r:id="rId31"/>
    <p:sldId id="348" r:id="rId32"/>
    <p:sldId id="274" r:id="rId33"/>
    <p:sldId id="268" r:id="rId34"/>
    <p:sldId id="297" r:id="rId35"/>
    <p:sldId id="316" r:id="rId36"/>
    <p:sldId id="317" r:id="rId37"/>
    <p:sldId id="318" r:id="rId38"/>
    <p:sldId id="320" r:id="rId39"/>
    <p:sldId id="293" r:id="rId40"/>
    <p:sldId id="294" r:id="rId41"/>
    <p:sldId id="349"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1" d="100"/>
          <a:sy n="71" d="100"/>
        </p:scale>
        <p:origin x="-1136" y="2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49FD4B6-E3AC-4D44-8681-D3D14EAA98E6}" type="datetimeFigureOut">
              <a:rPr lang="en-US" smtClean="0"/>
              <a:t>12/28/2025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91FFFD-DCC6-4659-A7E1-E823A5838179}" type="slidenum">
              <a:rPr lang="en-US" smtClean="0"/>
              <a:t>‹#›</a:t>
            </a:fld>
            <a:endParaRPr lang="en-US"/>
          </a:p>
        </p:txBody>
      </p:sp>
    </p:spTree>
    <p:extLst>
      <p:ext uri="{BB962C8B-B14F-4D97-AF65-F5344CB8AC3E}">
        <p14:creationId xmlns:p14="http://schemas.microsoft.com/office/powerpoint/2010/main" val="390791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91FFFD-DCC6-4659-A7E1-E823A5838179}" type="slidenum">
              <a:rPr lang="en-US" smtClean="0"/>
              <a:t>3</a:t>
            </a:fld>
            <a:endParaRPr lang="en-US"/>
          </a:p>
        </p:txBody>
      </p:sp>
    </p:spTree>
    <p:extLst>
      <p:ext uri="{BB962C8B-B14F-4D97-AF65-F5344CB8AC3E}">
        <p14:creationId xmlns:p14="http://schemas.microsoft.com/office/powerpoint/2010/main" val="2180038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xmlns="" id="{21CE4E05-479D-4179-8BAE-7D353EEB25AE}"/>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C8C1B695-A20F-4C70-B81A-08A02BAA9668}" type="slidenum">
              <a:rPr lang="en-US" altLang="en-US">
                <a:latin typeface="Arial" panose="020B0604020202020204" pitchFamily="34" charset="0"/>
                <a:cs typeface="WenQuanYi Micro Hei" charset="0"/>
              </a:rPr>
              <a:pPr>
                <a:spcBef>
                  <a:spcPct val="0"/>
                </a:spcBef>
                <a:buClrTx/>
                <a:buFontTx/>
                <a:buNone/>
              </a:pPr>
              <a:t>22</a:t>
            </a:fld>
            <a:endParaRPr lang="en-US" altLang="en-US">
              <a:latin typeface="Arial" panose="020B0604020202020204" pitchFamily="34" charset="0"/>
              <a:cs typeface="WenQuanYi Micro Hei" charset="0"/>
            </a:endParaRPr>
          </a:p>
        </p:txBody>
      </p:sp>
      <p:sp>
        <p:nvSpPr>
          <p:cNvPr id="21507" name="Rectangle 1">
            <a:extLst>
              <a:ext uri="{FF2B5EF4-FFF2-40B4-BE49-F238E27FC236}">
                <a16:creationId xmlns:a16="http://schemas.microsoft.com/office/drawing/2014/main" xmlns="" id="{A0999000-09B8-4DD3-8E28-14D264BD9094}"/>
              </a:ext>
            </a:extLst>
          </p:cNvPr>
          <p:cNvSpPr>
            <a:spLocks noGrp="1" noRot="1" noChangeAspect="1" noChangeArrowheads="1" noTextEdit="1"/>
          </p:cNvSpPr>
          <p:nvPr>
            <p:ph type="sldImg"/>
          </p:nvPr>
        </p:nvSpPr>
        <p:spPr>
          <a:xfrm>
            <a:off x="1117600" y="696913"/>
            <a:ext cx="4648200" cy="3486150"/>
          </a:xfrm>
          <a:solidFill>
            <a:srgbClr val="FFFFFF"/>
          </a:solidFill>
          <a:ln/>
        </p:spPr>
      </p:sp>
      <p:sp>
        <p:nvSpPr>
          <p:cNvPr id="21508" name="Rectangle 2">
            <a:extLst>
              <a:ext uri="{FF2B5EF4-FFF2-40B4-BE49-F238E27FC236}">
                <a16:creationId xmlns:a16="http://schemas.microsoft.com/office/drawing/2014/main" xmlns="" id="{F96C4096-4AD6-4748-B3D0-591D5CFB6B5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xmlns="" id="{041C3691-DC4D-4E7C-9F24-B799FE0B8338}"/>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9B9C2DF1-C3E4-4746-8E78-EF02BC2132AE}" type="slidenum">
              <a:rPr lang="en-US" altLang="en-US">
                <a:latin typeface="Arial" panose="020B0604020202020204" pitchFamily="34" charset="0"/>
                <a:cs typeface="WenQuanYi Micro Hei" charset="0"/>
              </a:rPr>
              <a:pPr>
                <a:spcBef>
                  <a:spcPct val="0"/>
                </a:spcBef>
                <a:buClrTx/>
                <a:buFontTx/>
                <a:buNone/>
              </a:pPr>
              <a:t>23</a:t>
            </a:fld>
            <a:endParaRPr lang="en-US" altLang="en-US">
              <a:latin typeface="Arial" panose="020B0604020202020204" pitchFamily="34" charset="0"/>
              <a:cs typeface="WenQuanYi Micro Hei" charset="0"/>
            </a:endParaRPr>
          </a:p>
        </p:txBody>
      </p:sp>
      <p:sp>
        <p:nvSpPr>
          <p:cNvPr id="23555" name="Rectangle 1">
            <a:extLst>
              <a:ext uri="{FF2B5EF4-FFF2-40B4-BE49-F238E27FC236}">
                <a16:creationId xmlns:a16="http://schemas.microsoft.com/office/drawing/2014/main" xmlns="" id="{40E7E782-5E6B-425C-847C-A0D2B21D4C9E}"/>
              </a:ext>
            </a:extLst>
          </p:cNvPr>
          <p:cNvSpPr>
            <a:spLocks noGrp="1" noRot="1" noChangeAspect="1" noChangeArrowheads="1" noTextEdit="1"/>
          </p:cNvSpPr>
          <p:nvPr>
            <p:ph type="sldImg"/>
          </p:nvPr>
        </p:nvSpPr>
        <p:spPr>
          <a:xfrm>
            <a:off x="1117600" y="696913"/>
            <a:ext cx="4648200" cy="3486150"/>
          </a:xfrm>
          <a:solidFill>
            <a:srgbClr val="FFFFFF"/>
          </a:solidFill>
          <a:ln/>
        </p:spPr>
      </p:sp>
      <p:sp>
        <p:nvSpPr>
          <p:cNvPr id="23556" name="Rectangle 2">
            <a:extLst>
              <a:ext uri="{FF2B5EF4-FFF2-40B4-BE49-F238E27FC236}">
                <a16:creationId xmlns:a16="http://schemas.microsoft.com/office/drawing/2014/main" xmlns="" id="{DDBF6E9D-F103-4E50-99C9-D94736F936E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xmlns="" id="{B1721DFE-73D8-4DBD-B27F-11B219D73873}"/>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97C62A84-4624-4053-996D-BE70D7CFD643}" type="slidenum">
              <a:rPr lang="en-US" altLang="en-US">
                <a:latin typeface="Arial" panose="020B0604020202020204" pitchFamily="34" charset="0"/>
                <a:cs typeface="WenQuanYi Micro Hei" charset="0"/>
              </a:rPr>
              <a:pPr>
                <a:spcBef>
                  <a:spcPct val="0"/>
                </a:spcBef>
                <a:buClrTx/>
                <a:buFontTx/>
                <a:buNone/>
              </a:pPr>
              <a:t>24</a:t>
            </a:fld>
            <a:endParaRPr lang="en-US" altLang="en-US">
              <a:latin typeface="Arial" panose="020B0604020202020204" pitchFamily="34" charset="0"/>
              <a:cs typeface="WenQuanYi Micro Hei" charset="0"/>
            </a:endParaRPr>
          </a:p>
        </p:txBody>
      </p:sp>
      <p:sp>
        <p:nvSpPr>
          <p:cNvPr id="25603" name="Text Box 1">
            <a:extLst>
              <a:ext uri="{FF2B5EF4-FFF2-40B4-BE49-F238E27FC236}">
                <a16:creationId xmlns:a16="http://schemas.microsoft.com/office/drawing/2014/main" xmlns="" id="{FF61223C-7EF1-45A0-8082-FDC17954EFBD}"/>
              </a:ext>
            </a:extLst>
          </p:cNvPr>
          <p:cNvSpPr txBox="1">
            <a:spLocks noChangeArrowheads="1"/>
          </p:cNvSpPr>
          <p:nvPr/>
        </p:nvSpPr>
        <p:spPr bwMode="auto">
          <a:xfrm>
            <a:off x="3897313" y="8829675"/>
            <a:ext cx="29829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520" tIns="46080" rIns="92520" bIns="4608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C745FC34-3304-4C97-B08C-DBABEF918301}" type="slidenum">
              <a:rPr lang="en-US" altLang="en-US">
                <a:latin typeface="Arial" panose="020B0604020202020204" pitchFamily="34" charset="0"/>
              </a:rPr>
              <a:pPr algn="r" eaLnBrk="1" hangingPunct="1">
                <a:spcBef>
                  <a:spcPct val="0"/>
                </a:spcBef>
                <a:buClrTx/>
                <a:buFontTx/>
                <a:buNone/>
              </a:pPr>
              <a:t>24</a:t>
            </a:fld>
            <a:endParaRPr lang="en-US" altLang="en-US">
              <a:latin typeface="Arial" panose="020B0604020202020204" pitchFamily="34" charset="0"/>
            </a:endParaRPr>
          </a:p>
        </p:txBody>
      </p:sp>
      <p:sp>
        <p:nvSpPr>
          <p:cNvPr id="25604" name="Rectangle 2">
            <a:extLst>
              <a:ext uri="{FF2B5EF4-FFF2-40B4-BE49-F238E27FC236}">
                <a16:creationId xmlns:a16="http://schemas.microsoft.com/office/drawing/2014/main" xmlns="" id="{C49ADE8A-9E8E-4328-B5F7-D026064D4450}"/>
              </a:ext>
            </a:extLst>
          </p:cNvPr>
          <p:cNvSpPr>
            <a:spLocks noGrp="1" noRot="1" noChangeAspect="1" noChangeArrowheads="1" noTextEdit="1"/>
          </p:cNvSpPr>
          <p:nvPr>
            <p:ph type="sldImg"/>
          </p:nvPr>
        </p:nvSpPr>
        <p:spPr>
          <a:xfrm>
            <a:off x="1117600" y="696913"/>
            <a:ext cx="4648200" cy="3486150"/>
          </a:xfrm>
          <a:solidFill>
            <a:srgbClr val="FFFFFF"/>
          </a:solidFill>
          <a:ln/>
        </p:spPr>
      </p:sp>
      <p:sp>
        <p:nvSpPr>
          <p:cNvPr id="25605" name="Rectangle 3">
            <a:extLst>
              <a:ext uri="{FF2B5EF4-FFF2-40B4-BE49-F238E27FC236}">
                <a16:creationId xmlns:a16="http://schemas.microsoft.com/office/drawing/2014/main" xmlns="" id="{7310DE2C-5D8F-4653-AEC8-2A2F200FF6ED}"/>
              </a:ext>
            </a:extLst>
          </p:cNvPr>
          <p:cNvSpPr>
            <a:spLocks noGrp="1" noChangeArrowheads="1"/>
          </p:cNvSpPr>
          <p:nvPr>
            <p:ph type="body" idx="1"/>
          </p:nvPr>
        </p:nvSpPr>
        <p:spPr>
          <a:xfrm>
            <a:off x="917575" y="4416425"/>
            <a:ext cx="5046663"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WenQuanYi Micro Hei"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xmlns="" id="{C05DA827-1740-4BF6-A617-F5B92242441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45561E32-EF41-4289-BA14-84FDC873E2E7}" type="slidenum">
              <a:rPr lang="en-US" altLang="en-US">
                <a:latin typeface="Arial" panose="020B0604020202020204" pitchFamily="34" charset="0"/>
                <a:cs typeface="WenQuanYi Micro Hei" charset="0"/>
              </a:rPr>
              <a:pPr>
                <a:spcBef>
                  <a:spcPct val="0"/>
                </a:spcBef>
                <a:buClrTx/>
                <a:buFontTx/>
                <a:buNone/>
              </a:pPr>
              <a:t>25</a:t>
            </a:fld>
            <a:endParaRPr lang="en-US" altLang="en-US">
              <a:latin typeface="Arial" panose="020B0604020202020204" pitchFamily="34" charset="0"/>
              <a:cs typeface="WenQuanYi Micro Hei" charset="0"/>
            </a:endParaRPr>
          </a:p>
        </p:txBody>
      </p:sp>
      <p:sp>
        <p:nvSpPr>
          <p:cNvPr id="27651" name="Text Box 1">
            <a:extLst>
              <a:ext uri="{FF2B5EF4-FFF2-40B4-BE49-F238E27FC236}">
                <a16:creationId xmlns:a16="http://schemas.microsoft.com/office/drawing/2014/main" xmlns="" id="{E62ED54E-C556-45C8-B1DE-C556034AEB90}"/>
              </a:ext>
            </a:extLst>
          </p:cNvPr>
          <p:cNvSpPr txBox="1">
            <a:spLocks noChangeArrowheads="1"/>
          </p:cNvSpPr>
          <p:nvPr/>
        </p:nvSpPr>
        <p:spPr bwMode="auto">
          <a:xfrm>
            <a:off x="3897313" y="8829675"/>
            <a:ext cx="29829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520" tIns="46080" rIns="92520" bIns="4608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C9C12F60-3EA5-4AFA-B600-45006EF1ACC2}" type="slidenum">
              <a:rPr lang="en-US" altLang="en-US">
                <a:latin typeface="Arial" panose="020B0604020202020204" pitchFamily="34" charset="0"/>
              </a:rPr>
              <a:pPr algn="r" eaLnBrk="1" hangingPunct="1">
                <a:spcBef>
                  <a:spcPct val="0"/>
                </a:spcBef>
                <a:buClrTx/>
                <a:buFontTx/>
                <a:buNone/>
              </a:pPr>
              <a:t>25</a:t>
            </a:fld>
            <a:endParaRPr lang="en-US" altLang="en-US">
              <a:latin typeface="Arial" panose="020B0604020202020204" pitchFamily="34" charset="0"/>
            </a:endParaRPr>
          </a:p>
        </p:txBody>
      </p:sp>
      <p:sp>
        <p:nvSpPr>
          <p:cNvPr id="27652" name="Rectangle 2">
            <a:extLst>
              <a:ext uri="{FF2B5EF4-FFF2-40B4-BE49-F238E27FC236}">
                <a16:creationId xmlns:a16="http://schemas.microsoft.com/office/drawing/2014/main" xmlns="" id="{FB234E3A-6BFA-4372-BC22-2C07CDCB69F6}"/>
              </a:ext>
            </a:extLst>
          </p:cNvPr>
          <p:cNvSpPr>
            <a:spLocks noGrp="1" noRot="1" noChangeAspect="1" noChangeArrowheads="1" noTextEdit="1"/>
          </p:cNvSpPr>
          <p:nvPr>
            <p:ph type="sldImg"/>
          </p:nvPr>
        </p:nvSpPr>
        <p:spPr>
          <a:xfrm>
            <a:off x="1117600" y="696913"/>
            <a:ext cx="4648200" cy="3486150"/>
          </a:xfrm>
          <a:solidFill>
            <a:srgbClr val="FFFFFF"/>
          </a:solidFill>
          <a:ln/>
        </p:spPr>
      </p:sp>
      <p:sp>
        <p:nvSpPr>
          <p:cNvPr id="27653" name="Rectangle 3">
            <a:extLst>
              <a:ext uri="{FF2B5EF4-FFF2-40B4-BE49-F238E27FC236}">
                <a16:creationId xmlns:a16="http://schemas.microsoft.com/office/drawing/2014/main" xmlns="" id="{55968922-3490-4269-A72D-0088F9A71635}"/>
              </a:ext>
            </a:extLst>
          </p:cNvPr>
          <p:cNvSpPr>
            <a:spLocks noGrp="1" noChangeArrowheads="1"/>
          </p:cNvSpPr>
          <p:nvPr>
            <p:ph type="body" idx="1"/>
          </p:nvPr>
        </p:nvSpPr>
        <p:spPr>
          <a:xfrm>
            <a:off x="917575" y="4416425"/>
            <a:ext cx="5046663"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WenQuanYi Micro Hei"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xmlns="" id="{BDF12C84-9594-406F-A8D9-1910EFB4A4C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B4620FDF-BB6C-45B5-B0EB-CD6D44504329}" type="slidenum">
              <a:rPr lang="en-US" altLang="en-US">
                <a:latin typeface="Arial" panose="020B0604020202020204" pitchFamily="34" charset="0"/>
                <a:cs typeface="WenQuanYi Micro Hei" charset="0"/>
              </a:rPr>
              <a:pPr>
                <a:spcBef>
                  <a:spcPct val="0"/>
                </a:spcBef>
                <a:buClrTx/>
                <a:buFontTx/>
                <a:buNone/>
              </a:pPr>
              <a:t>26</a:t>
            </a:fld>
            <a:endParaRPr lang="en-US" altLang="en-US">
              <a:latin typeface="Arial" panose="020B0604020202020204" pitchFamily="34" charset="0"/>
              <a:cs typeface="WenQuanYi Micro Hei" charset="0"/>
            </a:endParaRPr>
          </a:p>
        </p:txBody>
      </p:sp>
      <p:sp>
        <p:nvSpPr>
          <p:cNvPr id="29699" name="Text Box 1">
            <a:extLst>
              <a:ext uri="{FF2B5EF4-FFF2-40B4-BE49-F238E27FC236}">
                <a16:creationId xmlns:a16="http://schemas.microsoft.com/office/drawing/2014/main" xmlns="" id="{F732E912-B657-46CC-8039-C91D758FFA3E}"/>
              </a:ext>
            </a:extLst>
          </p:cNvPr>
          <p:cNvSpPr txBox="1">
            <a:spLocks noChangeArrowheads="1"/>
          </p:cNvSpPr>
          <p:nvPr/>
        </p:nvSpPr>
        <p:spPr bwMode="auto">
          <a:xfrm>
            <a:off x="3897313" y="8829675"/>
            <a:ext cx="29829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520" tIns="46080" rIns="92520" bIns="4608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681C0DDE-7DC1-44A5-99D7-B889AF66249E}" type="slidenum">
              <a:rPr lang="en-US" altLang="en-US">
                <a:latin typeface="Arial" panose="020B0604020202020204" pitchFamily="34" charset="0"/>
              </a:rPr>
              <a:pPr algn="r" eaLnBrk="1" hangingPunct="1">
                <a:spcBef>
                  <a:spcPct val="0"/>
                </a:spcBef>
                <a:buClrTx/>
                <a:buFontTx/>
                <a:buNone/>
              </a:pPr>
              <a:t>26</a:t>
            </a:fld>
            <a:endParaRPr lang="en-US" altLang="en-US">
              <a:latin typeface="Arial" panose="020B0604020202020204" pitchFamily="34" charset="0"/>
            </a:endParaRPr>
          </a:p>
        </p:txBody>
      </p:sp>
      <p:sp>
        <p:nvSpPr>
          <p:cNvPr id="29700" name="Rectangle 2">
            <a:extLst>
              <a:ext uri="{FF2B5EF4-FFF2-40B4-BE49-F238E27FC236}">
                <a16:creationId xmlns:a16="http://schemas.microsoft.com/office/drawing/2014/main" xmlns="" id="{F0B9D044-02C9-4AEC-9937-A0F368F2A865}"/>
              </a:ext>
            </a:extLst>
          </p:cNvPr>
          <p:cNvSpPr>
            <a:spLocks noGrp="1" noRot="1" noChangeAspect="1" noChangeArrowheads="1" noTextEdit="1"/>
          </p:cNvSpPr>
          <p:nvPr>
            <p:ph type="sldImg"/>
          </p:nvPr>
        </p:nvSpPr>
        <p:spPr>
          <a:xfrm>
            <a:off x="1117600" y="696913"/>
            <a:ext cx="4648200" cy="3486150"/>
          </a:xfrm>
          <a:solidFill>
            <a:srgbClr val="FFFFFF"/>
          </a:solidFill>
          <a:ln/>
        </p:spPr>
      </p:sp>
      <p:sp>
        <p:nvSpPr>
          <p:cNvPr id="29701" name="Rectangle 3">
            <a:extLst>
              <a:ext uri="{FF2B5EF4-FFF2-40B4-BE49-F238E27FC236}">
                <a16:creationId xmlns:a16="http://schemas.microsoft.com/office/drawing/2014/main" xmlns="" id="{824C6081-ED84-4337-A73F-96231CE87FE5}"/>
              </a:ext>
            </a:extLst>
          </p:cNvPr>
          <p:cNvSpPr>
            <a:spLocks noGrp="1" noChangeArrowheads="1"/>
          </p:cNvSpPr>
          <p:nvPr>
            <p:ph type="body" idx="1"/>
          </p:nvPr>
        </p:nvSpPr>
        <p:spPr>
          <a:xfrm>
            <a:off x="917575" y="4416425"/>
            <a:ext cx="5046663"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WenQuanYi Micro Hei"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xmlns="" id="{1241F542-AEB9-4953-BA26-C89C5B8F139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5216474D-B463-43B8-8176-8B6A8E868DD1}" type="slidenum">
              <a:rPr lang="en-US" altLang="en-US">
                <a:latin typeface="Arial" panose="020B0604020202020204" pitchFamily="34" charset="0"/>
                <a:cs typeface="WenQuanYi Micro Hei" charset="0"/>
              </a:rPr>
              <a:pPr>
                <a:spcBef>
                  <a:spcPct val="0"/>
                </a:spcBef>
                <a:buClrTx/>
                <a:buFontTx/>
                <a:buNone/>
              </a:pPr>
              <a:t>27</a:t>
            </a:fld>
            <a:endParaRPr lang="en-US" altLang="en-US">
              <a:latin typeface="Arial" panose="020B0604020202020204" pitchFamily="34" charset="0"/>
              <a:cs typeface="WenQuanYi Micro Hei" charset="0"/>
            </a:endParaRPr>
          </a:p>
        </p:txBody>
      </p:sp>
      <p:sp>
        <p:nvSpPr>
          <p:cNvPr id="31747" name="Text Box 1">
            <a:extLst>
              <a:ext uri="{FF2B5EF4-FFF2-40B4-BE49-F238E27FC236}">
                <a16:creationId xmlns:a16="http://schemas.microsoft.com/office/drawing/2014/main" xmlns="" id="{58E1FFDD-8F92-4392-A4D3-94B2F40FC4CA}"/>
              </a:ext>
            </a:extLst>
          </p:cNvPr>
          <p:cNvSpPr txBox="1">
            <a:spLocks noChangeArrowheads="1"/>
          </p:cNvSpPr>
          <p:nvPr/>
        </p:nvSpPr>
        <p:spPr bwMode="auto">
          <a:xfrm>
            <a:off x="3897313" y="8829675"/>
            <a:ext cx="29829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520" tIns="46080" rIns="92520" bIns="4608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0AB06576-F594-4CF8-B45A-959002A5CBDF}" type="slidenum">
              <a:rPr lang="en-US" altLang="en-US">
                <a:latin typeface="Arial" panose="020B0604020202020204" pitchFamily="34" charset="0"/>
              </a:rPr>
              <a:pPr algn="r" eaLnBrk="1" hangingPunct="1">
                <a:spcBef>
                  <a:spcPct val="0"/>
                </a:spcBef>
                <a:buClrTx/>
                <a:buFontTx/>
                <a:buNone/>
              </a:pPr>
              <a:t>27</a:t>
            </a:fld>
            <a:endParaRPr lang="en-US" altLang="en-US">
              <a:latin typeface="Arial" panose="020B0604020202020204" pitchFamily="34" charset="0"/>
            </a:endParaRPr>
          </a:p>
        </p:txBody>
      </p:sp>
      <p:sp>
        <p:nvSpPr>
          <p:cNvPr id="31748" name="Rectangle 2">
            <a:extLst>
              <a:ext uri="{FF2B5EF4-FFF2-40B4-BE49-F238E27FC236}">
                <a16:creationId xmlns:a16="http://schemas.microsoft.com/office/drawing/2014/main" xmlns="" id="{3468F29B-63E4-4ACC-A2EF-30F30615E6EA}"/>
              </a:ext>
            </a:extLst>
          </p:cNvPr>
          <p:cNvSpPr>
            <a:spLocks noGrp="1" noRot="1" noChangeAspect="1" noChangeArrowheads="1" noTextEdit="1"/>
          </p:cNvSpPr>
          <p:nvPr>
            <p:ph type="sldImg"/>
          </p:nvPr>
        </p:nvSpPr>
        <p:spPr>
          <a:xfrm>
            <a:off x="1117600" y="696913"/>
            <a:ext cx="4648200" cy="3486150"/>
          </a:xfrm>
          <a:solidFill>
            <a:srgbClr val="FFFFFF"/>
          </a:solidFill>
          <a:ln/>
        </p:spPr>
      </p:sp>
      <p:sp>
        <p:nvSpPr>
          <p:cNvPr id="31749" name="Rectangle 3">
            <a:extLst>
              <a:ext uri="{FF2B5EF4-FFF2-40B4-BE49-F238E27FC236}">
                <a16:creationId xmlns:a16="http://schemas.microsoft.com/office/drawing/2014/main" xmlns="" id="{9BFB9FDC-F445-4EA2-A9E7-CAAEB8B35938}"/>
              </a:ext>
            </a:extLst>
          </p:cNvPr>
          <p:cNvSpPr>
            <a:spLocks noGrp="1" noChangeArrowheads="1"/>
          </p:cNvSpPr>
          <p:nvPr>
            <p:ph type="body" idx="1"/>
          </p:nvPr>
        </p:nvSpPr>
        <p:spPr>
          <a:xfrm>
            <a:off x="917575" y="4416425"/>
            <a:ext cx="5046663"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WenQuanYi Micro Hei"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xmlns="" id="{EF2CAD18-2C7A-43B3-B4E6-9B90ED4E9FFF}"/>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94CE2B20-3DF1-40A1-B0AE-FBEE404FE4F9}" type="slidenum">
              <a:rPr lang="en-US" altLang="en-US">
                <a:latin typeface="Arial" panose="020B0604020202020204" pitchFamily="34" charset="0"/>
                <a:cs typeface="WenQuanYi Micro Hei" charset="0"/>
              </a:rPr>
              <a:pPr>
                <a:spcBef>
                  <a:spcPct val="0"/>
                </a:spcBef>
                <a:buClrTx/>
                <a:buFontTx/>
                <a:buNone/>
              </a:pPr>
              <a:t>28</a:t>
            </a:fld>
            <a:endParaRPr lang="en-US" altLang="en-US">
              <a:latin typeface="Arial" panose="020B0604020202020204" pitchFamily="34" charset="0"/>
              <a:cs typeface="WenQuanYi Micro Hei" charset="0"/>
            </a:endParaRPr>
          </a:p>
        </p:txBody>
      </p:sp>
      <p:sp>
        <p:nvSpPr>
          <p:cNvPr id="35843" name="Text Box 1">
            <a:extLst>
              <a:ext uri="{FF2B5EF4-FFF2-40B4-BE49-F238E27FC236}">
                <a16:creationId xmlns:a16="http://schemas.microsoft.com/office/drawing/2014/main" xmlns="" id="{BFFFD2FD-53CD-495E-96E1-EB30BF385164}"/>
              </a:ext>
            </a:extLst>
          </p:cNvPr>
          <p:cNvSpPr txBox="1">
            <a:spLocks noChangeArrowheads="1"/>
          </p:cNvSpPr>
          <p:nvPr/>
        </p:nvSpPr>
        <p:spPr bwMode="auto">
          <a:xfrm>
            <a:off x="3897313" y="8829675"/>
            <a:ext cx="29829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520" tIns="46080" rIns="92520" bIns="4608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C5029E55-33A6-4483-97B5-8CC4CED92B26}" type="slidenum">
              <a:rPr lang="en-US" altLang="en-US">
                <a:latin typeface="Arial" panose="020B0604020202020204" pitchFamily="34" charset="0"/>
              </a:rPr>
              <a:pPr algn="r" eaLnBrk="1" hangingPunct="1">
                <a:spcBef>
                  <a:spcPct val="0"/>
                </a:spcBef>
                <a:buClrTx/>
                <a:buFontTx/>
                <a:buNone/>
              </a:pPr>
              <a:t>28</a:t>
            </a:fld>
            <a:endParaRPr lang="en-US" altLang="en-US">
              <a:latin typeface="Arial" panose="020B0604020202020204" pitchFamily="34" charset="0"/>
            </a:endParaRPr>
          </a:p>
        </p:txBody>
      </p:sp>
      <p:sp>
        <p:nvSpPr>
          <p:cNvPr id="35844" name="Rectangle 2">
            <a:extLst>
              <a:ext uri="{FF2B5EF4-FFF2-40B4-BE49-F238E27FC236}">
                <a16:creationId xmlns:a16="http://schemas.microsoft.com/office/drawing/2014/main" xmlns="" id="{47E32F06-9A3C-4296-B739-9BBA3B016A10}"/>
              </a:ext>
            </a:extLst>
          </p:cNvPr>
          <p:cNvSpPr>
            <a:spLocks noGrp="1" noRot="1" noChangeAspect="1" noChangeArrowheads="1" noTextEdit="1"/>
          </p:cNvSpPr>
          <p:nvPr>
            <p:ph type="sldImg"/>
          </p:nvPr>
        </p:nvSpPr>
        <p:spPr>
          <a:xfrm>
            <a:off x="1117600" y="696913"/>
            <a:ext cx="4648200" cy="3486150"/>
          </a:xfrm>
          <a:solidFill>
            <a:srgbClr val="FFFFFF"/>
          </a:solidFill>
          <a:ln/>
        </p:spPr>
      </p:sp>
      <p:sp>
        <p:nvSpPr>
          <p:cNvPr id="35845" name="Rectangle 3">
            <a:extLst>
              <a:ext uri="{FF2B5EF4-FFF2-40B4-BE49-F238E27FC236}">
                <a16:creationId xmlns:a16="http://schemas.microsoft.com/office/drawing/2014/main" xmlns="" id="{8D1A770B-23DF-4C58-807C-66241A2F81D4}"/>
              </a:ext>
            </a:extLst>
          </p:cNvPr>
          <p:cNvSpPr>
            <a:spLocks noGrp="1" noChangeArrowheads="1"/>
          </p:cNvSpPr>
          <p:nvPr>
            <p:ph type="body" idx="1"/>
          </p:nvPr>
        </p:nvSpPr>
        <p:spPr>
          <a:xfrm>
            <a:off x="917575" y="4416425"/>
            <a:ext cx="5046663"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WenQuanYi Micro Hei"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xmlns="" id="{596A8F98-500E-4C45-A7C0-10CD6CDF9287}"/>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9B1BBCE7-4BE1-4281-9600-C29F72B10546}" type="slidenum">
              <a:rPr lang="en-US" altLang="en-US">
                <a:latin typeface="Arial" panose="020B0604020202020204" pitchFamily="34" charset="0"/>
                <a:cs typeface="WenQuanYi Micro Hei" charset="0"/>
              </a:rPr>
              <a:pPr>
                <a:spcBef>
                  <a:spcPct val="0"/>
                </a:spcBef>
                <a:buClrTx/>
                <a:buFontTx/>
                <a:buNone/>
              </a:pPr>
              <a:t>29</a:t>
            </a:fld>
            <a:endParaRPr lang="en-US" altLang="en-US">
              <a:latin typeface="Arial" panose="020B0604020202020204" pitchFamily="34" charset="0"/>
              <a:cs typeface="WenQuanYi Micro Hei" charset="0"/>
            </a:endParaRPr>
          </a:p>
        </p:txBody>
      </p:sp>
      <p:sp>
        <p:nvSpPr>
          <p:cNvPr id="37891" name="Text Box 1">
            <a:extLst>
              <a:ext uri="{FF2B5EF4-FFF2-40B4-BE49-F238E27FC236}">
                <a16:creationId xmlns:a16="http://schemas.microsoft.com/office/drawing/2014/main" xmlns="" id="{BBB86989-AE3E-45CF-A768-C43E33A15DF2}"/>
              </a:ext>
            </a:extLst>
          </p:cNvPr>
          <p:cNvSpPr txBox="1">
            <a:spLocks noChangeArrowheads="1"/>
          </p:cNvSpPr>
          <p:nvPr/>
        </p:nvSpPr>
        <p:spPr bwMode="auto">
          <a:xfrm>
            <a:off x="3897313" y="8829675"/>
            <a:ext cx="29829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520" tIns="46080" rIns="92520" bIns="4608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6DD5DF75-E99C-4307-BD7C-204686818FF8}" type="slidenum">
              <a:rPr lang="en-US" altLang="en-US">
                <a:latin typeface="Arial" panose="020B0604020202020204" pitchFamily="34" charset="0"/>
              </a:rPr>
              <a:pPr algn="r" eaLnBrk="1" hangingPunct="1">
                <a:spcBef>
                  <a:spcPct val="0"/>
                </a:spcBef>
                <a:buClrTx/>
                <a:buFontTx/>
                <a:buNone/>
              </a:pPr>
              <a:t>29</a:t>
            </a:fld>
            <a:endParaRPr lang="en-US" altLang="en-US">
              <a:latin typeface="Arial" panose="020B0604020202020204" pitchFamily="34" charset="0"/>
            </a:endParaRPr>
          </a:p>
        </p:txBody>
      </p:sp>
      <p:sp>
        <p:nvSpPr>
          <p:cNvPr id="37892" name="Rectangle 2">
            <a:extLst>
              <a:ext uri="{FF2B5EF4-FFF2-40B4-BE49-F238E27FC236}">
                <a16:creationId xmlns:a16="http://schemas.microsoft.com/office/drawing/2014/main" xmlns="" id="{2BCCFB4B-6152-4FD3-9E64-EB27D1233EC9}"/>
              </a:ext>
            </a:extLst>
          </p:cNvPr>
          <p:cNvSpPr>
            <a:spLocks noGrp="1" noRot="1" noChangeAspect="1" noChangeArrowheads="1" noTextEdit="1"/>
          </p:cNvSpPr>
          <p:nvPr>
            <p:ph type="sldImg"/>
          </p:nvPr>
        </p:nvSpPr>
        <p:spPr>
          <a:xfrm>
            <a:off x="1117600" y="696913"/>
            <a:ext cx="4648200" cy="3486150"/>
          </a:xfrm>
          <a:solidFill>
            <a:srgbClr val="FFFFFF"/>
          </a:solidFill>
          <a:ln/>
        </p:spPr>
      </p:sp>
      <p:sp>
        <p:nvSpPr>
          <p:cNvPr id="37893" name="Rectangle 3">
            <a:extLst>
              <a:ext uri="{FF2B5EF4-FFF2-40B4-BE49-F238E27FC236}">
                <a16:creationId xmlns:a16="http://schemas.microsoft.com/office/drawing/2014/main" xmlns="" id="{8936CAC1-2CF5-4FA3-B936-9ECC891AF10D}"/>
              </a:ext>
            </a:extLst>
          </p:cNvPr>
          <p:cNvSpPr>
            <a:spLocks noGrp="1" noChangeArrowheads="1"/>
          </p:cNvSpPr>
          <p:nvPr>
            <p:ph type="body" idx="1"/>
          </p:nvPr>
        </p:nvSpPr>
        <p:spPr>
          <a:xfrm>
            <a:off x="917575" y="4416425"/>
            <a:ext cx="5046663"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WenQuanYi Micro Hei"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xmlns="" id="{74CCC5B0-4ACB-46C8-831A-F12AFFFB742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92E5C17E-2A5A-41F5-AD35-6B020FB105AE}" type="slidenum">
              <a:rPr lang="en-US" altLang="en-US">
                <a:latin typeface="Arial" panose="020B0604020202020204" pitchFamily="34" charset="0"/>
                <a:cs typeface="WenQuanYi Micro Hei" charset="0"/>
              </a:rPr>
              <a:pPr>
                <a:spcBef>
                  <a:spcPct val="0"/>
                </a:spcBef>
                <a:buClrTx/>
                <a:buFontTx/>
                <a:buNone/>
              </a:pPr>
              <a:t>30</a:t>
            </a:fld>
            <a:endParaRPr lang="en-US" altLang="en-US">
              <a:latin typeface="Arial" panose="020B0604020202020204" pitchFamily="34" charset="0"/>
              <a:cs typeface="WenQuanYi Micro Hei" charset="0"/>
            </a:endParaRPr>
          </a:p>
        </p:txBody>
      </p:sp>
      <p:sp>
        <p:nvSpPr>
          <p:cNvPr id="41987" name="Text Box 1">
            <a:extLst>
              <a:ext uri="{FF2B5EF4-FFF2-40B4-BE49-F238E27FC236}">
                <a16:creationId xmlns:a16="http://schemas.microsoft.com/office/drawing/2014/main" xmlns="" id="{12F34E01-D479-4C30-8E75-05F8869229B8}"/>
              </a:ext>
            </a:extLst>
          </p:cNvPr>
          <p:cNvSpPr txBox="1">
            <a:spLocks noChangeArrowheads="1"/>
          </p:cNvSpPr>
          <p:nvPr/>
        </p:nvSpPr>
        <p:spPr bwMode="auto">
          <a:xfrm>
            <a:off x="3897313" y="8829675"/>
            <a:ext cx="29829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520" tIns="46080" rIns="92520" bIns="4608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3D8E999F-7866-40B1-8E6D-E8DF4F50BE1B}" type="slidenum">
              <a:rPr lang="en-US" altLang="en-US">
                <a:latin typeface="Arial" panose="020B0604020202020204" pitchFamily="34" charset="0"/>
              </a:rPr>
              <a:pPr algn="r" eaLnBrk="1" hangingPunct="1">
                <a:spcBef>
                  <a:spcPct val="0"/>
                </a:spcBef>
                <a:buClrTx/>
                <a:buFontTx/>
                <a:buNone/>
              </a:pPr>
              <a:t>30</a:t>
            </a:fld>
            <a:endParaRPr lang="en-US" altLang="en-US">
              <a:latin typeface="Arial" panose="020B0604020202020204" pitchFamily="34" charset="0"/>
            </a:endParaRPr>
          </a:p>
        </p:txBody>
      </p:sp>
      <p:sp>
        <p:nvSpPr>
          <p:cNvPr id="41988" name="Rectangle 2">
            <a:extLst>
              <a:ext uri="{FF2B5EF4-FFF2-40B4-BE49-F238E27FC236}">
                <a16:creationId xmlns:a16="http://schemas.microsoft.com/office/drawing/2014/main" xmlns="" id="{CC5D8FD5-CB3E-4EB1-B3AC-4878C2DF7B94}"/>
              </a:ext>
            </a:extLst>
          </p:cNvPr>
          <p:cNvSpPr>
            <a:spLocks noGrp="1" noRot="1" noChangeAspect="1" noChangeArrowheads="1" noTextEdit="1"/>
          </p:cNvSpPr>
          <p:nvPr>
            <p:ph type="sldImg"/>
          </p:nvPr>
        </p:nvSpPr>
        <p:spPr>
          <a:xfrm>
            <a:off x="1117600" y="696913"/>
            <a:ext cx="4648200" cy="3486150"/>
          </a:xfrm>
          <a:solidFill>
            <a:srgbClr val="FFFFFF"/>
          </a:solidFill>
          <a:ln/>
        </p:spPr>
      </p:sp>
      <p:sp>
        <p:nvSpPr>
          <p:cNvPr id="41989" name="Rectangle 3">
            <a:extLst>
              <a:ext uri="{FF2B5EF4-FFF2-40B4-BE49-F238E27FC236}">
                <a16:creationId xmlns:a16="http://schemas.microsoft.com/office/drawing/2014/main" xmlns="" id="{560CA101-E6C7-41B6-97C9-BE1C55E63DF7}"/>
              </a:ext>
            </a:extLst>
          </p:cNvPr>
          <p:cNvSpPr>
            <a:spLocks noGrp="1" noChangeArrowheads="1"/>
          </p:cNvSpPr>
          <p:nvPr>
            <p:ph type="body" idx="1"/>
          </p:nvPr>
        </p:nvSpPr>
        <p:spPr>
          <a:xfrm>
            <a:off x="917575" y="4416425"/>
            <a:ext cx="5046663"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WenQuanYi Micro Hei"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xmlns="" id="{74CCC5B0-4ACB-46C8-831A-F12AFFFB742A}"/>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92E5C17E-2A5A-41F5-AD35-6B020FB105AE}" type="slidenum">
              <a:rPr lang="en-US" altLang="en-US">
                <a:latin typeface="Arial" panose="020B0604020202020204" pitchFamily="34" charset="0"/>
                <a:cs typeface="WenQuanYi Micro Hei" charset="0"/>
              </a:rPr>
              <a:pPr>
                <a:spcBef>
                  <a:spcPct val="0"/>
                </a:spcBef>
                <a:buClrTx/>
                <a:buFontTx/>
                <a:buNone/>
              </a:pPr>
              <a:t>31</a:t>
            </a:fld>
            <a:endParaRPr lang="en-US" altLang="en-US">
              <a:latin typeface="Arial" panose="020B0604020202020204" pitchFamily="34" charset="0"/>
              <a:cs typeface="WenQuanYi Micro Hei" charset="0"/>
            </a:endParaRPr>
          </a:p>
        </p:txBody>
      </p:sp>
      <p:sp>
        <p:nvSpPr>
          <p:cNvPr id="41987" name="Text Box 1">
            <a:extLst>
              <a:ext uri="{FF2B5EF4-FFF2-40B4-BE49-F238E27FC236}">
                <a16:creationId xmlns:a16="http://schemas.microsoft.com/office/drawing/2014/main" xmlns="" id="{12F34E01-D479-4C30-8E75-05F8869229B8}"/>
              </a:ext>
            </a:extLst>
          </p:cNvPr>
          <p:cNvSpPr txBox="1">
            <a:spLocks noChangeArrowheads="1"/>
          </p:cNvSpPr>
          <p:nvPr/>
        </p:nvSpPr>
        <p:spPr bwMode="auto">
          <a:xfrm>
            <a:off x="3897313" y="8829675"/>
            <a:ext cx="29829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520" tIns="46080" rIns="92520" bIns="4608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3D8E999F-7866-40B1-8E6D-E8DF4F50BE1B}" type="slidenum">
              <a:rPr lang="en-US" altLang="en-US">
                <a:latin typeface="Arial" panose="020B0604020202020204" pitchFamily="34" charset="0"/>
              </a:rPr>
              <a:pPr algn="r" eaLnBrk="1" hangingPunct="1">
                <a:spcBef>
                  <a:spcPct val="0"/>
                </a:spcBef>
                <a:buClrTx/>
                <a:buFontTx/>
                <a:buNone/>
              </a:pPr>
              <a:t>31</a:t>
            </a:fld>
            <a:endParaRPr lang="en-US" altLang="en-US">
              <a:latin typeface="Arial" panose="020B0604020202020204" pitchFamily="34" charset="0"/>
            </a:endParaRPr>
          </a:p>
        </p:txBody>
      </p:sp>
      <p:sp>
        <p:nvSpPr>
          <p:cNvPr id="41988" name="Rectangle 2">
            <a:extLst>
              <a:ext uri="{FF2B5EF4-FFF2-40B4-BE49-F238E27FC236}">
                <a16:creationId xmlns:a16="http://schemas.microsoft.com/office/drawing/2014/main" xmlns="" id="{CC5D8FD5-CB3E-4EB1-B3AC-4878C2DF7B94}"/>
              </a:ext>
            </a:extLst>
          </p:cNvPr>
          <p:cNvSpPr>
            <a:spLocks noGrp="1" noRot="1" noChangeAspect="1" noChangeArrowheads="1" noTextEdit="1"/>
          </p:cNvSpPr>
          <p:nvPr>
            <p:ph type="sldImg"/>
          </p:nvPr>
        </p:nvSpPr>
        <p:spPr>
          <a:xfrm>
            <a:off x="1117600" y="696913"/>
            <a:ext cx="4648200" cy="3486150"/>
          </a:xfrm>
          <a:solidFill>
            <a:srgbClr val="FFFFFF"/>
          </a:solidFill>
          <a:ln/>
        </p:spPr>
      </p:sp>
      <p:sp>
        <p:nvSpPr>
          <p:cNvPr id="41989" name="Rectangle 3">
            <a:extLst>
              <a:ext uri="{FF2B5EF4-FFF2-40B4-BE49-F238E27FC236}">
                <a16:creationId xmlns:a16="http://schemas.microsoft.com/office/drawing/2014/main" xmlns="" id="{560CA101-E6C7-41B6-97C9-BE1C55E63DF7}"/>
              </a:ext>
            </a:extLst>
          </p:cNvPr>
          <p:cNvSpPr>
            <a:spLocks noGrp="1" noChangeArrowheads="1"/>
          </p:cNvSpPr>
          <p:nvPr>
            <p:ph type="body" idx="1"/>
          </p:nvPr>
        </p:nvSpPr>
        <p:spPr>
          <a:xfrm>
            <a:off x="917575" y="4416425"/>
            <a:ext cx="5046663"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WenQuanYi Micro Hei" charset="0"/>
            </a:endParaRPr>
          </a:p>
        </p:txBody>
      </p:sp>
    </p:spTree>
    <p:extLst>
      <p:ext uri="{BB962C8B-B14F-4D97-AF65-F5344CB8AC3E}">
        <p14:creationId xmlns:p14="http://schemas.microsoft.com/office/powerpoint/2010/main" val="23770855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xmlns="" id="{F6CCE0F4-5093-4306-8255-74D229DE92DC}"/>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defRPr>
            </a:lvl9pPr>
          </a:lstStyle>
          <a:p>
            <a:pPr>
              <a:spcBef>
                <a:spcPct val="0"/>
              </a:spcBef>
              <a:buClrTx/>
              <a:buFontTx/>
              <a:buNone/>
            </a:pPr>
            <a:fld id="{F15AAE51-1E55-44D4-8250-3F5D49B1B923}" type="slidenum">
              <a:rPr lang="en-US" altLang="en-US">
                <a:latin typeface="Arial" panose="020B0604020202020204" pitchFamily="34" charset="0"/>
                <a:cs typeface="WenQuanYi Micro Hei" charset="0"/>
              </a:rPr>
              <a:pPr>
                <a:spcBef>
                  <a:spcPct val="0"/>
                </a:spcBef>
                <a:buClrTx/>
                <a:buFontTx/>
                <a:buNone/>
              </a:pPr>
              <a:t>32</a:t>
            </a:fld>
            <a:endParaRPr lang="en-US" altLang="en-US">
              <a:latin typeface="Arial" panose="020B0604020202020204" pitchFamily="34" charset="0"/>
              <a:cs typeface="WenQuanYi Micro Hei" charset="0"/>
            </a:endParaRPr>
          </a:p>
        </p:txBody>
      </p:sp>
      <p:sp>
        <p:nvSpPr>
          <p:cNvPr id="52227" name="Text Box 1">
            <a:extLst>
              <a:ext uri="{FF2B5EF4-FFF2-40B4-BE49-F238E27FC236}">
                <a16:creationId xmlns:a16="http://schemas.microsoft.com/office/drawing/2014/main" xmlns="" id="{B8822B4C-A4DA-48D1-870D-7F6B25E60C39}"/>
              </a:ext>
            </a:extLst>
          </p:cNvPr>
          <p:cNvSpPr txBox="1">
            <a:spLocks noChangeArrowheads="1"/>
          </p:cNvSpPr>
          <p:nvPr/>
        </p:nvSpPr>
        <p:spPr bwMode="auto">
          <a:xfrm>
            <a:off x="3897313" y="8829675"/>
            <a:ext cx="29829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2520" tIns="46080" rIns="92520" bIns="46080" anchor="b"/>
          <a:lstStyle>
            <a:lvl1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200">
                <a:solidFill>
                  <a:srgbClr val="000000"/>
                </a:solidFill>
                <a:latin typeface="Times New Roman" panose="02020603050405020304" pitchFamily="18" charset="0"/>
              </a:defRPr>
            </a:lvl9pPr>
          </a:lstStyle>
          <a:p>
            <a:pPr algn="r" eaLnBrk="1" hangingPunct="1">
              <a:spcBef>
                <a:spcPct val="0"/>
              </a:spcBef>
              <a:buClrTx/>
              <a:buFontTx/>
              <a:buNone/>
            </a:pPr>
            <a:fld id="{212390CD-539C-48EB-9A18-C68B4CDC2BC3}" type="slidenum">
              <a:rPr lang="en-US" altLang="en-US">
                <a:latin typeface="Arial" panose="020B0604020202020204" pitchFamily="34" charset="0"/>
              </a:rPr>
              <a:pPr algn="r" eaLnBrk="1" hangingPunct="1">
                <a:spcBef>
                  <a:spcPct val="0"/>
                </a:spcBef>
                <a:buClrTx/>
                <a:buFontTx/>
                <a:buNone/>
              </a:pPr>
              <a:t>32</a:t>
            </a:fld>
            <a:endParaRPr lang="en-US" altLang="en-US">
              <a:latin typeface="Arial" panose="020B0604020202020204" pitchFamily="34" charset="0"/>
            </a:endParaRPr>
          </a:p>
        </p:txBody>
      </p:sp>
      <p:sp>
        <p:nvSpPr>
          <p:cNvPr id="52228" name="Rectangle 2">
            <a:extLst>
              <a:ext uri="{FF2B5EF4-FFF2-40B4-BE49-F238E27FC236}">
                <a16:creationId xmlns:a16="http://schemas.microsoft.com/office/drawing/2014/main" xmlns="" id="{2443E820-23AC-4B25-B1FD-42D8689E393A}"/>
              </a:ext>
            </a:extLst>
          </p:cNvPr>
          <p:cNvSpPr>
            <a:spLocks noGrp="1" noRot="1" noChangeAspect="1" noChangeArrowheads="1" noTextEdit="1"/>
          </p:cNvSpPr>
          <p:nvPr>
            <p:ph type="sldImg"/>
          </p:nvPr>
        </p:nvSpPr>
        <p:spPr>
          <a:xfrm>
            <a:off x="1117600" y="696913"/>
            <a:ext cx="4648200" cy="3486150"/>
          </a:xfrm>
          <a:solidFill>
            <a:srgbClr val="FFFFFF"/>
          </a:solidFill>
          <a:ln/>
        </p:spPr>
      </p:sp>
      <p:sp>
        <p:nvSpPr>
          <p:cNvPr id="52229" name="Rectangle 3">
            <a:extLst>
              <a:ext uri="{FF2B5EF4-FFF2-40B4-BE49-F238E27FC236}">
                <a16:creationId xmlns:a16="http://schemas.microsoft.com/office/drawing/2014/main" xmlns="" id="{0D97059B-3BDF-46FE-A941-62E6BB40CA86}"/>
              </a:ext>
            </a:extLst>
          </p:cNvPr>
          <p:cNvSpPr>
            <a:spLocks noGrp="1" noChangeArrowheads="1"/>
          </p:cNvSpPr>
          <p:nvPr>
            <p:ph type="body" idx="1"/>
          </p:nvPr>
        </p:nvSpPr>
        <p:spPr>
          <a:xfrm>
            <a:off x="917575" y="4416425"/>
            <a:ext cx="5046663"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spcBef>
                <a:spcPts val="4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altLang="en-US">
              <a:latin typeface="Arial" panose="020B0604020202020204" pitchFamily="34" charset="0"/>
              <a:cs typeface="WenQuanYi Micro Hei"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E40C2B4-6291-4A39-A8BC-2B49EDBCA175}" type="datetime1">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D10D00-2BA4-4EFE-9A20-A49A608F2010}" type="slidenum">
              <a:rPr lang="en-US" smtClean="0"/>
              <a:t>‹#›</a:t>
            </a:fld>
            <a:endParaRPr lang="en-US"/>
          </a:p>
        </p:txBody>
      </p:sp>
    </p:spTree>
    <p:extLst>
      <p:ext uri="{BB962C8B-B14F-4D97-AF65-F5344CB8AC3E}">
        <p14:creationId xmlns:p14="http://schemas.microsoft.com/office/powerpoint/2010/main" val="85650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6635B3-B74E-43BB-B249-85769FAE7A89}" type="datetime1">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D10D00-2BA4-4EFE-9A20-A49A608F2010}" type="slidenum">
              <a:rPr lang="en-US" smtClean="0"/>
              <a:t>‹#›</a:t>
            </a:fld>
            <a:endParaRPr lang="en-US"/>
          </a:p>
        </p:txBody>
      </p:sp>
    </p:spTree>
    <p:extLst>
      <p:ext uri="{BB962C8B-B14F-4D97-AF65-F5344CB8AC3E}">
        <p14:creationId xmlns:p14="http://schemas.microsoft.com/office/powerpoint/2010/main" val="3102589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0E4B2D-476B-44FA-89FB-E2C9F8EC3A11}" type="datetime1">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D10D00-2BA4-4EFE-9A20-A49A608F2010}" type="slidenum">
              <a:rPr lang="en-US" smtClean="0"/>
              <a:t>‹#›</a:t>
            </a:fld>
            <a:endParaRPr lang="en-US"/>
          </a:p>
        </p:txBody>
      </p:sp>
    </p:spTree>
    <p:extLst>
      <p:ext uri="{BB962C8B-B14F-4D97-AF65-F5344CB8AC3E}">
        <p14:creationId xmlns:p14="http://schemas.microsoft.com/office/powerpoint/2010/main" val="4075983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ED0878-3650-41B2-9E0F-8F4DAB1BC31E}" type="datetime1">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D10D00-2BA4-4EFE-9A20-A49A608F2010}" type="slidenum">
              <a:rPr lang="en-US" smtClean="0"/>
              <a:t>‹#›</a:t>
            </a:fld>
            <a:endParaRPr lang="en-US"/>
          </a:p>
        </p:txBody>
      </p:sp>
    </p:spTree>
    <p:extLst>
      <p:ext uri="{BB962C8B-B14F-4D97-AF65-F5344CB8AC3E}">
        <p14:creationId xmlns:p14="http://schemas.microsoft.com/office/powerpoint/2010/main" val="3647839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F040748-DC4F-4B19-8121-B725E5CE381F}" type="datetime1">
              <a:rPr lang="en-US" smtClean="0"/>
              <a:t>12/28/2025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D10D00-2BA4-4EFE-9A20-A49A608F2010}" type="slidenum">
              <a:rPr lang="en-US" smtClean="0"/>
              <a:t>‹#›</a:t>
            </a:fld>
            <a:endParaRPr lang="en-US"/>
          </a:p>
        </p:txBody>
      </p:sp>
    </p:spTree>
    <p:extLst>
      <p:ext uri="{BB962C8B-B14F-4D97-AF65-F5344CB8AC3E}">
        <p14:creationId xmlns:p14="http://schemas.microsoft.com/office/powerpoint/2010/main" val="1435263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E211053-C593-4C6F-80D8-88B10144E581}" type="datetime1">
              <a:rPr lang="en-US" smtClean="0"/>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D10D00-2BA4-4EFE-9A20-A49A608F2010}" type="slidenum">
              <a:rPr lang="en-US" smtClean="0"/>
              <a:t>‹#›</a:t>
            </a:fld>
            <a:endParaRPr lang="en-US"/>
          </a:p>
        </p:txBody>
      </p:sp>
    </p:spTree>
    <p:extLst>
      <p:ext uri="{BB962C8B-B14F-4D97-AF65-F5344CB8AC3E}">
        <p14:creationId xmlns:p14="http://schemas.microsoft.com/office/powerpoint/2010/main" val="2928871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5AFFE5-F2D2-4072-B2C6-68D90C2E251E}" type="datetime1">
              <a:rPr lang="en-US" smtClean="0"/>
              <a:t>12/28/2025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D10D00-2BA4-4EFE-9A20-A49A608F2010}" type="slidenum">
              <a:rPr lang="en-US" smtClean="0"/>
              <a:t>‹#›</a:t>
            </a:fld>
            <a:endParaRPr lang="en-US"/>
          </a:p>
        </p:txBody>
      </p:sp>
    </p:spTree>
    <p:extLst>
      <p:ext uri="{BB962C8B-B14F-4D97-AF65-F5344CB8AC3E}">
        <p14:creationId xmlns:p14="http://schemas.microsoft.com/office/powerpoint/2010/main" val="363661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F649EAA-85BF-4330-A939-C49883DEAD2F}" type="datetime1">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D10D00-2BA4-4EFE-9A20-A49A608F2010}" type="slidenum">
              <a:rPr lang="en-US" smtClean="0"/>
              <a:t>‹#›</a:t>
            </a:fld>
            <a:endParaRPr lang="en-US"/>
          </a:p>
        </p:txBody>
      </p:sp>
    </p:spTree>
    <p:extLst>
      <p:ext uri="{BB962C8B-B14F-4D97-AF65-F5344CB8AC3E}">
        <p14:creationId xmlns:p14="http://schemas.microsoft.com/office/powerpoint/2010/main" val="3044721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35DAE4-B2DC-42F4-B505-A83B5CE77AC3}" type="datetime1">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D10D00-2BA4-4EFE-9A20-A49A608F2010}" type="slidenum">
              <a:rPr lang="en-US" smtClean="0"/>
              <a:t>‹#›</a:t>
            </a:fld>
            <a:endParaRPr lang="en-US"/>
          </a:p>
        </p:txBody>
      </p:sp>
    </p:spTree>
    <p:extLst>
      <p:ext uri="{BB962C8B-B14F-4D97-AF65-F5344CB8AC3E}">
        <p14:creationId xmlns:p14="http://schemas.microsoft.com/office/powerpoint/2010/main" val="1789035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877AC5A-DD4D-49F9-859A-4AC621781DAB}" type="datetime1">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D10D00-2BA4-4EFE-9A20-A49A608F2010}" type="slidenum">
              <a:rPr lang="en-US" smtClean="0"/>
              <a:t>‹#›</a:t>
            </a:fld>
            <a:endParaRPr lang="en-US"/>
          </a:p>
        </p:txBody>
      </p:sp>
    </p:spTree>
    <p:extLst>
      <p:ext uri="{BB962C8B-B14F-4D97-AF65-F5344CB8AC3E}">
        <p14:creationId xmlns:p14="http://schemas.microsoft.com/office/powerpoint/2010/main" val="1834157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74117D-19A4-4887-A254-FB4D9177663E}" type="datetime1">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D10D00-2BA4-4EFE-9A20-A49A608F2010}" type="slidenum">
              <a:rPr lang="en-US" smtClean="0"/>
              <a:t>‹#›</a:t>
            </a:fld>
            <a:endParaRPr lang="en-US"/>
          </a:p>
        </p:txBody>
      </p:sp>
    </p:spTree>
    <p:extLst>
      <p:ext uri="{BB962C8B-B14F-4D97-AF65-F5344CB8AC3E}">
        <p14:creationId xmlns:p14="http://schemas.microsoft.com/office/powerpoint/2010/main" val="2434268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329211-37F7-4952-9068-F6477B8661FA}" type="datetime1">
              <a:rPr lang="en-US" smtClean="0"/>
              <a:t>12/28/2025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D10D00-2BA4-4EFE-9A20-A49A608F2010}" type="slidenum">
              <a:rPr lang="en-US" smtClean="0"/>
              <a:t>‹#›</a:t>
            </a:fld>
            <a:endParaRPr lang="en-US"/>
          </a:p>
        </p:txBody>
      </p:sp>
    </p:spTree>
    <p:extLst>
      <p:ext uri="{BB962C8B-B14F-4D97-AF65-F5344CB8AC3E}">
        <p14:creationId xmlns:p14="http://schemas.microsoft.com/office/powerpoint/2010/main" val="1819811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19.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62001"/>
            <a:ext cx="7772400" cy="1523999"/>
          </a:xfrm>
          <a:solidFill>
            <a:schemeClr val="accent4"/>
          </a:solidFill>
        </p:spPr>
        <p:txBody>
          <a:bodyPr>
            <a:normAutofit/>
          </a:bodyPr>
          <a:lstStyle/>
          <a:p>
            <a:r>
              <a:rPr lang="en-US" sz="7200" dirty="0">
                <a:latin typeface="Broadway" pitchFamily="82" charset="0"/>
              </a:rPr>
              <a:t>Chapter 3````x</a:t>
            </a:r>
          </a:p>
        </p:txBody>
      </p:sp>
      <p:sp>
        <p:nvSpPr>
          <p:cNvPr id="3" name="Subtitle 2"/>
          <p:cNvSpPr>
            <a:spLocks noGrp="1"/>
          </p:cNvSpPr>
          <p:nvPr>
            <p:ph type="subTitle" idx="1"/>
          </p:nvPr>
        </p:nvSpPr>
        <p:spPr>
          <a:xfrm>
            <a:off x="381000" y="2971800"/>
            <a:ext cx="8763000" cy="2667000"/>
          </a:xfrm>
          <a:solidFill>
            <a:srgbClr val="7030A0"/>
          </a:solidFill>
        </p:spPr>
        <p:txBody>
          <a:bodyPr>
            <a:normAutofit/>
          </a:bodyPr>
          <a:lstStyle/>
          <a:p>
            <a:endParaRPr lang="en-US" dirty="0"/>
          </a:p>
          <a:p>
            <a:endParaRPr lang="en-US" dirty="0"/>
          </a:p>
          <a:p>
            <a:r>
              <a:rPr lang="en-US" b="1" dirty="0">
                <a:solidFill>
                  <a:schemeClr val="tx1"/>
                </a:solidFill>
                <a:latin typeface="Century Gothic" pitchFamily="34" charset="0"/>
              </a:rPr>
              <a:t>Database Integrity, Security and Recovery</a:t>
            </a:r>
          </a:p>
        </p:txBody>
      </p:sp>
      <p:sp>
        <p:nvSpPr>
          <p:cNvPr id="4" name="Slide Number Placeholder 3"/>
          <p:cNvSpPr>
            <a:spLocks noGrp="1"/>
          </p:cNvSpPr>
          <p:nvPr>
            <p:ph type="sldNum" sz="quarter" idx="12"/>
          </p:nvPr>
        </p:nvSpPr>
        <p:spPr/>
        <p:txBody>
          <a:bodyPr/>
          <a:lstStyle/>
          <a:p>
            <a:fld id="{91D10D00-2BA4-4EFE-9A20-A49A608F2010}" type="slidenum">
              <a:rPr lang="en-US" smtClean="0"/>
              <a:t>1</a:t>
            </a:fld>
            <a:endParaRPr lang="en-US"/>
          </a:p>
        </p:txBody>
      </p:sp>
    </p:spTree>
    <p:extLst>
      <p:ext uri="{BB962C8B-B14F-4D97-AF65-F5344CB8AC3E}">
        <p14:creationId xmlns:p14="http://schemas.microsoft.com/office/powerpoint/2010/main" val="1421416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8839200" cy="685800"/>
          </a:xfrm>
          <a:solidFill>
            <a:srgbClr val="7030A0"/>
          </a:solidFill>
        </p:spPr>
        <p:txBody>
          <a:bodyPr>
            <a:normAutofit fontScale="90000"/>
          </a:bodyPr>
          <a:lstStyle/>
          <a:p>
            <a:r>
              <a:rPr lang="en-US" b="1" dirty="0">
                <a:latin typeface="Century Gothic" pitchFamily="34" charset="0"/>
              </a:rPr>
              <a:t>Outline</a:t>
            </a:r>
          </a:p>
        </p:txBody>
      </p:sp>
      <p:sp>
        <p:nvSpPr>
          <p:cNvPr id="3" name="Content Placeholder 2"/>
          <p:cNvSpPr>
            <a:spLocks noGrp="1"/>
          </p:cNvSpPr>
          <p:nvPr>
            <p:ph idx="1"/>
          </p:nvPr>
        </p:nvSpPr>
        <p:spPr>
          <a:xfrm>
            <a:off x="152400" y="152400"/>
            <a:ext cx="8839200" cy="6569075"/>
          </a:xfrm>
        </p:spPr>
        <p:txBody>
          <a:bodyPr>
            <a:normAutofit/>
          </a:bodyPr>
          <a:lstStyle/>
          <a:p>
            <a:endParaRPr lang="en-US" dirty="0"/>
          </a:p>
          <a:p>
            <a:pPr>
              <a:lnSpc>
                <a:spcPct val="170000"/>
              </a:lnSpc>
              <a:buBlip>
                <a:blip r:embed="rId2"/>
              </a:buBlip>
            </a:pPr>
            <a:r>
              <a:rPr lang="en-US" sz="2000" dirty="0">
                <a:latin typeface="Times New Roman" panose="02020603050405020304" pitchFamily="18" charset="0"/>
                <a:cs typeface="Times New Roman" panose="02020603050405020304" pitchFamily="18" charset="0"/>
              </a:rPr>
              <a:t>Database integrity concepts and subsystem</a:t>
            </a:r>
          </a:p>
          <a:p>
            <a:pPr>
              <a:lnSpc>
                <a:spcPct val="170000"/>
              </a:lnSpc>
              <a:buBlip>
                <a:blip r:embed="rId2"/>
              </a:buBlip>
            </a:pPr>
            <a:r>
              <a:rPr lang="en-US" sz="2000" dirty="0">
                <a:latin typeface="Times New Roman" panose="02020603050405020304" pitchFamily="18" charset="0"/>
                <a:cs typeface="Times New Roman" panose="02020603050405020304" pitchFamily="18" charset="0"/>
              </a:rPr>
              <a:t>Integrity constraints</a:t>
            </a:r>
          </a:p>
          <a:p>
            <a:pPr>
              <a:lnSpc>
                <a:spcPct val="170000"/>
              </a:lnSpc>
              <a:buBlip>
                <a:blip r:embed="rId2"/>
              </a:buBlip>
            </a:pPr>
            <a:r>
              <a:rPr lang="en-US" sz="2000" dirty="0">
                <a:latin typeface="Times New Roman" panose="02020603050405020304" pitchFamily="18" charset="0"/>
                <a:cs typeface="Times New Roman" panose="02020603050405020304" pitchFamily="18" charset="0"/>
              </a:rPr>
              <a:t>Types of constraints</a:t>
            </a:r>
          </a:p>
          <a:p>
            <a:pPr>
              <a:lnSpc>
                <a:spcPct val="170000"/>
              </a:lnSpc>
              <a:buBlip>
                <a:blip r:embed="rId2"/>
              </a:buBlip>
            </a:pPr>
            <a:r>
              <a:rPr lang="en-US" sz="2000" dirty="0">
                <a:latin typeface="Times New Roman" panose="02020603050405020304" pitchFamily="18" charset="0"/>
                <a:cs typeface="Times New Roman" panose="02020603050405020304" pitchFamily="18" charset="0"/>
              </a:rPr>
              <a:t>Database security</a:t>
            </a:r>
          </a:p>
          <a:p>
            <a:pPr>
              <a:lnSpc>
                <a:spcPct val="170000"/>
              </a:lnSpc>
              <a:buBlip>
                <a:blip r:embed="rId2"/>
              </a:buBlip>
            </a:pPr>
            <a:r>
              <a:rPr lang="en-US" sz="2000" dirty="0">
                <a:latin typeface="Times New Roman" panose="02020603050405020304" pitchFamily="18" charset="0"/>
                <a:cs typeface="Times New Roman" panose="02020603050405020304" pitchFamily="18" charset="0"/>
              </a:rPr>
              <a:t>Database threats</a:t>
            </a:r>
          </a:p>
          <a:p>
            <a:pPr>
              <a:lnSpc>
                <a:spcPct val="170000"/>
              </a:lnSpc>
              <a:buBlip>
                <a:blip r:embed="rId2"/>
              </a:buBlip>
            </a:pPr>
            <a:r>
              <a:rPr lang="en-US" sz="2000" dirty="0">
                <a:latin typeface="Times New Roman" panose="02020603050405020304" pitchFamily="18" charset="0"/>
                <a:cs typeface="Times New Roman" panose="02020603050405020304" pitchFamily="18" charset="0"/>
              </a:rPr>
              <a:t>Threats Identification and Authentication</a:t>
            </a:r>
          </a:p>
          <a:p>
            <a:pPr>
              <a:lnSpc>
                <a:spcPct val="170000"/>
              </a:lnSpc>
              <a:buBlip>
                <a:blip r:embed="rId2"/>
              </a:buBlip>
            </a:pPr>
            <a:r>
              <a:rPr lang="en-US" sz="2000" dirty="0">
                <a:latin typeface="Times New Roman" panose="02020603050405020304" pitchFamily="18" charset="0"/>
                <a:cs typeface="Times New Roman" panose="02020603050405020304" pitchFamily="18" charset="0"/>
              </a:rPr>
              <a:t>Database Access control</a:t>
            </a:r>
          </a:p>
          <a:p>
            <a:pPr>
              <a:lnSpc>
                <a:spcPct val="170000"/>
              </a:lnSpc>
              <a:buBlip>
                <a:blip r:embed="rId2"/>
              </a:buBlip>
            </a:pPr>
            <a:r>
              <a:rPr lang="en-US" sz="2000" dirty="0">
                <a:latin typeface="Times New Roman" panose="02020603050405020304" pitchFamily="18" charset="0"/>
                <a:cs typeface="Times New Roman" panose="02020603050405020304" pitchFamily="18" charset="0"/>
              </a:rPr>
              <a:t>Categories of access control</a:t>
            </a:r>
          </a:p>
          <a:p>
            <a:pPr>
              <a:lnSpc>
                <a:spcPct val="170000"/>
              </a:lnSpc>
              <a:buBlip>
                <a:blip r:embed="rId2"/>
              </a:buBlip>
            </a:pPr>
            <a:r>
              <a:rPr lang="en-US" sz="2000" dirty="0">
                <a:latin typeface="Times New Roman" panose="02020603050405020304" pitchFamily="18" charset="0"/>
                <a:cs typeface="Times New Roman" panose="02020603050405020304" pitchFamily="18" charset="0"/>
              </a:rPr>
              <a:t>Implementation of security system</a:t>
            </a:r>
          </a:p>
          <a:p>
            <a:pPr>
              <a:lnSpc>
                <a:spcPct val="170000"/>
              </a:lnSpc>
              <a:buBlip>
                <a:blip r:embed="rId2"/>
              </a:buBlip>
            </a:pPr>
            <a:r>
              <a:rPr lang="en-US" sz="2000" dirty="0">
                <a:latin typeface="Times New Roman" panose="02020603050405020304" pitchFamily="18" charset="0"/>
                <a:cs typeface="Times New Roman" panose="02020603050405020304" pitchFamily="18" charset="0"/>
              </a:rPr>
              <a:t>Data Encryption</a:t>
            </a:r>
          </a:p>
        </p:txBody>
      </p:sp>
      <p:sp>
        <p:nvSpPr>
          <p:cNvPr id="4" name="Slide Number Placeholder 3"/>
          <p:cNvSpPr>
            <a:spLocks noGrp="1"/>
          </p:cNvSpPr>
          <p:nvPr>
            <p:ph type="sldNum" sz="quarter" idx="12"/>
          </p:nvPr>
        </p:nvSpPr>
        <p:spPr/>
        <p:txBody>
          <a:bodyPr/>
          <a:lstStyle/>
          <a:p>
            <a:fld id="{91D10D00-2BA4-4EFE-9A20-A49A608F2010}" type="slidenum">
              <a:rPr lang="en-US" smtClean="0"/>
              <a:t>2</a:t>
            </a:fld>
            <a:endParaRPr lang="en-US"/>
          </a:p>
        </p:txBody>
      </p:sp>
    </p:spTree>
    <p:extLst>
      <p:ext uri="{BB962C8B-B14F-4D97-AF65-F5344CB8AC3E}">
        <p14:creationId xmlns:p14="http://schemas.microsoft.com/office/powerpoint/2010/main" val="2554910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839200" cy="381000"/>
          </a:xfrm>
          <a:solidFill>
            <a:srgbClr val="7030A0"/>
          </a:solidFill>
        </p:spPr>
        <p:txBody>
          <a:bodyPr>
            <a:normAutofit fontScale="90000"/>
          </a:bodyPr>
          <a:lstStyle/>
          <a:p>
            <a:r>
              <a:rPr lang="en-US" dirty="0">
                <a:latin typeface="Century Gothic" pitchFamily="34" charset="0"/>
              </a:rPr>
              <a:t>Database integrity</a:t>
            </a:r>
          </a:p>
        </p:txBody>
      </p:sp>
      <p:sp>
        <p:nvSpPr>
          <p:cNvPr id="3" name="Content Placeholder 2"/>
          <p:cNvSpPr>
            <a:spLocks noGrp="1"/>
          </p:cNvSpPr>
          <p:nvPr>
            <p:ph idx="1"/>
          </p:nvPr>
        </p:nvSpPr>
        <p:spPr>
          <a:xfrm>
            <a:off x="152400" y="533400"/>
            <a:ext cx="8763000" cy="6477000"/>
          </a:xfrm>
        </p:spPr>
        <p:txBody>
          <a:bodyPr>
            <a:normAutofit fontScale="25000" lnSpcReduction="20000"/>
          </a:bodyPr>
          <a:lstStyle/>
          <a:p>
            <a:endParaRPr lang="en-US" dirty="0"/>
          </a:p>
          <a:p>
            <a:pPr algn="just">
              <a:lnSpc>
                <a:spcPct val="170000"/>
              </a:lnSpc>
              <a:buBlip>
                <a:blip r:embed="rId3"/>
              </a:buBlip>
            </a:pPr>
            <a:r>
              <a:rPr lang="en-US" sz="8000" dirty="0">
                <a:latin typeface="Times New Roman" panose="02020603050405020304" pitchFamily="18" charset="0"/>
                <a:cs typeface="Times New Roman" panose="02020603050405020304" pitchFamily="18" charset="0"/>
              </a:rPr>
              <a:t>Data integrity refers to the overall </a:t>
            </a:r>
            <a:r>
              <a:rPr lang="en-US" sz="8000" dirty="0">
                <a:solidFill>
                  <a:srgbClr val="FF0000"/>
                </a:solidFill>
                <a:latin typeface="Times New Roman" panose="02020603050405020304" pitchFamily="18" charset="0"/>
                <a:cs typeface="Times New Roman" panose="02020603050405020304" pitchFamily="18" charset="0"/>
              </a:rPr>
              <a:t>completeness, accuracy and consistency of data in database. </a:t>
            </a:r>
          </a:p>
          <a:p>
            <a:pPr algn="just">
              <a:lnSpc>
                <a:spcPct val="170000"/>
              </a:lnSpc>
              <a:buBlip>
                <a:blip r:embed="rId3"/>
              </a:buBlip>
            </a:pPr>
            <a:r>
              <a:rPr lang="en-US" sz="8000" dirty="0">
                <a:latin typeface="Times New Roman" panose="02020603050405020304" pitchFamily="18" charset="0"/>
                <a:cs typeface="Times New Roman" panose="02020603050405020304" pitchFamily="18" charset="0"/>
              </a:rPr>
              <a:t>A good database will enforce data integrity whenever possible.</a:t>
            </a:r>
          </a:p>
          <a:p>
            <a:pPr algn="just">
              <a:lnSpc>
                <a:spcPct val="170000"/>
              </a:lnSpc>
              <a:buBlip>
                <a:blip r:embed="rId3"/>
              </a:buBlip>
            </a:pPr>
            <a:r>
              <a:rPr lang="en-US" sz="8000" dirty="0">
                <a:latin typeface="Times New Roman" panose="02020603050405020304" pitchFamily="18" charset="0"/>
                <a:cs typeface="Times New Roman" panose="02020603050405020304" pitchFamily="18" charset="0"/>
              </a:rPr>
              <a:t>Data integrity used to restrict unnecessary data entire to database. </a:t>
            </a:r>
          </a:p>
          <a:p>
            <a:pPr algn="just">
              <a:lnSpc>
                <a:spcPct val="170000"/>
              </a:lnSpc>
              <a:buBlip>
                <a:blip r:embed="rId3"/>
              </a:buBlip>
            </a:pPr>
            <a:r>
              <a:rPr lang="en-US" sz="8000" dirty="0">
                <a:latin typeface="Times New Roman" panose="02020603050405020304" pitchFamily="18" charset="0"/>
                <a:cs typeface="Times New Roman" panose="02020603050405020304" pitchFamily="18" charset="0"/>
              </a:rPr>
              <a:t>For example, a user could accidentally try to enter a phone number into a date field. </a:t>
            </a:r>
          </a:p>
          <a:p>
            <a:pPr algn="just">
              <a:lnSpc>
                <a:spcPct val="170000"/>
              </a:lnSpc>
              <a:buBlip>
                <a:blip r:embed="rId3"/>
              </a:buBlip>
            </a:pPr>
            <a:r>
              <a:rPr lang="en-US" sz="8000" dirty="0">
                <a:latin typeface="Times New Roman" panose="02020603050405020304" pitchFamily="18" charset="0"/>
                <a:cs typeface="Times New Roman" panose="02020603050405020304" pitchFamily="18" charset="0"/>
              </a:rPr>
              <a:t>If the system enforces data integrity, it will prevent the user from making these mistakes. </a:t>
            </a:r>
            <a:r>
              <a:rPr lang="en-US" sz="8000" b="1" i="1" dirty="0">
                <a:solidFill>
                  <a:srgbClr val="C00000"/>
                </a:solidFill>
                <a:latin typeface="Times New Roman" panose="02020603050405020304" pitchFamily="18" charset="0"/>
                <a:cs typeface="Times New Roman" panose="02020603050405020304" pitchFamily="18" charset="0"/>
              </a:rPr>
              <a:t>For example: in customer database we can  enforce an integrity that it must accept the customer only from  Ethiopia or other only specific input.</a:t>
            </a:r>
          </a:p>
          <a:p>
            <a:pPr algn="just">
              <a:lnSpc>
                <a:spcPct val="170000"/>
              </a:lnSpc>
              <a:buBlip>
                <a:blip r:embed="rId3"/>
              </a:buBlip>
            </a:pPr>
            <a:r>
              <a:rPr lang="en-US" sz="8000" dirty="0">
                <a:latin typeface="Times New Roman" panose="02020603050405020304" pitchFamily="18" charset="0"/>
                <a:cs typeface="Times New Roman" panose="02020603050405020304" pitchFamily="18" charset="0"/>
              </a:rPr>
              <a:t>data integrity refers to maintaining and assuring the accuracy and consistency of data over its entire life-cycle.</a:t>
            </a:r>
          </a:p>
          <a:p>
            <a:pPr algn="just">
              <a:lnSpc>
                <a:spcPct val="170000"/>
              </a:lnSpc>
              <a:buBlip>
                <a:blip r:embed="rId3"/>
              </a:buBlip>
            </a:pPr>
            <a:r>
              <a:rPr lang="en-US" sz="8000" dirty="0">
                <a:latin typeface="Times New Roman" panose="02020603050405020304" pitchFamily="18" charset="0"/>
                <a:cs typeface="Times New Roman" panose="02020603050405020304" pitchFamily="18" charset="0"/>
              </a:rPr>
              <a:t>integrity aims to prevent the unintentional changes to information. </a:t>
            </a:r>
            <a:endParaRPr lang="en-US" sz="9600" dirty="0">
              <a:latin typeface="Times New Roman" panose="02020603050405020304" pitchFamily="18" charset="0"/>
              <a:cs typeface="Times New Roman" panose="02020603050405020304" pitchFamily="18" charset="0"/>
            </a:endParaRPr>
          </a:p>
          <a:p>
            <a:pPr algn="just">
              <a:lnSpc>
                <a:spcPct val="170000"/>
              </a:lnSpc>
              <a:buBlip>
                <a:blip r:embed="rId3"/>
              </a:buBlip>
            </a:pPr>
            <a:endParaRPr lang="en-US" sz="8000" dirty="0">
              <a:latin typeface="Times New Roman" panose="02020603050405020304" pitchFamily="18" charset="0"/>
              <a:cs typeface="Times New Roman" panose="02020603050405020304" pitchFamily="18" charset="0"/>
            </a:endParaRPr>
          </a:p>
          <a:p>
            <a:pPr algn="just">
              <a:lnSpc>
                <a:spcPct val="170000"/>
              </a:lnSpc>
              <a:buBlip>
                <a:blip r:embed="rId3"/>
              </a:buBlip>
            </a:pPr>
            <a:endParaRPr lang="en-US" sz="8000" b="1" i="1" dirty="0">
              <a:solidFill>
                <a:srgbClr val="C00000"/>
              </a:solidFill>
              <a:latin typeface="Times New Roman" panose="02020603050405020304" pitchFamily="18" charset="0"/>
              <a:cs typeface="Times New Roman" panose="02020603050405020304" pitchFamily="18" charset="0"/>
            </a:endParaRPr>
          </a:p>
          <a:p>
            <a:pPr algn="just">
              <a:lnSpc>
                <a:spcPct val="170000"/>
              </a:lnSpc>
              <a:buBlip>
                <a:blip r:embed="rId3"/>
              </a:buBlip>
            </a:pPr>
            <a:endParaRPr lang="en-US" sz="9600" dirty="0">
              <a:latin typeface="Century Gothic" pitchFamily="34" charset="0"/>
            </a:endParaRPr>
          </a:p>
          <a:p>
            <a:pPr marL="0" indent="0">
              <a:lnSpc>
                <a:spcPct val="170000"/>
              </a:lnSpc>
              <a:buNone/>
            </a:pPr>
            <a:endParaRPr lang="en-US" sz="8000" dirty="0">
              <a:latin typeface="Century Gothic" pitchFamily="34" charset="0"/>
            </a:endParaRPr>
          </a:p>
          <a:p>
            <a:pPr marL="0" indent="0">
              <a:lnSpc>
                <a:spcPct val="170000"/>
              </a:lnSpc>
              <a:buNone/>
            </a:pP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p:txBody>
      </p:sp>
      <p:sp>
        <p:nvSpPr>
          <p:cNvPr id="4" name="Slide Number Placeholder 3"/>
          <p:cNvSpPr>
            <a:spLocks noGrp="1"/>
          </p:cNvSpPr>
          <p:nvPr>
            <p:ph type="sldNum" sz="quarter" idx="12"/>
          </p:nvPr>
        </p:nvSpPr>
        <p:spPr/>
        <p:txBody>
          <a:bodyPr/>
          <a:lstStyle/>
          <a:p>
            <a:fld id="{91D10D00-2BA4-4EFE-9A20-A49A608F2010}" type="slidenum">
              <a:rPr lang="en-US" smtClean="0"/>
              <a:t>3</a:t>
            </a:fld>
            <a:endParaRPr lang="en-US"/>
          </a:p>
        </p:txBody>
      </p:sp>
    </p:spTree>
    <p:extLst>
      <p:ext uri="{BB962C8B-B14F-4D97-AF65-F5344CB8AC3E}">
        <p14:creationId xmlns:p14="http://schemas.microsoft.com/office/powerpoint/2010/main" val="4134243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a:solidFill>
            <a:srgbClr val="7030A0"/>
          </a:solidFill>
        </p:spPr>
        <p:txBody>
          <a:bodyPr>
            <a:normAutofit fontScale="90000"/>
          </a:bodyPr>
          <a:lstStyle/>
          <a:p>
            <a:r>
              <a:rPr lang="en-US" dirty="0"/>
              <a:t/>
            </a:r>
            <a:br>
              <a:rPr lang="en-US" dirty="0"/>
            </a:br>
            <a:r>
              <a:rPr lang="en-US" b="1" dirty="0">
                <a:latin typeface="Century Gothic" pitchFamily="34" charset="0"/>
              </a:rPr>
              <a:t>Integrity Constraints</a:t>
            </a:r>
            <a:br>
              <a:rPr lang="en-US" b="1" dirty="0">
                <a:latin typeface="Century Gothic" pitchFamily="34" charset="0"/>
              </a:rPr>
            </a:br>
            <a:endParaRPr lang="en-US" b="1" dirty="0">
              <a:latin typeface="Century Gothic" pitchFamily="34" charset="0"/>
            </a:endParaRPr>
          </a:p>
        </p:txBody>
      </p:sp>
      <p:sp>
        <p:nvSpPr>
          <p:cNvPr id="3" name="Content Placeholder 2"/>
          <p:cNvSpPr>
            <a:spLocks noGrp="1"/>
          </p:cNvSpPr>
          <p:nvPr>
            <p:ph idx="1"/>
          </p:nvPr>
        </p:nvSpPr>
        <p:spPr>
          <a:xfrm>
            <a:off x="228600" y="533400"/>
            <a:ext cx="8915400" cy="6477000"/>
          </a:xfrm>
        </p:spPr>
        <p:txBody>
          <a:bodyPr>
            <a:normAutofit fontScale="25000" lnSpcReduction="20000"/>
          </a:bodyPr>
          <a:lstStyle/>
          <a:p>
            <a:pPr>
              <a:lnSpc>
                <a:spcPct val="170000"/>
              </a:lnSpc>
              <a:buBlip>
                <a:blip r:embed="rId2"/>
              </a:buBlip>
            </a:pPr>
            <a:r>
              <a:rPr lang="en-US" sz="8000" dirty="0">
                <a:latin typeface="Times New Roman" panose="02020603050405020304" pitchFamily="18" charset="0"/>
                <a:cs typeface="Times New Roman" panose="02020603050405020304" pitchFamily="18" charset="0"/>
              </a:rPr>
              <a:t>Integrity constraints are </a:t>
            </a:r>
            <a:r>
              <a:rPr lang="en-US" sz="8000" b="1" dirty="0">
                <a:solidFill>
                  <a:srgbClr val="FF0000"/>
                </a:solidFill>
                <a:latin typeface="Times New Roman" panose="02020603050405020304" pitchFamily="18" charset="0"/>
                <a:cs typeface="Times New Roman" panose="02020603050405020304" pitchFamily="18" charset="0"/>
              </a:rPr>
              <a:t>rules</a:t>
            </a:r>
            <a:r>
              <a:rPr lang="en-US" sz="8000" dirty="0">
                <a:latin typeface="Times New Roman" panose="02020603050405020304" pitchFamily="18" charset="0"/>
                <a:cs typeface="Times New Roman" panose="02020603050405020304" pitchFamily="18" charset="0"/>
              </a:rPr>
              <a:t> in a database that ensure </a:t>
            </a:r>
            <a:r>
              <a:rPr lang="en-US" sz="8000" dirty="0">
                <a:solidFill>
                  <a:srgbClr val="FF0000"/>
                </a:solidFill>
                <a:latin typeface="Times New Roman" panose="02020603050405020304" pitchFamily="18" charset="0"/>
                <a:cs typeface="Times New Roman" panose="02020603050405020304" pitchFamily="18" charset="0"/>
              </a:rPr>
              <a:t>the </a:t>
            </a:r>
            <a:r>
              <a:rPr lang="en-US" sz="8000" b="1" dirty="0">
                <a:solidFill>
                  <a:srgbClr val="FF0000"/>
                </a:solidFill>
                <a:latin typeface="Times New Roman" panose="02020603050405020304" pitchFamily="18" charset="0"/>
                <a:cs typeface="Times New Roman" panose="02020603050405020304" pitchFamily="18" charset="0"/>
              </a:rPr>
              <a:t>accuracy</a:t>
            </a:r>
            <a:r>
              <a:rPr lang="en-US" sz="8000" dirty="0">
                <a:solidFill>
                  <a:srgbClr val="FF0000"/>
                </a:solidFill>
                <a:latin typeface="Times New Roman" panose="02020603050405020304" pitchFamily="18" charset="0"/>
                <a:cs typeface="Times New Roman" panose="02020603050405020304" pitchFamily="18" charset="0"/>
              </a:rPr>
              <a:t>, </a:t>
            </a:r>
            <a:r>
              <a:rPr lang="en-US" sz="8000" b="1" dirty="0">
                <a:solidFill>
                  <a:srgbClr val="FF0000"/>
                </a:solidFill>
                <a:latin typeface="Times New Roman" panose="02020603050405020304" pitchFamily="18" charset="0"/>
                <a:cs typeface="Times New Roman" panose="02020603050405020304" pitchFamily="18" charset="0"/>
              </a:rPr>
              <a:t>correctness</a:t>
            </a:r>
            <a:r>
              <a:rPr lang="en-US" sz="8000" dirty="0">
                <a:solidFill>
                  <a:srgbClr val="FF0000"/>
                </a:solidFill>
                <a:latin typeface="Times New Roman" panose="02020603050405020304" pitchFamily="18" charset="0"/>
                <a:cs typeface="Times New Roman" panose="02020603050405020304" pitchFamily="18" charset="0"/>
              </a:rPr>
              <a:t>, and </a:t>
            </a:r>
            <a:r>
              <a:rPr lang="en-US" sz="8000" b="1" dirty="0">
                <a:solidFill>
                  <a:srgbClr val="FF0000"/>
                </a:solidFill>
                <a:latin typeface="Times New Roman" panose="02020603050405020304" pitchFamily="18" charset="0"/>
                <a:cs typeface="Times New Roman" panose="02020603050405020304" pitchFamily="18" charset="0"/>
              </a:rPr>
              <a:t>consistency</a:t>
            </a:r>
            <a:r>
              <a:rPr lang="en-US" sz="8000" dirty="0">
                <a:latin typeface="Times New Roman" panose="02020603050405020304" pitchFamily="18" charset="0"/>
                <a:cs typeface="Times New Roman" panose="02020603050405020304" pitchFamily="18" charset="0"/>
              </a:rPr>
              <a:t> of data. </a:t>
            </a:r>
          </a:p>
          <a:p>
            <a:pPr>
              <a:lnSpc>
                <a:spcPct val="170000"/>
              </a:lnSpc>
              <a:buBlip>
                <a:blip r:embed="rId2"/>
              </a:buBlip>
            </a:pPr>
            <a:r>
              <a:rPr lang="en-US" sz="8000" dirty="0">
                <a:latin typeface="Times New Roman" panose="02020603050405020304" pitchFamily="18" charset="0"/>
                <a:cs typeface="Times New Roman" panose="02020603050405020304" pitchFamily="18" charset="0"/>
              </a:rPr>
              <a:t>They prevent invalid data from being inserted, deleted, or updated.</a:t>
            </a:r>
          </a:p>
          <a:p>
            <a:pPr algn="just">
              <a:lnSpc>
                <a:spcPct val="170000"/>
              </a:lnSpc>
              <a:buBlip>
                <a:blip r:embed="rId2"/>
              </a:buBlip>
            </a:pPr>
            <a:r>
              <a:rPr lang="en-US" sz="8000" dirty="0">
                <a:latin typeface="Times New Roman" panose="02020603050405020304" pitchFamily="18" charset="0"/>
                <a:cs typeface="Times New Roman" panose="02020603050405020304" pitchFamily="18" charset="0"/>
              </a:rPr>
              <a:t>Constraints are a very important feature in any data  model.</a:t>
            </a:r>
          </a:p>
          <a:p>
            <a:pPr algn="just">
              <a:lnSpc>
                <a:spcPct val="170000"/>
              </a:lnSpc>
              <a:buBlip>
                <a:blip r:embed="rId2"/>
              </a:buBlip>
            </a:pPr>
            <a:r>
              <a:rPr lang="en-US" sz="8000" i="1" dirty="0">
                <a:latin typeface="Times New Roman" panose="02020603050405020304" pitchFamily="18" charset="0"/>
                <a:cs typeface="Times New Roman" panose="02020603050405020304" pitchFamily="18" charset="0"/>
              </a:rPr>
              <a:t>Constraints </a:t>
            </a:r>
            <a:r>
              <a:rPr lang="en-US" sz="8000" dirty="0">
                <a:latin typeface="Times New Roman" panose="02020603050405020304" pitchFamily="18" charset="0"/>
                <a:cs typeface="Times New Roman" panose="02020603050405020304" pitchFamily="18" charset="0"/>
              </a:rPr>
              <a:t>are the rules that force DBMSs to check that data satisfies the semantics. </a:t>
            </a:r>
          </a:p>
          <a:p>
            <a:pPr algn="just">
              <a:lnSpc>
                <a:spcPct val="170000"/>
              </a:lnSpc>
              <a:buBlip>
                <a:blip r:embed="rId2"/>
              </a:buBlip>
            </a:pPr>
            <a:r>
              <a:rPr lang="en-US" sz="8000" dirty="0">
                <a:latin typeface="Times New Roman" panose="02020603050405020304" pitchFamily="18" charset="0"/>
                <a:cs typeface="Times New Roman" panose="02020603050405020304" pitchFamily="18" charset="0"/>
              </a:rPr>
              <a:t>Integrity constraints are a set of rules used to maintain the quality of information.</a:t>
            </a:r>
          </a:p>
          <a:p>
            <a:pPr algn="just">
              <a:lnSpc>
                <a:spcPct val="170000"/>
              </a:lnSpc>
              <a:buBlip>
                <a:blip r:embed="rId2"/>
              </a:buBlip>
            </a:pPr>
            <a:r>
              <a:rPr lang="en-US" sz="8000" dirty="0">
                <a:latin typeface="Times New Roman" panose="02020603050405020304" pitchFamily="18" charset="0"/>
                <a:cs typeface="Times New Roman" panose="02020603050405020304" pitchFamily="18" charset="0"/>
              </a:rPr>
              <a:t> Integrity constraints ensure that the data insertion, updating, and other processes have to be performed in such a way that data integrity is not</a:t>
            </a:r>
          </a:p>
          <a:p>
            <a:pPr marL="0" indent="0" algn="just">
              <a:lnSpc>
                <a:spcPct val="170000"/>
              </a:lnSpc>
              <a:buNone/>
            </a:pPr>
            <a:r>
              <a:rPr lang="en-US" sz="8000" dirty="0">
                <a:latin typeface="Times New Roman" panose="02020603050405020304" pitchFamily="18" charset="0"/>
                <a:cs typeface="Times New Roman" panose="02020603050405020304" pitchFamily="18" charset="0"/>
              </a:rPr>
              <a:t>affected.</a:t>
            </a:r>
          </a:p>
          <a:p>
            <a:pPr>
              <a:lnSpc>
                <a:spcPct val="170000"/>
              </a:lnSpc>
              <a:buBlip>
                <a:blip r:embed="rId2"/>
              </a:buBlip>
            </a:pPr>
            <a:r>
              <a:rPr lang="en-US" sz="8000" dirty="0">
                <a:latin typeface="Times New Roman" panose="02020603050405020304" pitchFamily="18" charset="0"/>
                <a:cs typeface="Times New Roman" panose="02020603050405020304" pitchFamily="18" charset="0"/>
              </a:rPr>
              <a:t>Integrity constraints guard against accidental damage to the database, by ensuring that authorized changes to the database do not result in a loss of data consistency. </a:t>
            </a:r>
            <a:br>
              <a:rPr lang="en-US" sz="8000" dirty="0">
                <a:latin typeface="Times New Roman" panose="02020603050405020304" pitchFamily="18" charset="0"/>
                <a:cs typeface="Times New Roman" panose="02020603050405020304" pitchFamily="18" charset="0"/>
              </a:rPr>
            </a:br>
            <a:endParaRPr lang="en-US" sz="800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91D10D00-2BA4-4EFE-9A20-A49A608F2010}" type="slidenum">
              <a:rPr lang="en-US" smtClean="0"/>
              <a:t>4</a:t>
            </a:fld>
            <a:endParaRPr lang="en-US"/>
          </a:p>
        </p:txBody>
      </p:sp>
    </p:spTree>
    <p:extLst>
      <p:ext uri="{BB962C8B-B14F-4D97-AF65-F5344CB8AC3E}">
        <p14:creationId xmlns:p14="http://schemas.microsoft.com/office/powerpoint/2010/main" val="3480927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6200"/>
            <a:ext cx="9067800" cy="1341438"/>
          </a:xfrm>
          <a:solidFill>
            <a:srgbClr val="7030A0"/>
          </a:solidFill>
        </p:spPr>
        <p:txBody>
          <a:bodyPr>
            <a:normAutofit fontScale="90000"/>
          </a:bodyPr>
          <a:lstStyle/>
          <a:p>
            <a:r>
              <a:rPr lang="en-US" sz="8000" b="1" dirty="0">
                <a:latin typeface="Century Gothic" pitchFamily="34" charset="0"/>
              </a:rPr>
              <a:t>Types of constraints</a:t>
            </a:r>
            <a:r>
              <a:rPr lang="en-US" dirty="0"/>
              <a:t/>
            </a:r>
            <a:br>
              <a:rPr lang="en-US" dirty="0"/>
            </a:br>
            <a:endParaRPr lang="en-US" dirty="0"/>
          </a:p>
        </p:txBody>
      </p:sp>
      <p:sp>
        <p:nvSpPr>
          <p:cNvPr id="3" name="Content Placeholder 2"/>
          <p:cNvSpPr>
            <a:spLocks noGrp="1"/>
          </p:cNvSpPr>
          <p:nvPr>
            <p:ph idx="1"/>
          </p:nvPr>
        </p:nvSpPr>
        <p:spPr/>
        <p:txBody>
          <a:bodyPr>
            <a:normAutofit/>
          </a:bodyPr>
          <a:lstStyle/>
          <a:p>
            <a:endParaRPr lang="en-US" dirty="0"/>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47824"/>
            <a:ext cx="8305799" cy="498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91D10D00-2BA4-4EFE-9A20-A49A608F2010}" type="slidenum">
              <a:rPr lang="en-US" smtClean="0"/>
              <a:t>5</a:t>
            </a:fld>
            <a:endParaRPr lang="en-US"/>
          </a:p>
        </p:txBody>
      </p:sp>
    </p:spTree>
    <p:extLst>
      <p:ext uri="{BB962C8B-B14F-4D97-AF65-F5344CB8AC3E}">
        <p14:creationId xmlns:p14="http://schemas.microsoft.com/office/powerpoint/2010/main" val="3354450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85800"/>
            <a:ext cx="7924800" cy="152400"/>
          </a:xfrm>
        </p:spPr>
        <p:txBody>
          <a:bodyPr>
            <a:normAutofit fontScale="90000"/>
          </a:bodyPr>
          <a:lstStyle/>
          <a:p>
            <a:r>
              <a:rPr lang="en-US" b="1" i="1" dirty="0">
                <a:solidFill>
                  <a:srgbClr val="C00000"/>
                </a:solidFill>
                <a:latin typeface="Century Gothic" pitchFamily="34" charset="0"/>
              </a:rPr>
              <a:t>1. Domain constraints</a:t>
            </a:r>
            <a:r>
              <a:rPr lang="en-US" b="1" dirty="0"/>
              <a:t/>
            </a:r>
            <a:br>
              <a:rPr lang="en-US" b="1" dirty="0"/>
            </a:br>
            <a:endParaRPr lang="en-US" dirty="0"/>
          </a:p>
        </p:txBody>
      </p:sp>
      <p:sp>
        <p:nvSpPr>
          <p:cNvPr id="3" name="Content Placeholder 2"/>
          <p:cNvSpPr>
            <a:spLocks noGrp="1"/>
          </p:cNvSpPr>
          <p:nvPr>
            <p:ph idx="1"/>
          </p:nvPr>
        </p:nvSpPr>
        <p:spPr>
          <a:xfrm>
            <a:off x="0" y="533400"/>
            <a:ext cx="9067800" cy="5867400"/>
          </a:xfrm>
        </p:spPr>
        <p:txBody>
          <a:bodyPr>
            <a:normAutofit fontScale="70000" lnSpcReduction="20000"/>
          </a:bodyPr>
          <a:lstStyle/>
          <a:p>
            <a:endParaRPr lang="en-US" dirty="0"/>
          </a:p>
          <a:p>
            <a:pPr algn="just">
              <a:lnSpc>
                <a:spcPct val="160000"/>
              </a:lnSpc>
              <a:buFont typeface="Wingdings" pitchFamily="2" charset="2"/>
              <a:buChar char="Ø"/>
            </a:pPr>
            <a:r>
              <a:rPr lang="en-US" dirty="0">
                <a:latin typeface="Times New Roman" panose="02020603050405020304" pitchFamily="18" charset="0"/>
                <a:cs typeface="Times New Roman" panose="02020603050405020304" pitchFamily="18" charset="0"/>
              </a:rPr>
              <a:t>Domain constraints can be defined as the definition of a valid set of values for an attribute.</a:t>
            </a:r>
          </a:p>
          <a:p>
            <a:pPr algn="just">
              <a:lnSpc>
                <a:spcPct val="160000"/>
              </a:lnSpc>
              <a:buFont typeface="Wingdings" pitchFamily="2" charset="2"/>
              <a:buChar char="Ø"/>
            </a:pPr>
            <a:r>
              <a:rPr lang="en-US" dirty="0">
                <a:latin typeface="Times New Roman" panose="02020603050405020304" pitchFamily="18" charset="0"/>
                <a:cs typeface="Times New Roman" panose="02020603050405020304" pitchFamily="18" charset="0"/>
              </a:rPr>
              <a:t>Domain restricts the values of attributes in the relation and is a constraint of the relational model. </a:t>
            </a:r>
          </a:p>
          <a:p>
            <a:pPr algn="just">
              <a:lnSpc>
                <a:spcPct val="160000"/>
              </a:lnSpc>
              <a:buFont typeface="Wingdings" pitchFamily="2" charset="2"/>
              <a:buChar char="Ø"/>
            </a:pPr>
            <a:r>
              <a:rPr lang="en-US" dirty="0">
                <a:latin typeface="Times New Roman" panose="02020603050405020304" pitchFamily="18" charset="0"/>
                <a:cs typeface="Times New Roman" panose="02020603050405020304" pitchFamily="18" charset="0"/>
              </a:rPr>
              <a:t> The data type of domain includes string, character, integer, time, date, currency, etc.</a:t>
            </a:r>
          </a:p>
          <a:p>
            <a:pPr algn="just">
              <a:lnSpc>
                <a:spcPct val="160000"/>
              </a:lnSpc>
              <a:buFont typeface="Wingdings" pitchFamily="2" charset="2"/>
              <a:buChar char="Ø"/>
            </a:pPr>
            <a:r>
              <a:rPr lang="en-US" dirty="0">
                <a:latin typeface="Times New Roman" panose="02020603050405020304" pitchFamily="18" charset="0"/>
                <a:cs typeface="Times New Roman" panose="02020603050405020304" pitchFamily="18" charset="0"/>
              </a:rPr>
              <a:t> The value of the attribute must be available in the corresponding domain.</a:t>
            </a:r>
          </a:p>
          <a:p>
            <a:pPr>
              <a:lnSpc>
                <a:spcPct val="160000"/>
              </a:lnSpc>
              <a:buFont typeface="Wingdings" pitchFamily="2" charset="2"/>
              <a:buChar char="Ø"/>
            </a:pPr>
            <a:r>
              <a:rPr lang="en-US" i="1" dirty="0">
                <a:solidFill>
                  <a:srgbClr val="C00000"/>
                </a:solidFill>
                <a:latin typeface="Times New Roman" panose="02020603050405020304" pitchFamily="18" charset="0"/>
                <a:cs typeface="Times New Roman" panose="02020603050405020304" pitchFamily="18" charset="0"/>
              </a:rPr>
              <a:t>For example, the Employee ID (EID) must be unique or the employee Birthdate is in the range [Sep 1, 2024, Jan 1, 2025].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1D10D00-2BA4-4EFE-9A20-A49A608F2010}" type="slidenum">
              <a:rPr lang="en-US" smtClean="0"/>
              <a:t>6</a:t>
            </a:fld>
            <a:endParaRPr lang="en-US"/>
          </a:p>
        </p:txBody>
      </p:sp>
    </p:spTree>
    <p:extLst>
      <p:ext uri="{BB962C8B-B14F-4D97-AF65-F5344CB8AC3E}">
        <p14:creationId xmlns:p14="http://schemas.microsoft.com/office/powerpoint/2010/main" val="1054522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a:p>
            <a:endParaRPr lang="en-US" dirty="0"/>
          </a:p>
        </p:txBody>
      </p:sp>
      <p:sp>
        <p:nvSpPr>
          <p:cNvPr id="4" name="Slide Number Placeholder 3"/>
          <p:cNvSpPr>
            <a:spLocks noGrp="1"/>
          </p:cNvSpPr>
          <p:nvPr>
            <p:ph type="sldNum" sz="quarter" idx="12"/>
          </p:nvPr>
        </p:nvSpPr>
        <p:spPr/>
        <p:txBody>
          <a:bodyPr/>
          <a:lstStyle/>
          <a:p>
            <a:fld id="{91D10D00-2BA4-4EFE-9A20-A49A608F2010}" type="slidenum">
              <a:rPr lang="en-US" smtClean="0"/>
              <a:t>7</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109" y="381000"/>
            <a:ext cx="8763000" cy="609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7811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b="1" i="1" dirty="0">
                <a:solidFill>
                  <a:srgbClr val="C00000"/>
                </a:solidFill>
                <a:latin typeface="Century Gothic" pitchFamily="34" charset="0"/>
              </a:rPr>
              <a:t/>
            </a:r>
            <a:br>
              <a:rPr lang="en-US" b="1" i="1" dirty="0">
                <a:solidFill>
                  <a:srgbClr val="C00000"/>
                </a:solidFill>
                <a:latin typeface="Century Gothic" pitchFamily="34" charset="0"/>
              </a:rPr>
            </a:br>
            <a:r>
              <a:rPr lang="en-US" b="1" i="1" dirty="0">
                <a:solidFill>
                  <a:srgbClr val="C00000"/>
                </a:solidFill>
                <a:latin typeface="Century Gothic" pitchFamily="34" charset="0"/>
              </a:rPr>
              <a:t>2. Entity integrity constraints</a:t>
            </a:r>
            <a:r>
              <a:rPr lang="en-US" b="1" dirty="0"/>
              <a:t/>
            </a:r>
            <a:br>
              <a:rPr lang="en-US" b="1" dirty="0"/>
            </a:br>
            <a:endParaRPr lang="en-US" dirty="0"/>
          </a:p>
        </p:txBody>
      </p:sp>
      <p:sp>
        <p:nvSpPr>
          <p:cNvPr id="3" name="Content Placeholder 2"/>
          <p:cNvSpPr>
            <a:spLocks noGrp="1"/>
          </p:cNvSpPr>
          <p:nvPr>
            <p:ph idx="1"/>
          </p:nvPr>
        </p:nvSpPr>
        <p:spPr>
          <a:xfrm>
            <a:off x="228600" y="990600"/>
            <a:ext cx="8915400" cy="5867400"/>
          </a:xfrm>
        </p:spPr>
        <p:txBody>
          <a:bodyPr>
            <a:noAutofit/>
          </a:bodyPr>
          <a:lstStyle/>
          <a:p>
            <a:pPr>
              <a:lnSpc>
                <a:spcPct val="150000"/>
              </a:lnSpc>
              <a:buFont typeface="Wingdings" pitchFamily="2" charset="2"/>
              <a:buChar char="Ø"/>
            </a:pPr>
            <a:r>
              <a:rPr lang="en-US" sz="2000" dirty="0">
                <a:latin typeface="Times New Roman" panose="02020603050405020304" pitchFamily="18" charset="0"/>
                <a:cs typeface="Times New Roman" panose="02020603050405020304" pitchFamily="18" charset="0"/>
              </a:rPr>
              <a:t>The entity integrity constraint states that primary key value can't be null.</a:t>
            </a:r>
          </a:p>
          <a:p>
            <a:pPr>
              <a:lnSpc>
                <a:spcPct val="150000"/>
              </a:lnSpc>
              <a:buFont typeface="Wingdings" pitchFamily="2" charset="2"/>
              <a:buChar char="Ø"/>
            </a:pPr>
            <a:r>
              <a:rPr lang="en-US" sz="2000" dirty="0">
                <a:latin typeface="Times New Roman" panose="02020603050405020304" pitchFamily="18" charset="0"/>
                <a:cs typeface="Times New Roman" panose="02020603050405020304" pitchFamily="18" charset="0"/>
              </a:rPr>
              <a:t>This is because the primary key value is used to identify individual rows in relation and if the primary key has a null value, then we can't identify those rows.</a:t>
            </a:r>
          </a:p>
          <a:p>
            <a:pPr>
              <a:lnSpc>
                <a:spcPct val="150000"/>
              </a:lnSpc>
              <a:buFont typeface="Wingdings" pitchFamily="2" charset="2"/>
              <a:buChar char="Ø"/>
            </a:pPr>
            <a:r>
              <a:rPr lang="en-US" sz="2000" dirty="0">
                <a:latin typeface="Times New Roman" panose="02020603050405020304" pitchFamily="18" charset="0"/>
                <a:cs typeface="Times New Roman" panose="02020603050405020304" pitchFamily="18" charset="0"/>
              </a:rPr>
              <a:t> A table can contain a null value other than the primary key field. </a:t>
            </a:r>
          </a:p>
          <a:p>
            <a:pPr>
              <a:lnSpc>
                <a:spcPct val="150000"/>
              </a:lnSpc>
              <a:buFont typeface="Wingdings" pitchFamily="2" charset="2"/>
              <a:buChar char="Ø"/>
            </a:pPr>
            <a:r>
              <a:rPr lang="en-US" sz="2000" dirty="0">
                <a:latin typeface="Times New Roman" panose="02020603050405020304" pitchFamily="18" charset="0"/>
                <a:cs typeface="Times New Roman" panose="02020603050405020304" pitchFamily="18" charset="0"/>
              </a:rPr>
              <a:t>To ensure </a:t>
            </a:r>
            <a:r>
              <a:rPr lang="en-US" sz="2000" i="1" dirty="0">
                <a:latin typeface="Times New Roman" panose="02020603050405020304" pitchFamily="18" charset="0"/>
                <a:cs typeface="Times New Roman" panose="02020603050405020304" pitchFamily="18" charset="0"/>
              </a:rPr>
              <a:t>entity integrity</a:t>
            </a:r>
            <a:r>
              <a:rPr lang="en-US" sz="2000" dirty="0">
                <a:latin typeface="Times New Roman" panose="02020603050405020304" pitchFamily="18" charset="0"/>
                <a:cs typeface="Times New Roman" panose="02020603050405020304" pitchFamily="18" charset="0"/>
              </a:rPr>
              <a:t>, it is required that every table have a primary key. </a:t>
            </a:r>
          </a:p>
          <a:p>
            <a:pPr>
              <a:lnSpc>
                <a:spcPct val="150000"/>
              </a:lnSpc>
              <a:buFont typeface="Wingdings" pitchFamily="2" charset="2"/>
              <a:buChar char="Ø"/>
            </a:pPr>
            <a:r>
              <a:rPr lang="en-US" sz="2000" dirty="0">
                <a:latin typeface="Times New Roman" panose="02020603050405020304" pitchFamily="18" charset="0"/>
                <a:cs typeface="Times New Roman" panose="02020603050405020304" pitchFamily="18" charset="0"/>
              </a:rPr>
              <a:t>Neither the PK nor any part of it can contain null values. This is because null values for the primary key mean we cannot identify some rows. </a:t>
            </a:r>
          </a:p>
          <a:p>
            <a:pPr>
              <a:lnSpc>
                <a:spcPct val="150000"/>
              </a:lnSpc>
              <a:buFont typeface="Wingdings" pitchFamily="2" charset="2"/>
              <a:buChar char="Ø"/>
            </a:pPr>
            <a:r>
              <a:rPr lang="en-US" sz="2000" dirty="0">
                <a:solidFill>
                  <a:srgbClr val="FF0000"/>
                </a:solidFill>
                <a:latin typeface="Times New Roman" panose="02020603050405020304" pitchFamily="18" charset="0"/>
                <a:cs typeface="Times New Roman" panose="02020603050405020304" pitchFamily="18" charset="0"/>
              </a:rPr>
              <a:t>For example, in the EMPLOYEE table, Phone cannot be a primary key since some people may not have a telephone. </a:t>
            </a:r>
            <a:br>
              <a:rPr lang="en-US" sz="2000" dirty="0">
                <a:solidFill>
                  <a:srgbClr val="FF0000"/>
                </a:solidFill>
                <a:latin typeface="Times New Roman" panose="02020603050405020304" pitchFamily="18" charset="0"/>
                <a:cs typeface="Times New Roman" panose="02020603050405020304" pitchFamily="18" charset="0"/>
              </a:rPr>
            </a:br>
            <a:r>
              <a:rPr lang="en-US" sz="2000" dirty="0">
                <a:solidFill>
                  <a:srgbClr val="FF0000"/>
                </a:solidFill>
                <a:latin typeface="Times New Roman" panose="02020603050405020304" pitchFamily="18" charset="0"/>
                <a:cs typeface="Times New Roman" panose="02020603050405020304" pitchFamily="18" charset="0"/>
              </a:rPr>
              <a:t/>
            </a:r>
            <a:br>
              <a:rPr lang="en-US" sz="2000" dirty="0">
                <a:solidFill>
                  <a:srgbClr val="FF0000"/>
                </a:solidFill>
                <a:latin typeface="Times New Roman" panose="02020603050405020304" pitchFamily="18" charset="0"/>
                <a:cs typeface="Times New Roman" panose="02020603050405020304" pitchFamily="18" charset="0"/>
              </a:rPr>
            </a:br>
            <a:endParaRPr lang="en-US" sz="2000" dirty="0">
              <a:solidFill>
                <a:srgbClr val="FF000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1D10D00-2BA4-4EFE-9A20-A49A608F2010}" type="slidenum">
              <a:rPr lang="en-US" smtClean="0"/>
              <a:t>8</a:t>
            </a:fld>
            <a:endParaRPr lang="en-US"/>
          </a:p>
        </p:txBody>
      </p:sp>
    </p:spTree>
    <p:extLst>
      <p:ext uri="{BB962C8B-B14F-4D97-AF65-F5344CB8AC3E}">
        <p14:creationId xmlns:p14="http://schemas.microsoft.com/office/powerpoint/2010/main" val="356377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2562"/>
          </a:xfrm>
        </p:spPr>
        <p:txBody>
          <a:bodyPr>
            <a:normAutofit fontScale="90000"/>
          </a:bodyPr>
          <a:lstStyle/>
          <a:p>
            <a:r>
              <a:rPr lang="en-US" dirty="0"/>
              <a:t>.</a:t>
            </a:r>
          </a:p>
        </p:txBody>
      </p:sp>
      <p:sp>
        <p:nvSpPr>
          <p:cNvPr id="3" name="Content Placeholder 2"/>
          <p:cNvSpPr>
            <a:spLocks noGrp="1"/>
          </p:cNvSpPr>
          <p:nvPr>
            <p:ph idx="1"/>
          </p:nvPr>
        </p:nvSpPr>
        <p:spPr>
          <a:xfrm>
            <a:off x="457199" y="762000"/>
            <a:ext cx="8620125" cy="6303962"/>
          </a:xfrm>
        </p:spPr>
        <p:txBody>
          <a:bodyPr>
            <a:normAutofit fontScale="55000" lnSpcReduction="20000"/>
          </a:bodyPr>
          <a:lstStyle/>
          <a:p>
            <a:pPr>
              <a:lnSpc>
                <a:spcPct val="17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dirty="0">
                <a:solidFill>
                  <a:srgbClr val="FF0000"/>
                </a:solidFill>
                <a:latin typeface="Times New Roman" panose="02020603050405020304" pitchFamily="18" charset="0"/>
                <a:cs typeface="Times New Roman" panose="02020603050405020304" pitchFamily="18" charset="0"/>
              </a:rPr>
              <a:t>NOT NULL</a:t>
            </a:r>
            <a:r>
              <a:rPr lang="en-US" dirty="0">
                <a:latin typeface="Times New Roman" panose="02020603050405020304" pitchFamily="18" charset="0"/>
                <a:cs typeface="Times New Roman" panose="02020603050405020304" pitchFamily="18" charset="0"/>
              </a:rPr>
              <a:t> constraint enforces a column to NOT accept NULL values.</a:t>
            </a:r>
          </a:p>
          <a:p>
            <a:pPr>
              <a:lnSpc>
                <a:spcPct val="17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enforces a field to always contain a value, which means that you cannot insert a new record, or update a record without adding a value to this field. </a:t>
            </a:r>
          </a:p>
          <a:p>
            <a:pPr>
              <a:lnSpc>
                <a:spcPct val="17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Every table must have a primary key.</a:t>
            </a:r>
          </a:p>
          <a:p>
            <a:pPr>
              <a:lnSpc>
                <a:spcPct val="17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The primary key must uniquely identify each record.</a:t>
            </a:r>
          </a:p>
          <a:p>
            <a:pPr>
              <a:lnSpc>
                <a:spcPct val="17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Primary key values cannot be NULL.</a:t>
            </a:r>
          </a:p>
          <a:p>
            <a:pPr>
              <a:lnSpc>
                <a:spcPct val="17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No two rows can have the same primary key value.</a:t>
            </a:r>
          </a:p>
          <a:p>
            <a:pPr marL="0" indent="0">
              <a:lnSpc>
                <a:spcPct val="170000"/>
              </a:lnSpc>
              <a:buNone/>
            </a:pPr>
            <a:r>
              <a:rPr lang="en-US" dirty="0">
                <a:latin typeface="Times New Roman" panose="02020603050405020304" pitchFamily="18" charset="0"/>
                <a:cs typeface="Times New Roman" panose="02020603050405020304" pitchFamily="18" charset="0"/>
              </a:rPr>
              <a:t>Generally Entity integrity makes sure that </a:t>
            </a:r>
            <a:r>
              <a:rPr lang="en-US" b="1" dirty="0">
                <a:solidFill>
                  <a:srgbClr val="FF0000"/>
                </a:solidFill>
                <a:latin typeface="Times New Roman" panose="02020603050405020304" pitchFamily="18" charset="0"/>
                <a:cs typeface="Times New Roman" panose="02020603050405020304" pitchFamily="18" charset="0"/>
              </a:rPr>
              <a:t>every record can be uniquely identified</a:t>
            </a:r>
            <a:r>
              <a:rPr lang="en-US" dirty="0">
                <a:solidFill>
                  <a:srgbClr val="FF000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by its primary key, and that the primary key is always </a:t>
            </a:r>
            <a:r>
              <a:rPr lang="en-US" b="1" dirty="0">
                <a:solidFill>
                  <a:srgbClr val="FF0000"/>
                </a:solidFill>
                <a:latin typeface="Times New Roman" panose="02020603050405020304" pitchFamily="18" charset="0"/>
                <a:cs typeface="Times New Roman" panose="02020603050405020304" pitchFamily="18" charset="0"/>
              </a:rPr>
              <a:t>unique and not empty</a:t>
            </a:r>
            <a:r>
              <a:rPr lang="en-US" dirty="0">
                <a:solidFill>
                  <a:srgbClr val="FF0000"/>
                </a:solidFill>
                <a:latin typeface="Times New Roman" panose="02020603050405020304" pitchFamily="18" charset="0"/>
                <a:cs typeface="Times New Roman" panose="02020603050405020304" pitchFamily="18" charset="0"/>
              </a:rPr>
              <a:t>.</a:t>
            </a:r>
            <a:br>
              <a:rPr lang="en-US" dirty="0">
                <a:solidFill>
                  <a:srgbClr val="FF0000"/>
                </a:solidFill>
                <a:latin typeface="Times New Roman" panose="02020603050405020304" pitchFamily="18" charset="0"/>
                <a:cs typeface="Times New Roman" panose="02020603050405020304" pitchFamily="18" charset="0"/>
              </a:rPr>
            </a:br>
            <a:r>
              <a:rPr lang="en-US" sz="3800" dirty="0">
                <a:solidFill>
                  <a:srgbClr val="FF0000"/>
                </a:solidFill>
                <a:latin typeface="Times New Roman" panose="02020603050405020304" pitchFamily="18" charset="0"/>
                <a:cs typeface="Times New Roman" panose="02020603050405020304" pitchFamily="18" charset="0"/>
              </a:rPr>
              <a:t/>
            </a:r>
            <a:br>
              <a:rPr lang="en-US" sz="3800" dirty="0">
                <a:solidFill>
                  <a:srgbClr val="FF0000"/>
                </a:solidFill>
                <a:latin typeface="Times New Roman" panose="02020603050405020304" pitchFamily="18" charset="0"/>
                <a:cs typeface="Times New Roman" panose="02020603050405020304" pitchFamily="18" charset="0"/>
              </a:rPr>
            </a:br>
            <a:endParaRPr lang="en-US" sz="3800"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t/>
            </a:r>
            <a:br>
              <a:rPr lang="en-US" dirty="0"/>
            </a:br>
            <a:endParaRPr lang="en-US" dirty="0"/>
          </a:p>
          <a:p>
            <a:endParaRPr lang="en-US" dirty="0">
              <a:latin typeface="Century Gothic" pitchFamily="34" charset="0"/>
            </a:endParaRPr>
          </a:p>
          <a:p>
            <a:endParaRPr lang="en-US" dirty="0"/>
          </a:p>
        </p:txBody>
      </p:sp>
      <p:sp>
        <p:nvSpPr>
          <p:cNvPr id="4" name="Slide Number Placeholder 3"/>
          <p:cNvSpPr>
            <a:spLocks noGrp="1"/>
          </p:cNvSpPr>
          <p:nvPr>
            <p:ph type="sldNum" sz="quarter" idx="12"/>
          </p:nvPr>
        </p:nvSpPr>
        <p:spPr/>
        <p:txBody>
          <a:bodyPr/>
          <a:lstStyle/>
          <a:p>
            <a:fld id="{91D10D00-2BA4-4EFE-9A20-A49A608F2010}" type="slidenum">
              <a:rPr lang="en-US" smtClean="0"/>
              <a:t>9</a:t>
            </a:fld>
            <a:endParaRPr lang="en-US"/>
          </a:p>
        </p:txBody>
      </p:sp>
    </p:spTree>
    <p:extLst>
      <p:ext uri="{BB962C8B-B14F-4D97-AF65-F5344CB8AC3E}">
        <p14:creationId xmlns:p14="http://schemas.microsoft.com/office/powerpoint/2010/main" val="27617685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p>
        </p:txBody>
      </p:sp>
      <p:sp>
        <p:nvSpPr>
          <p:cNvPr id="3" name="Content Placeholder 2"/>
          <p:cNvSpPr>
            <a:spLocks noGrp="1"/>
          </p:cNvSpPr>
          <p:nvPr>
            <p:ph idx="1"/>
          </p:nvPr>
        </p:nvSpPr>
        <p:spPr/>
        <p:txBody>
          <a:bodyPr/>
          <a:lstStyle/>
          <a:p>
            <a:endParaRPr lang="en-US" dirty="0"/>
          </a:p>
          <a:p>
            <a:endParaRPr lang="en-US" dirty="0"/>
          </a:p>
        </p:txBody>
      </p:sp>
      <p:sp>
        <p:nvSpPr>
          <p:cNvPr id="4" name="Slide Number Placeholder 3"/>
          <p:cNvSpPr>
            <a:spLocks noGrp="1"/>
          </p:cNvSpPr>
          <p:nvPr>
            <p:ph type="sldNum" sz="quarter" idx="12"/>
          </p:nvPr>
        </p:nvSpPr>
        <p:spPr/>
        <p:txBody>
          <a:bodyPr/>
          <a:lstStyle/>
          <a:p>
            <a:fld id="{91D10D00-2BA4-4EFE-9A20-A49A608F2010}" type="slidenum">
              <a:rPr lang="en-US" smtClean="0"/>
              <a:t>10</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81000"/>
            <a:ext cx="86868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8148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382000" cy="762000"/>
          </a:xfrm>
          <a:solidFill>
            <a:schemeClr val="bg1"/>
          </a:solidFill>
        </p:spPr>
        <p:txBody>
          <a:bodyPr>
            <a:noAutofit/>
          </a:bodyPr>
          <a:lstStyle/>
          <a:p>
            <a:r>
              <a:rPr lang="en-US" sz="3600" b="1" i="1" dirty="0">
                <a:solidFill>
                  <a:srgbClr val="C00000"/>
                </a:solidFill>
                <a:latin typeface="Century Gothic" pitchFamily="34" charset="0"/>
              </a:rPr>
              <a:t/>
            </a:r>
            <a:br>
              <a:rPr lang="en-US" sz="3600" b="1" i="1" dirty="0">
                <a:solidFill>
                  <a:srgbClr val="C00000"/>
                </a:solidFill>
                <a:latin typeface="Century Gothic" pitchFamily="34" charset="0"/>
              </a:rPr>
            </a:br>
            <a:r>
              <a:rPr lang="en-US" sz="3600" b="1" i="1" dirty="0">
                <a:solidFill>
                  <a:srgbClr val="C00000"/>
                </a:solidFill>
                <a:latin typeface="Century Gothic" pitchFamily="34" charset="0"/>
              </a:rPr>
              <a:t>3. Referential Integrity Constraints</a:t>
            </a:r>
            <a:br>
              <a:rPr lang="en-US" sz="3600" b="1" i="1" dirty="0">
                <a:solidFill>
                  <a:srgbClr val="C00000"/>
                </a:solidFill>
                <a:latin typeface="Century Gothic" pitchFamily="34" charset="0"/>
              </a:rPr>
            </a:br>
            <a:endParaRPr lang="en-US" sz="3600" i="1" dirty="0">
              <a:solidFill>
                <a:srgbClr val="C00000"/>
              </a:solidFill>
              <a:latin typeface="Century Gothic" pitchFamily="34" charset="0"/>
            </a:endParaRPr>
          </a:p>
        </p:txBody>
      </p:sp>
      <p:sp>
        <p:nvSpPr>
          <p:cNvPr id="3" name="Content Placeholder 2"/>
          <p:cNvSpPr>
            <a:spLocks noGrp="1"/>
          </p:cNvSpPr>
          <p:nvPr>
            <p:ph idx="1"/>
          </p:nvPr>
        </p:nvSpPr>
        <p:spPr>
          <a:xfrm>
            <a:off x="152400" y="838200"/>
            <a:ext cx="8915400" cy="6248400"/>
          </a:xfrm>
        </p:spPr>
        <p:txBody>
          <a:bodyPr>
            <a:noAutofit/>
          </a:bodyPr>
          <a:lstStyle/>
          <a:p>
            <a:pPr algn="just">
              <a:lnSpc>
                <a:spcPct val="170000"/>
              </a:lnSpc>
              <a:buFont typeface="Wingdings" pitchFamily="2" charset="2"/>
              <a:buChar char="Ø"/>
            </a:pPr>
            <a:r>
              <a:rPr lang="en-US" sz="2000" i="1" dirty="0">
                <a:latin typeface="Times New Roman" panose="02020603050405020304" pitchFamily="18" charset="0"/>
                <a:cs typeface="Times New Roman" panose="02020603050405020304" pitchFamily="18" charset="0"/>
              </a:rPr>
              <a:t>Referential integrity </a:t>
            </a:r>
            <a:r>
              <a:rPr lang="en-US" sz="2000" dirty="0">
                <a:latin typeface="Times New Roman" panose="02020603050405020304" pitchFamily="18" charset="0"/>
                <a:cs typeface="Times New Roman" panose="02020603050405020304" pitchFamily="18" charset="0"/>
              </a:rPr>
              <a:t>requires that a foreign key must have a matching primary key or it must be null. </a:t>
            </a:r>
          </a:p>
          <a:p>
            <a:pPr algn="just">
              <a:lnSpc>
                <a:spcPct val="170000"/>
              </a:lnSpc>
              <a:buFont typeface="Wingdings" pitchFamily="2" charset="2"/>
              <a:buChar char="Ø"/>
            </a:pPr>
            <a:r>
              <a:rPr lang="en-US" sz="2000" dirty="0">
                <a:latin typeface="Times New Roman" panose="02020603050405020304" pitchFamily="18" charset="0"/>
                <a:cs typeface="Times New Roman" panose="02020603050405020304" pitchFamily="18" charset="0"/>
              </a:rPr>
              <a:t>This constraint is specified between two tables (parent and child); it maintains the correspondence between rows in these tables. </a:t>
            </a:r>
          </a:p>
          <a:p>
            <a:pPr algn="just">
              <a:lnSpc>
                <a:spcPct val="170000"/>
              </a:lnSpc>
              <a:buFont typeface="Wingdings" pitchFamily="2" charset="2"/>
              <a:buChar char="Ø"/>
            </a:pPr>
            <a:r>
              <a:rPr lang="en-US" sz="2000" dirty="0">
                <a:latin typeface="Times New Roman" panose="02020603050405020304" pitchFamily="18" charset="0"/>
                <a:cs typeface="Times New Roman" panose="02020603050405020304" pitchFamily="18" charset="0"/>
              </a:rPr>
              <a:t>It means the reference from a row in one table to another table must be valid. </a:t>
            </a:r>
          </a:p>
          <a:p>
            <a:pPr algn="just">
              <a:lnSpc>
                <a:spcPct val="170000"/>
              </a:lnSpc>
              <a:buFont typeface="Wingdings" pitchFamily="2" charset="2"/>
              <a:buChar char="Ø"/>
            </a:pPr>
            <a:r>
              <a:rPr lang="en-US" sz="2000" dirty="0">
                <a:latin typeface="Times New Roman" panose="02020603050405020304" pitchFamily="18" charset="0"/>
                <a:cs typeface="Times New Roman" panose="02020603050405020304" pitchFamily="18" charset="0"/>
              </a:rPr>
              <a:t> In the Referential integrity constraints, if a foreign key in Table 1 refers to the Primary Key of Table 2, then every value of the Foreign Key in Table 1 must be null or be available in Table 2</a:t>
            </a:r>
          </a:p>
          <a:p>
            <a:pPr marL="0" indent="0">
              <a:lnSpc>
                <a:spcPct val="150000"/>
              </a:lnSpc>
              <a:buNone/>
            </a:pP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1D10D00-2BA4-4EFE-9A20-A49A608F2010}" type="slidenum">
              <a:rPr lang="en-US" smtClean="0"/>
              <a:t>11</a:t>
            </a:fld>
            <a:endParaRPr lang="en-US"/>
          </a:p>
        </p:txBody>
      </p:sp>
    </p:spTree>
    <p:extLst>
      <p:ext uri="{BB962C8B-B14F-4D97-AF65-F5344CB8AC3E}">
        <p14:creationId xmlns:p14="http://schemas.microsoft.com/office/powerpoint/2010/main" val="600780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
          </a:xfrm>
        </p:spPr>
        <p:txBody>
          <a:bodyPr>
            <a:normAutofit fontScale="90000"/>
          </a:bodyPr>
          <a:lstStyle/>
          <a:p>
            <a:r>
              <a:rPr lang="en-US" dirty="0"/>
              <a:t>..</a:t>
            </a:r>
          </a:p>
        </p:txBody>
      </p:sp>
      <p:sp>
        <p:nvSpPr>
          <p:cNvPr id="3" name="Content Placeholder 2"/>
          <p:cNvSpPr>
            <a:spLocks noGrp="1"/>
          </p:cNvSpPr>
          <p:nvPr>
            <p:ph idx="1"/>
          </p:nvPr>
        </p:nvSpPr>
        <p:spPr>
          <a:xfrm>
            <a:off x="457200" y="152400"/>
            <a:ext cx="8229600" cy="5973763"/>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Examples of referential integrity constraint in the Customer/Order database of the Company:</a:t>
            </a:r>
          </a:p>
          <a:p>
            <a:pPr marL="0" indent="0">
              <a:lnSpc>
                <a:spcPct val="150000"/>
              </a:lnSpc>
              <a:buNone/>
            </a:pPr>
            <a:r>
              <a:rPr lang="en-US" sz="2000" dirty="0">
                <a:latin typeface="Times New Roman" panose="02020603050405020304" pitchFamily="18" charset="0"/>
                <a:cs typeface="Times New Roman" panose="02020603050405020304" pitchFamily="18" charset="0"/>
              </a:rPr>
              <a:t>  Customer(</a:t>
            </a:r>
            <a:r>
              <a:rPr lang="en-US" sz="2000" b="1" dirty="0" err="1">
                <a:latin typeface="Times New Roman" panose="02020603050405020304" pitchFamily="18" charset="0"/>
                <a:cs typeface="Times New Roman" panose="02020603050405020304" pitchFamily="18" charset="0"/>
              </a:rPr>
              <a:t>CustID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CustName</a:t>
            </a:r>
            <a:r>
              <a:rPr lang="en-US" sz="2000" dirty="0">
                <a:latin typeface="Times New Roman" panose="02020603050405020304" pitchFamily="18" charset="0"/>
                <a:cs typeface="Times New Roman" panose="02020603050405020304" pitchFamily="18" charset="0"/>
              </a:rPr>
              <a:t>)</a:t>
            </a:r>
          </a:p>
          <a:p>
            <a:pPr marL="0" indent="0">
              <a:lnSpc>
                <a:spcPct val="150000"/>
              </a:lnSpc>
              <a:buNone/>
            </a:pPr>
            <a:r>
              <a:rPr lang="en-US" sz="2000" dirty="0">
                <a:latin typeface="Times New Roman" panose="02020603050405020304" pitchFamily="18" charset="0"/>
                <a:cs typeface="Times New Roman" panose="02020603050405020304" pitchFamily="18" charset="0"/>
              </a:rPr>
              <a:t>   Order(</a:t>
            </a:r>
            <a:r>
              <a:rPr lang="en-US" sz="2000" b="1" dirty="0" err="1">
                <a:latin typeface="Times New Roman" panose="02020603050405020304" pitchFamily="18" charset="0"/>
                <a:cs typeface="Times New Roman" panose="02020603050405020304" pitchFamily="18" charset="0"/>
              </a:rPr>
              <a:t>OrderID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CustID</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OrderDate</a:t>
            </a:r>
            <a:r>
              <a:rPr lang="en-US" sz="2000" dirty="0">
                <a:latin typeface="Times New Roman" panose="02020603050405020304" pitchFamily="18" charset="0"/>
                <a:cs typeface="Times New Roman" panose="02020603050405020304" pitchFamily="18" charset="0"/>
              </a:rPr>
              <a:t>) </a:t>
            </a:r>
            <a:r>
              <a:rPr lang="en-US" sz="2400" dirty="0">
                <a:latin typeface="Century Gothic" pitchFamily="34" charset="0"/>
              </a:rPr>
              <a:t/>
            </a:r>
            <a:br>
              <a:rPr lang="en-US" sz="2400" dirty="0">
                <a:latin typeface="Century Gothic" pitchFamily="34" charset="0"/>
              </a:rPr>
            </a:br>
            <a:endParaRPr lang="en-US" sz="2400" dirty="0">
              <a:latin typeface="Century Gothic" pitchFamily="34" charset="0"/>
            </a:endParaRPr>
          </a:p>
        </p:txBody>
      </p:sp>
      <p:sp>
        <p:nvSpPr>
          <p:cNvPr id="4" name="Slide Number Placeholder 3"/>
          <p:cNvSpPr>
            <a:spLocks noGrp="1"/>
          </p:cNvSpPr>
          <p:nvPr>
            <p:ph type="sldNum" sz="quarter" idx="12"/>
          </p:nvPr>
        </p:nvSpPr>
        <p:spPr/>
        <p:txBody>
          <a:bodyPr/>
          <a:lstStyle/>
          <a:p>
            <a:fld id="{91D10D00-2BA4-4EFE-9A20-A49A608F2010}" type="slidenum">
              <a:rPr lang="en-US" smtClean="0"/>
              <a:t>12</a:t>
            </a:fld>
            <a:endParaRPr lang="en-US"/>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55519"/>
            <a:ext cx="8610600" cy="44500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8414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5775" y="213519"/>
            <a:ext cx="8229600" cy="487362"/>
          </a:xfrm>
        </p:spPr>
        <p:txBody>
          <a:bodyPr>
            <a:noAutofit/>
          </a:bodyPr>
          <a:lstStyle/>
          <a:p>
            <a:r>
              <a:rPr lang="en-US" sz="2800" b="1" i="1" dirty="0">
                <a:solidFill>
                  <a:srgbClr val="C00000"/>
                </a:solidFill>
                <a:latin typeface="Century Gothic" pitchFamily="34" charset="0"/>
              </a:rPr>
              <a:t/>
            </a:r>
            <a:br>
              <a:rPr lang="en-US" sz="2800" b="1" i="1" dirty="0">
                <a:solidFill>
                  <a:srgbClr val="C00000"/>
                </a:solidFill>
                <a:latin typeface="Century Gothic" pitchFamily="34" charset="0"/>
              </a:rPr>
            </a:br>
            <a:r>
              <a:rPr lang="en-US" sz="2800" b="1" i="1" dirty="0">
                <a:solidFill>
                  <a:srgbClr val="C00000"/>
                </a:solidFill>
                <a:latin typeface="Century Gothic" pitchFamily="34" charset="0"/>
              </a:rPr>
              <a:t>4. </a:t>
            </a:r>
            <a:r>
              <a:rPr lang="en-US" sz="3200" b="1" i="1" dirty="0">
                <a:solidFill>
                  <a:srgbClr val="C00000"/>
                </a:solidFill>
                <a:latin typeface="Times New Roman" panose="02020603050405020304" pitchFamily="18" charset="0"/>
                <a:cs typeface="Times New Roman" panose="02020603050405020304" pitchFamily="18" charset="0"/>
              </a:rPr>
              <a:t>Key constraints/Unique Constraint/</a:t>
            </a:r>
            <a:r>
              <a:rPr lang="en-US" sz="2800" b="1" i="1" dirty="0">
                <a:solidFill>
                  <a:srgbClr val="C00000"/>
                </a:solidFill>
                <a:latin typeface="Century Gothic" pitchFamily="34" charset="0"/>
              </a:rPr>
              <a:t/>
            </a:r>
            <a:br>
              <a:rPr lang="en-US" sz="2800" b="1" i="1" dirty="0">
                <a:solidFill>
                  <a:srgbClr val="C00000"/>
                </a:solidFill>
                <a:latin typeface="Century Gothic" pitchFamily="34" charset="0"/>
              </a:rPr>
            </a:br>
            <a:endParaRPr lang="en-US" sz="2800" b="1" i="1" dirty="0">
              <a:solidFill>
                <a:srgbClr val="C00000"/>
              </a:solidFill>
              <a:latin typeface="Century Gothic" pitchFamily="34" charset="0"/>
            </a:endParaRPr>
          </a:p>
        </p:txBody>
      </p:sp>
      <p:sp>
        <p:nvSpPr>
          <p:cNvPr id="3" name="Content Placeholder 2"/>
          <p:cNvSpPr>
            <a:spLocks noGrp="1"/>
          </p:cNvSpPr>
          <p:nvPr>
            <p:ph idx="1"/>
          </p:nvPr>
        </p:nvSpPr>
        <p:spPr>
          <a:xfrm>
            <a:off x="304800" y="457200"/>
            <a:ext cx="8839200" cy="6629400"/>
          </a:xfrm>
        </p:spPr>
        <p:txBody>
          <a:bodyPr>
            <a:normAutofit fontScale="25000" lnSpcReduction="20000"/>
          </a:bodyPr>
          <a:lstStyle/>
          <a:p>
            <a:endParaRPr lang="en-US" dirty="0"/>
          </a:p>
          <a:p>
            <a:pPr>
              <a:lnSpc>
                <a:spcPct val="220000"/>
              </a:lnSpc>
              <a:buFont typeface="Wingdings" pitchFamily="2" charset="2"/>
              <a:buChar char="Ø"/>
            </a:pPr>
            <a:r>
              <a:rPr lang="en-US" sz="8000" dirty="0">
                <a:latin typeface="Times New Roman" panose="02020603050405020304" pitchFamily="18" charset="0"/>
                <a:cs typeface="Times New Roman" panose="02020603050405020304" pitchFamily="18" charset="0"/>
              </a:rPr>
              <a:t> Keys are the entity set that is used to identify an entity within its entity set uniquely.</a:t>
            </a:r>
          </a:p>
          <a:p>
            <a:pPr>
              <a:lnSpc>
                <a:spcPct val="220000"/>
              </a:lnSpc>
              <a:buFont typeface="Wingdings" pitchFamily="2" charset="2"/>
              <a:buChar char="Ø"/>
            </a:pPr>
            <a:r>
              <a:rPr lang="en-US" sz="8000" dirty="0">
                <a:latin typeface="Times New Roman" panose="02020603050405020304" pitchFamily="18" charset="0"/>
                <a:cs typeface="Times New Roman" panose="02020603050405020304" pitchFamily="18" charset="0"/>
              </a:rPr>
              <a:t>A primary key can contain a unique and null value in the relational table.</a:t>
            </a:r>
          </a:p>
          <a:p>
            <a:pPr>
              <a:lnSpc>
                <a:spcPct val="220000"/>
              </a:lnSpc>
              <a:buFont typeface="Wingdings" pitchFamily="2" charset="2"/>
              <a:buChar char="Ø"/>
            </a:pPr>
            <a:r>
              <a:rPr lang="en-US" sz="8000" dirty="0">
                <a:latin typeface="Times New Roman" panose="02020603050405020304" pitchFamily="18" charset="0"/>
                <a:cs typeface="Times New Roman" panose="02020603050405020304" pitchFamily="18" charset="0"/>
              </a:rPr>
              <a:t>The UNIQUE constraint ensures that all values in a column are different.</a:t>
            </a:r>
          </a:p>
          <a:p>
            <a:pPr>
              <a:lnSpc>
                <a:spcPct val="220000"/>
              </a:lnSpc>
              <a:buFont typeface="Wingdings" pitchFamily="2" charset="2"/>
              <a:buChar char="Ø"/>
            </a:pPr>
            <a:r>
              <a:rPr lang="en-US" sz="8000" dirty="0">
                <a:latin typeface="Times New Roman" panose="02020603050405020304" pitchFamily="18" charset="0"/>
                <a:cs typeface="Times New Roman" panose="02020603050405020304" pitchFamily="18" charset="0"/>
              </a:rPr>
              <a:t>Both the UNIQUE and PRIMARY KEY constraints provide a guarantee for uniqueness for a column or set of columns.</a:t>
            </a:r>
          </a:p>
          <a:p>
            <a:pPr>
              <a:lnSpc>
                <a:spcPct val="220000"/>
              </a:lnSpc>
              <a:buFont typeface="Wingdings" pitchFamily="2" charset="2"/>
              <a:buChar char="Ø"/>
            </a:pPr>
            <a:r>
              <a:rPr lang="en-US" sz="8000" dirty="0">
                <a:latin typeface="Times New Roman" panose="02020603050405020304" pitchFamily="18" charset="0"/>
                <a:cs typeface="Times New Roman" panose="02020603050405020304" pitchFamily="18" charset="0"/>
              </a:rPr>
              <a:t>A PRIMARY KEY constraint automatically has a UNIQUE constraint.</a:t>
            </a:r>
          </a:p>
          <a:p>
            <a:pPr>
              <a:lnSpc>
                <a:spcPct val="220000"/>
              </a:lnSpc>
              <a:buFont typeface="Wingdings" pitchFamily="2" charset="2"/>
              <a:buChar char="Ø"/>
            </a:pPr>
            <a:r>
              <a:rPr lang="en-US" sz="8000" dirty="0">
                <a:latin typeface="Times New Roman" panose="02020603050405020304" pitchFamily="18" charset="0"/>
                <a:cs typeface="Times New Roman" panose="02020603050405020304" pitchFamily="18" charset="0"/>
              </a:rPr>
              <a:t>However, you can have many UNIQUE constraints per table, but only one PRIMARY KEY constraint per table. </a:t>
            </a:r>
            <a:br>
              <a:rPr lang="en-US" sz="8000" dirty="0">
                <a:latin typeface="Times New Roman" panose="02020603050405020304" pitchFamily="18" charset="0"/>
                <a:cs typeface="Times New Roman" panose="02020603050405020304" pitchFamily="18" charset="0"/>
              </a:rPr>
            </a:br>
            <a:r>
              <a:rPr lang="en-US" sz="8000" dirty="0">
                <a:latin typeface="Times New Roman" panose="02020603050405020304" pitchFamily="18" charset="0"/>
                <a:cs typeface="Times New Roman" panose="02020603050405020304" pitchFamily="18" charset="0"/>
              </a:rPr>
              <a:t> </a:t>
            </a:r>
          </a:p>
          <a:p>
            <a:pPr marL="0" indent="0">
              <a:lnSpc>
                <a:spcPct val="150000"/>
              </a:lnSpc>
              <a:buNone/>
            </a:pPr>
            <a:r>
              <a:rPr lang="en-US" dirty="0"/>
              <a:t/>
            </a:r>
            <a:br>
              <a:rPr lang="en-US" dirty="0"/>
            </a:br>
            <a:endParaRPr lang="en-US" dirty="0"/>
          </a:p>
        </p:txBody>
      </p:sp>
      <p:sp>
        <p:nvSpPr>
          <p:cNvPr id="4" name="Slide Number Placeholder 3"/>
          <p:cNvSpPr>
            <a:spLocks noGrp="1"/>
          </p:cNvSpPr>
          <p:nvPr>
            <p:ph type="sldNum" sz="quarter" idx="12"/>
          </p:nvPr>
        </p:nvSpPr>
        <p:spPr/>
        <p:txBody>
          <a:bodyPr/>
          <a:lstStyle/>
          <a:p>
            <a:fld id="{91D10D00-2BA4-4EFE-9A20-A49A608F2010}" type="slidenum">
              <a:rPr lang="en-US" smtClean="0"/>
              <a:t>13</a:t>
            </a:fld>
            <a:endParaRPr lang="en-US"/>
          </a:p>
        </p:txBody>
      </p:sp>
    </p:spTree>
    <p:extLst>
      <p:ext uri="{BB962C8B-B14F-4D97-AF65-F5344CB8AC3E}">
        <p14:creationId xmlns:p14="http://schemas.microsoft.com/office/powerpoint/2010/main" val="38981707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457200" y="228600"/>
            <a:ext cx="8229600" cy="46038"/>
          </a:xfrm>
        </p:spPr>
        <p:txBody>
          <a:bodyPr>
            <a:normAutofit fontScale="90000"/>
          </a:bodyPr>
          <a:lstStyle/>
          <a:p>
            <a:r>
              <a:rPr lang="en-US" dirty="0"/>
              <a:t>.</a:t>
            </a:r>
          </a:p>
        </p:txBody>
      </p:sp>
      <p:sp>
        <p:nvSpPr>
          <p:cNvPr id="3" name="Content Placeholder 2"/>
          <p:cNvSpPr>
            <a:spLocks noGrp="1"/>
          </p:cNvSpPr>
          <p:nvPr>
            <p:ph idx="1"/>
          </p:nvPr>
        </p:nvSpPr>
        <p:spPr>
          <a:xfrm>
            <a:off x="0" y="136525"/>
            <a:ext cx="9144000" cy="6521450"/>
          </a:xfrm>
        </p:spPr>
        <p:txBody>
          <a:bodyPr>
            <a:normAutofit/>
          </a:bodyPr>
          <a:lstStyle/>
          <a:p>
            <a:pPr marL="0" indent="0">
              <a:lnSpc>
                <a:spcPct val="150000"/>
              </a:lnSpc>
              <a:buNone/>
            </a:pPr>
            <a:r>
              <a:rPr lang="en-US" sz="2000" dirty="0">
                <a:latin typeface="Times New Roman" panose="02020603050405020304" pitchFamily="18" charset="0"/>
                <a:cs typeface="Times New Roman" panose="02020603050405020304" pitchFamily="18" charset="0"/>
              </a:rPr>
              <a:t>Key Constraint / Unique Constraint ensures that the values in a column must not repeat.</a:t>
            </a:r>
            <a:endParaRPr lang="en-US" sz="2000" dirty="0">
              <a:solidFill>
                <a:srgbClr val="C00000"/>
              </a:solidFill>
              <a:latin typeface="Times New Roman" panose="02020603050405020304" pitchFamily="18" charset="0"/>
              <a:cs typeface="Times New Roman" panose="02020603050405020304" pitchFamily="18" charset="0"/>
            </a:endParaRPr>
          </a:p>
          <a:p>
            <a:pPr>
              <a:lnSpc>
                <a:spcPct val="150000"/>
              </a:lnSpc>
            </a:pPr>
            <a:r>
              <a:rPr lang="en-US" sz="2000" dirty="0">
                <a:solidFill>
                  <a:srgbClr val="C00000"/>
                </a:solidFill>
                <a:latin typeface="Times New Roman" panose="02020603050405020304" pitchFamily="18" charset="0"/>
                <a:cs typeface="Times New Roman" panose="02020603050405020304" pitchFamily="18" charset="0"/>
              </a:rPr>
              <a:t>Examples: UNIQUE Constraint on CREATE TABLE</a:t>
            </a:r>
          </a:p>
          <a:p>
            <a:pPr marL="0" indent="0">
              <a:lnSpc>
                <a:spcPct val="150000"/>
              </a:lnSpc>
              <a:buNone/>
            </a:pPr>
            <a:r>
              <a:rPr lang="en-US" sz="2000" dirty="0">
                <a:latin typeface="Times New Roman" panose="02020603050405020304" pitchFamily="18" charset="0"/>
                <a:cs typeface="Times New Roman" panose="02020603050405020304" pitchFamily="18" charset="0"/>
              </a:rPr>
              <a:t>CREATE TABLE Persons</a:t>
            </a:r>
          </a:p>
          <a:p>
            <a:pPr marL="0" indent="0">
              <a:lnSpc>
                <a:spcPct val="150000"/>
              </a:lnSpc>
              <a:buNone/>
            </a:pPr>
            <a:r>
              <a:rPr lang="en-US" sz="2000" dirty="0">
                <a:latin typeface="Times New Roman" panose="02020603050405020304" pitchFamily="18" charset="0"/>
                <a:cs typeface="Times New Roman" panose="02020603050405020304" pitchFamily="18" charset="0"/>
              </a:rPr>
              <a:t> ( </a:t>
            </a:r>
          </a:p>
          <a:p>
            <a:pPr marL="0" indent="0">
              <a:lnSpc>
                <a:spcPct val="150000"/>
              </a:lnSpc>
              <a:buNone/>
            </a:pPr>
            <a:r>
              <a:rPr lang="en-US" sz="2000" dirty="0">
                <a:latin typeface="Times New Roman" panose="02020603050405020304" pitchFamily="18" charset="0"/>
                <a:cs typeface="Times New Roman" panose="02020603050405020304" pitchFamily="18" charset="0"/>
              </a:rPr>
              <a:t>ID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NOT NULL UNIQUE,</a:t>
            </a:r>
          </a:p>
          <a:p>
            <a:pPr marL="0" indent="0">
              <a:lnSpc>
                <a:spcPct val="150000"/>
              </a:lnSpc>
              <a:buNone/>
            </a:pP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LastName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varchar</a:t>
            </a:r>
            <a:r>
              <a:rPr lang="en-US" sz="2000" dirty="0">
                <a:latin typeface="Times New Roman" panose="02020603050405020304" pitchFamily="18" charset="0"/>
                <a:cs typeface="Times New Roman" panose="02020603050405020304" pitchFamily="18" charset="0"/>
              </a:rPr>
              <a:t>(255) NOT NULL UNIQUE, </a:t>
            </a:r>
          </a:p>
          <a:p>
            <a:pPr marL="0" indent="0">
              <a:lnSpc>
                <a:spcPct val="150000"/>
              </a:lnSpc>
              <a:buNone/>
            </a:pPr>
            <a:r>
              <a:rPr lang="en-US" sz="2000" dirty="0" err="1">
                <a:latin typeface="Times New Roman" panose="02020603050405020304" pitchFamily="18" charset="0"/>
                <a:cs typeface="Times New Roman" panose="02020603050405020304" pitchFamily="18" charset="0"/>
              </a:rPr>
              <a:t>FirstName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varchar</a:t>
            </a:r>
            <a:r>
              <a:rPr lang="en-US" sz="2000" dirty="0">
                <a:latin typeface="Times New Roman" panose="02020603050405020304" pitchFamily="18" charset="0"/>
                <a:cs typeface="Times New Roman" panose="02020603050405020304" pitchFamily="18" charset="0"/>
              </a:rPr>
              <a:t>(255), </a:t>
            </a:r>
          </a:p>
          <a:p>
            <a:pPr marL="0" indent="0">
              <a:lnSpc>
                <a:spcPct val="150000"/>
              </a:lnSpc>
              <a:buNone/>
            </a:pPr>
            <a:r>
              <a:rPr lang="en-US" sz="2000" dirty="0">
                <a:latin typeface="Times New Roman" panose="02020603050405020304" pitchFamily="18" charset="0"/>
                <a:cs typeface="Times New Roman" panose="02020603050405020304" pitchFamily="18" charset="0"/>
              </a:rPr>
              <a:t>Age </a:t>
            </a:r>
            <a:r>
              <a:rPr lang="en-US" sz="2000" dirty="0" err="1">
                <a:latin typeface="Times New Roman" panose="02020603050405020304" pitchFamily="18" charset="0"/>
                <a:cs typeface="Times New Roman" panose="02020603050405020304" pitchFamily="18" charset="0"/>
              </a:rPr>
              <a:t>int</a:t>
            </a:r>
            <a:r>
              <a:rPr lang="en-US" sz="2000" dirty="0">
                <a:latin typeface="Times New Roman" panose="02020603050405020304" pitchFamily="18" charset="0"/>
                <a:cs typeface="Times New Roman" panose="02020603050405020304" pitchFamily="18" charset="0"/>
              </a:rPr>
              <a:t> </a:t>
            </a:r>
          </a:p>
          <a:p>
            <a:pPr marL="0" indent="0">
              <a:lnSpc>
                <a:spcPct val="150000"/>
              </a:lnSpc>
              <a:buNone/>
            </a:pPr>
            <a:r>
              <a:rPr lang="en-US" sz="2000" dirty="0">
                <a:latin typeface="Times New Roman" panose="02020603050405020304" pitchFamily="18" charset="0"/>
                <a:cs typeface="Times New Roman" panose="02020603050405020304" pitchFamily="18" charset="0"/>
              </a:rPr>
              <a:t>); </a:t>
            </a:r>
            <a:r>
              <a:rPr lang="en-US" sz="1400" dirty="0">
                <a:latin typeface="Century Gothic" pitchFamily="34" charset="0"/>
              </a:rPr>
              <a:t/>
            </a:r>
            <a:br>
              <a:rPr lang="en-US" sz="1400" dirty="0">
                <a:latin typeface="Century Gothic" pitchFamily="34" charset="0"/>
              </a:rPr>
            </a:br>
            <a:endParaRPr lang="en-US" sz="1400" dirty="0">
              <a:latin typeface="Century Gothic" pitchFamily="34" charset="0"/>
            </a:endParaRPr>
          </a:p>
          <a:p>
            <a:endParaRPr lang="en-US" dirty="0"/>
          </a:p>
        </p:txBody>
      </p:sp>
      <p:sp>
        <p:nvSpPr>
          <p:cNvPr id="4" name="Slide Number Placeholder 3"/>
          <p:cNvSpPr>
            <a:spLocks noGrp="1"/>
          </p:cNvSpPr>
          <p:nvPr>
            <p:ph type="sldNum" sz="quarter" idx="12"/>
          </p:nvPr>
        </p:nvSpPr>
        <p:spPr/>
        <p:txBody>
          <a:bodyPr/>
          <a:lstStyle/>
          <a:p>
            <a:fld id="{91D10D00-2BA4-4EFE-9A20-A49A608F2010}" type="slidenum">
              <a:rPr lang="en-US" smtClean="0"/>
              <a:t>14</a:t>
            </a:fld>
            <a:endParaRPr lang="en-US"/>
          </a:p>
        </p:txBody>
      </p:sp>
    </p:spTree>
    <p:extLst>
      <p:ext uri="{BB962C8B-B14F-4D97-AF65-F5344CB8AC3E}">
        <p14:creationId xmlns:p14="http://schemas.microsoft.com/office/powerpoint/2010/main" val="2240658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67800" cy="609600"/>
          </a:xfrm>
          <a:solidFill>
            <a:srgbClr val="7030A0"/>
          </a:solidFill>
        </p:spPr>
        <p:txBody>
          <a:bodyPr>
            <a:normAutofit fontScale="90000"/>
          </a:bodyPr>
          <a:lstStyle/>
          <a:p>
            <a:r>
              <a:rPr lang="en-US" dirty="0"/>
              <a:t/>
            </a:r>
            <a:br>
              <a:rPr lang="en-US" dirty="0"/>
            </a:br>
            <a:r>
              <a:rPr lang="en-US" sz="6000" b="1" dirty="0">
                <a:latin typeface="Century Gothic" pitchFamily="34" charset="0"/>
              </a:rPr>
              <a:t>Database Security</a:t>
            </a:r>
            <a:r>
              <a:rPr lang="en-US" dirty="0"/>
              <a:t/>
            </a:r>
            <a:br>
              <a:rPr lang="en-US" dirty="0"/>
            </a:br>
            <a:endParaRPr lang="en-US" dirty="0"/>
          </a:p>
        </p:txBody>
      </p:sp>
      <p:sp>
        <p:nvSpPr>
          <p:cNvPr id="3" name="Content Placeholder 2"/>
          <p:cNvSpPr>
            <a:spLocks noGrp="1"/>
          </p:cNvSpPr>
          <p:nvPr>
            <p:ph idx="1"/>
          </p:nvPr>
        </p:nvSpPr>
        <p:spPr>
          <a:xfrm>
            <a:off x="228600" y="609600"/>
            <a:ext cx="8763000" cy="6248400"/>
          </a:xfrm>
        </p:spPr>
        <p:txBody>
          <a:bodyPr>
            <a:normAutofit/>
          </a:bodyPr>
          <a:lstStyle/>
          <a:p>
            <a:pPr lvl="0">
              <a:lnSpc>
                <a:spcPct val="170000"/>
              </a:lnSpc>
              <a:buFont typeface="Wingdings" panose="05000000000000000000" pitchFamily="2" charset="2"/>
              <a:buChar char="Ø"/>
            </a:pPr>
            <a:r>
              <a:rPr lang="en-US" sz="2000" dirty="0">
                <a:solidFill>
                  <a:prstClr val="black"/>
                </a:solidFill>
                <a:latin typeface="Times New Roman" panose="02020603050405020304" pitchFamily="18" charset="0"/>
                <a:cs typeface="Times New Roman" panose="02020603050405020304" pitchFamily="18" charset="0"/>
              </a:rPr>
              <a:t>Database security means protection of a database against unauthorized access, either intentional or unintentional</a:t>
            </a:r>
          </a:p>
          <a:p>
            <a:pPr lvl="0">
              <a:lnSpc>
                <a:spcPct val="170000"/>
              </a:lnSpc>
              <a:buFont typeface="Wingdings" panose="05000000000000000000" pitchFamily="2" charset="2"/>
              <a:buChar char="Ø"/>
            </a:pPr>
            <a:r>
              <a:rPr lang="en-US" sz="2000" dirty="0">
                <a:solidFill>
                  <a:prstClr val="black"/>
                </a:solidFill>
                <a:latin typeface="Times New Roman" panose="02020603050405020304" pitchFamily="18" charset="0"/>
                <a:cs typeface="Times New Roman" panose="02020603050405020304" pitchFamily="18" charset="0"/>
              </a:rPr>
              <a:t>Database security requires the mechanisms, that protect a database against the intentional or accidental threats</a:t>
            </a:r>
          </a:p>
          <a:p>
            <a:pPr lvl="0">
              <a:lnSpc>
                <a:spcPct val="170000"/>
              </a:lnSpc>
              <a:buFont typeface="Wingdings" panose="05000000000000000000" pitchFamily="2" charset="2"/>
              <a:buChar char="Ø"/>
            </a:pPr>
            <a:r>
              <a:rPr lang="en-US" sz="2000" i="1" dirty="0">
                <a:solidFill>
                  <a:srgbClr val="C00000"/>
                </a:solidFill>
                <a:latin typeface="Times New Roman" panose="02020603050405020304" pitchFamily="18" charset="0"/>
                <a:cs typeface="Times New Roman" panose="02020603050405020304" pitchFamily="18" charset="0"/>
              </a:rPr>
              <a:t>More generally speaking, database security is concerned with ensuring the secrecy, integrity, and availability of data stored in a database</a:t>
            </a:r>
            <a:r>
              <a:rPr lang="en-US" sz="2000" i="1" dirty="0">
                <a:solidFill>
                  <a:srgbClr val="C00000"/>
                </a:solidFill>
              </a:rPr>
              <a:t>.</a:t>
            </a:r>
          </a:p>
          <a:p>
            <a:pPr marL="0" indent="0" defTabSz="457200" fontAlgn="base">
              <a:spcBef>
                <a:spcPts val="475"/>
              </a:spcBef>
              <a:spcAft>
                <a:spcPct val="0"/>
              </a:spcAft>
              <a:buClr>
                <a:srgbClr val="FF0066"/>
              </a:buClr>
              <a:buFont typeface="Wingdings" panose="05000000000000000000" pitchFamily="2" charset="2"/>
              <a:buChar char=""/>
            </a:pPr>
            <a:r>
              <a:rPr lang="en-US" sz="2000" i="1" dirty="0">
                <a:solidFill>
                  <a:srgbClr val="C00000"/>
                </a:solidFill>
              </a:rPr>
              <a:t> </a:t>
            </a:r>
            <a:r>
              <a:rPr lang="en-US" altLang="en-US" sz="1900" dirty="0">
                <a:solidFill>
                  <a:srgbClr val="0000CC"/>
                </a:solidFill>
                <a:latin typeface="Times New Roman" panose="02020603050405020304" pitchFamily="18" charset="0"/>
                <a:cs typeface="Times New Roman" panose="02020603050405020304" pitchFamily="18" charset="0"/>
              </a:rPr>
              <a:t>Threat</a:t>
            </a:r>
            <a:r>
              <a:rPr lang="en-US" altLang="en-US" sz="1900" dirty="0">
                <a:solidFill>
                  <a:srgbClr val="FFFFFF"/>
                </a:solidFill>
                <a:latin typeface="Times New Roman" panose="02020603050405020304" pitchFamily="18" charset="0"/>
                <a:cs typeface="Times New Roman" panose="02020603050405020304" pitchFamily="18" charset="0"/>
              </a:rPr>
              <a:t> </a:t>
            </a:r>
            <a:r>
              <a:rPr lang="en-US" altLang="en-US" sz="1900" dirty="0">
                <a:latin typeface="Times New Roman" panose="02020603050405020304" pitchFamily="18" charset="0"/>
                <a:cs typeface="Times New Roman" panose="02020603050405020304" pitchFamily="18" charset="0"/>
              </a:rPr>
              <a:t>may be any situation or event, whether intentional or accidental, that may adversely affect a system and consequently the organization</a:t>
            </a:r>
          </a:p>
          <a:p>
            <a:pPr marL="0" lvl="0" indent="0" defTabSz="457200" fontAlgn="base">
              <a:spcBef>
                <a:spcPts val="475"/>
              </a:spcBef>
              <a:spcAft>
                <a:spcPct val="0"/>
              </a:spcAft>
              <a:buClr>
                <a:srgbClr val="FF0066"/>
              </a:buClr>
              <a:buNone/>
            </a:pPr>
            <a:r>
              <a:rPr lang="en-US" altLang="en-US" sz="1900" dirty="0">
                <a:solidFill>
                  <a:srgbClr val="FFFFFF"/>
                </a:solidFill>
                <a:latin typeface="Times New Roman" panose="02020603050405020304" pitchFamily="18" charset="0"/>
                <a:cs typeface="Times New Roman" panose="02020603050405020304" pitchFamily="18" charset="0"/>
              </a:rPr>
              <a:t>y be any situation or event, whether intentional or accidental, that may adversely affect a system and consequently the organization</a:t>
            </a:r>
          </a:p>
          <a:p>
            <a:pPr marL="0" lvl="0" indent="0">
              <a:lnSpc>
                <a:spcPct val="170000"/>
              </a:lnSpc>
              <a:buNone/>
            </a:pPr>
            <a:r>
              <a:rPr lang="en-US" sz="2000" dirty="0">
                <a:solidFill>
                  <a:prstClr val="black"/>
                </a:solidFill>
              </a:rPr>
              <a:t/>
            </a:r>
            <a:br>
              <a:rPr lang="en-US" sz="2000" dirty="0">
                <a:solidFill>
                  <a:prstClr val="black"/>
                </a:solidFill>
              </a:rPr>
            </a:br>
            <a:endParaRPr lang="en-US" sz="2000" dirty="0"/>
          </a:p>
        </p:txBody>
      </p:sp>
      <p:sp>
        <p:nvSpPr>
          <p:cNvPr id="4" name="Slide Number Placeholder 3"/>
          <p:cNvSpPr>
            <a:spLocks noGrp="1"/>
          </p:cNvSpPr>
          <p:nvPr>
            <p:ph type="sldNum" sz="quarter" idx="12"/>
          </p:nvPr>
        </p:nvSpPr>
        <p:spPr/>
        <p:txBody>
          <a:bodyPr/>
          <a:lstStyle/>
          <a:p>
            <a:fld id="{91D10D00-2BA4-4EFE-9A20-A49A608F2010}" type="slidenum">
              <a:rPr lang="en-US" smtClean="0"/>
              <a:t>15</a:t>
            </a:fld>
            <a:endParaRPr lang="en-US"/>
          </a:p>
        </p:txBody>
      </p:sp>
    </p:spTree>
    <p:extLst>
      <p:ext uri="{BB962C8B-B14F-4D97-AF65-F5344CB8AC3E}">
        <p14:creationId xmlns:p14="http://schemas.microsoft.com/office/powerpoint/2010/main" val="1514702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CCCF0C-4C66-41A4-80EE-16ACDEDC8ABE}"/>
              </a:ext>
            </a:extLst>
          </p:cNvPr>
          <p:cNvSpPr>
            <a:spLocks noGrp="1"/>
          </p:cNvSpPr>
          <p:nvPr>
            <p:ph type="title"/>
          </p:nvPr>
        </p:nvSpPr>
        <p:spPr>
          <a:xfrm>
            <a:off x="457200" y="136525"/>
            <a:ext cx="8229600" cy="365126"/>
          </a:xfrm>
        </p:spPr>
        <p:txBody>
          <a:bodyPr>
            <a:normAutofit fontScale="90000"/>
          </a:bodyPr>
          <a:lstStyle/>
          <a:p>
            <a:r>
              <a:rPr lang="en-US"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xmlns="" id="{79294604-CDA7-443D-929D-73D6FA929D64}"/>
              </a:ext>
            </a:extLst>
          </p:cNvPr>
          <p:cNvSpPr>
            <a:spLocks noGrp="1"/>
          </p:cNvSpPr>
          <p:nvPr>
            <p:ph idx="1"/>
          </p:nvPr>
        </p:nvSpPr>
        <p:spPr>
          <a:xfrm>
            <a:off x="0" y="501651"/>
            <a:ext cx="9144000" cy="6356349"/>
          </a:xfrm>
        </p:spPr>
        <p:txBody>
          <a:bodyPr>
            <a:normAutofit fontScale="25000" lnSpcReduction="20000"/>
          </a:bodyPr>
          <a:lstStyle/>
          <a:p>
            <a:pPr>
              <a:lnSpc>
                <a:spcPct val="170000"/>
              </a:lnSpc>
              <a:spcBef>
                <a:spcPts val="500"/>
              </a:spcBef>
              <a:buClr>
                <a:srgbClr val="FF3399"/>
              </a:buClr>
              <a:buFont typeface="Wingdings" panose="05000000000000000000" pitchFamily="2" charset="2"/>
              <a:buChar char=""/>
            </a:pPr>
            <a:r>
              <a:rPr lang="en-US" altLang="en-US" sz="7200" dirty="0">
                <a:solidFill>
                  <a:srgbClr val="0000CC"/>
                </a:solidFill>
                <a:latin typeface="Times New Roman" panose="02020603050405020304" pitchFamily="18" charset="0"/>
              </a:rPr>
              <a:t>Threats to databases : </a:t>
            </a:r>
            <a:r>
              <a:rPr lang="en-US" altLang="en-US" sz="7200" dirty="0">
                <a:latin typeface="Times New Roman" panose="02020603050405020304" pitchFamily="18" charset="0"/>
              </a:rPr>
              <a:t>It may results in degradation of some/all  security goals like;</a:t>
            </a:r>
          </a:p>
          <a:p>
            <a:pPr lvl="1">
              <a:lnSpc>
                <a:spcPct val="170000"/>
              </a:lnSpc>
              <a:spcBef>
                <a:spcPts val="500"/>
              </a:spcBef>
              <a:buClr>
                <a:srgbClr val="FF0066"/>
              </a:buClr>
              <a:buFont typeface="Wingdings" panose="05000000000000000000" pitchFamily="2" charset="2"/>
              <a:buChar char=""/>
            </a:pPr>
            <a:r>
              <a:rPr lang="en-US" altLang="en-US" sz="7200" dirty="0">
                <a:solidFill>
                  <a:srgbClr val="0000CC"/>
                </a:solidFill>
                <a:latin typeface="Times New Roman" panose="02020603050405020304" pitchFamily="18" charset="0"/>
              </a:rPr>
              <a:t>Loss of Integrity</a:t>
            </a:r>
          </a:p>
          <a:p>
            <a:pPr lvl="2">
              <a:lnSpc>
                <a:spcPct val="170000"/>
              </a:lnSpc>
              <a:spcBef>
                <a:spcPts val="500"/>
              </a:spcBef>
              <a:buClr>
                <a:srgbClr val="FF0066"/>
              </a:buClr>
              <a:buFont typeface="Wingdings" panose="05000000000000000000" pitchFamily="2" charset="2"/>
              <a:buChar char=""/>
            </a:pPr>
            <a:r>
              <a:rPr lang="en-US" altLang="en-US" sz="7200" i="1" dirty="0">
                <a:latin typeface="Times New Roman" panose="02020603050405020304" pitchFamily="18" charset="0"/>
              </a:rPr>
              <a:t>Only authorized users should be allowed to modify data.  </a:t>
            </a:r>
          </a:p>
          <a:p>
            <a:pPr lvl="2">
              <a:lnSpc>
                <a:spcPct val="170000"/>
              </a:lnSpc>
              <a:spcBef>
                <a:spcPts val="500"/>
              </a:spcBef>
              <a:buClr>
                <a:srgbClr val="FF0066"/>
              </a:buClr>
              <a:buFont typeface="Wingdings" panose="05000000000000000000" pitchFamily="2" charset="2"/>
              <a:buChar char=""/>
            </a:pPr>
            <a:r>
              <a:rPr lang="en-US" altLang="en-US" sz="7200" i="1" dirty="0">
                <a:latin typeface="Times New Roman" panose="02020603050405020304" pitchFamily="18" charset="0"/>
              </a:rPr>
              <a:t>For example, students may be allowed to see their grades, but not allowed to modify them.</a:t>
            </a:r>
          </a:p>
          <a:p>
            <a:pPr lvl="1">
              <a:lnSpc>
                <a:spcPct val="170000"/>
              </a:lnSpc>
              <a:spcBef>
                <a:spcPts val="500"/>
              </a:spcBef>
              <a:buClr>
                <a:srgbClr val="FF0066"/>
              </a:buClr>
              <a:buFont typeface="Wingdings" panose="05000000000000000000" pitchFamily="2" charset="2"/>
              <a:buChar char=""/>
            </a:pPr>
            <a:r>
              <a:rPr lang="en-US" altLang="en-US" sz="7200" dirty="0">
                <a:solidFill>
                  <a:srgbClr val="0000CC"/>
                </a:solidFill>
                <a:latin typeface="Times New Roman" panose="02020603050405020304" pitchFamily="18" charset="0"/>
              </a:rPr>
              <a:t>Loss of Availability-</a:t>
            </a:r>
            <a:r>
              <a:rPr lang="en-US" altLang="en-US" sz="7200" dirty="0">
                <a:latin typeface="Times New Roman" panose="02020603050405020304" pitchFamily="18" charset="0"/>
              </a:rPr>
              <a:t>if DB is not available for those users/ to which they have a legal right to uses the data</a:t>
            </a:r>
          </a:p>
          <a:p>
            <a:pPr lvl="2">
              <a:lnSpc>
                <a:spcPct val="170000"/>
              </a:lnSpc>
              <a:spcBef>
                <a:spcPts val="500"/>
              </a:spcBef>
            </a:pPr>
            <a:r>
              <a:rPr lang="en-US" altLang="en-US" sz="7200" dirty="0">
                <a:latin typeface="Times New Roman" panose="02020603050405020304" pitchFamily="18" charset="0"/>
              </a:rPr>
              <a:t>Authorized users should not be denied access. </a:t>
            </a:r>
          </a:p>
          <a:p>
            <a:pPr lvl="2">
              <a:lnSpc>
                <a:spcPct val="170000"/>
              </a:lnSpc>
              <a:spcBef>
                <a:spcPts val="500"/>
              </a:spcBef>
            </a:pPr>
            <a:r>
              <a:rPr lang="en-US" altLang="en-US" sz="7200" dirty="0">
                <a:latin typeface="Times New Roman" panose="02020603050405020304" pitchFamily="18" charset="0"/>
              </a:rPr>
              <a:t>For example, an instructor who wishes to change a grade should be allowed to do so.</a:t>
            </a:r>
          </a:p>
          <a:p>
            <a:pPr lvl="1">
              <a:lnSpc>
                <a:spcPct val="170000"/>
              </a:lnSpc>
              <a:spcBef>
                <a:spcPts val="500"/>
              </a:spcBef>
              <a:buClr>
                <a:srgbClr val="FF0066"/>
              </a:buClr>
              <a:buFont typeface="Wingdings" panose="05000000000000000000" pitchFamily="2" charset="2"/>
              <a:buChar char=""/>
            </a:pPr>
            <a:r>
              <a:rPr lang="en-US" altLang="en-US" sz="7200" dirty="0">
                <a:solidFill>
                  <a:srgbClr val="0000CC"/>
                </a:solidFill>
                <a:latin typeface="Times New Roman" panose="02020603050405020304" pitchFamily="18" charset="0"/>
              </a:rPr>
              <a:t>Loss of Confidentiality </a:t>
            </a:r>
          </a:p>
          <a:p>
            <a:pPr lvl="3">
              <a:lnSpc>
                <a:spcPct val="170000"/>
              </a:lnSpc>
              <a:buClr>
                <a:srgbClr val="FF0066"/>
              </a:buClr>
              <a:buFont typeface="Wingdings" panose="05000000000000000000" pitchFamily="2" charset="2"/>
              <a:buChar char=""/>
            </a:pPr>
            <a:r>
              <a:rPr lang="en-US" altLang="en-US" sz="7200" dirty="0">
                <a:latin typeface="Times New Roman" panose="02020603050405020304" pitchFamily="18" charset="0"/>
              </a:rPr>
              <a:t>Information should not be disclosed to unauthorized users.</a:t>
            </a:r>
          </a:p>
          <a:p>
            <a:pPr lvl="3">
              <a:lnSpc>
                <a:spcPct val="170000"/>
              </a:lnSpc>
              <a:buClr>
                <a:srgbClr val="FF0066"/>
              </a:buClr>
              <a:buFont typeface="Wingdings" panose="05000000000000000000" pitchFamily="2" charset="2"/>
              <a:buChar char=""/>
            </a:pPr>
            <a:r>
              <a:rPr lang="en-US" altLang="en-US" sz="7200" dirty="0">
                <a:latin typeface="Times New Roman" panose="02020603050405020304" pitchFamily="18" charset="0"/>
              </a:rPr>
              <a:t> For example, a student should not be allowed to examine other students' grades.</a:t>
            </a:r>
          </a:p>
          <a:p>
            <a:endParaRPr lang="en-US" dirty="0"/>
          </a:p>
        </p:txBody>
      </p:sp>
      <p:sp>
        <p:nvSpPr>
          <p:cNvPr id="4" name="Slide Number Placeholder 3">
            <a:extLst>
              <a:ext uri="{FF2B5EF4-FFF2-40B4-BE49-F238E27FC236}">
                <a16:creationId xmlns:a16="http://schemas.microsoft.com/office/drawing/2014/main" xmlns="" id="{DFF9A522-B1C7-45AD-AC6A-E1C431B8CB48}"/>
              </a:ext>
            </a:extLst>
          </p:cNvPr>
          <p:cNvSpPr>
            <a:spLocks noGrp="1"/>
          </p:cNvSpPr>
          <p:nvPr>
            <p:ph type="sldNum" sz="quarter" idx="12"/>
          </p:nvPr>
        </p:nvSpPr>
        <p:spPr/>
        <p:txBody>
          <a:bodyPr/>
          <a:lstStyle/>
          <a:p>
            <a:fld id="{91D10D00-2BA4-4EFE-9A20-A49A608F2010}" type="slidenum">
              <a:rPr lang="en-US" smtClean="0"/>
              <a:t>16</a:t>
            </a:fld>
            <a:endParaRPr lang="en-US" dirty="0"/>
          </a:p>
        </p:txBody>
      </p:sp>
    </p:spTree>
    <p:extLst>
      <p:ext uri="{BB962C8B-B14F-4D97-AF65-F5344CB8AC3E}">
        <p14:creationId xmlns:p14="http://schemas.microsoft.com/office/powerpoint/2010/main" val="4186312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6525"/>
            <a:ext cx="8229600" cy="685800"/>
          </a:xfrm>
        </p:spPr>
        <p:txBody>
          <a:bodyPr>
            <a:noAutofit/>
          </a:bodyPr>
          <a:lstStyle/>
          <a:p>
            <a:r>
              <a:rPr lang="en-US" sz="3200" dirty="0">
                <a:solidFill>
                  <a:srgbClr val="C00000"/>
                </a:solidFill>
                <a:latin typeface="Times New Roman" panose="02020603050405020304" pitchFamily="18" charset="0"/>
                <a:cs typeface="Times New Roman" panose="02020603050405020304" pitchFamily="18" charset="0"/>
              </a:rPr>
              <a:t>Security attackers</a:t>
            </a:r>
          </a:p>
        </p:txBody>
      </p:sp>
      <p:sp>
        <p:nvSpPr>
          <p:cNvPr id="3" name="Content Placeholder 2"/>
          <p:cNvSpPr>
            <a:spLocks noGrp="1"/>
          </p:cNvSpPr>
          <p:nvPr>
            <p:ph idx="1"/>
          </p:nvPr>
        </p:nvSpPr>
        <p:spPr>
          <a:xfrm>
            <a:off x="0" y="-228600"/>
            <a:ext cx="9144000" cy="7086600"/>
          </a:xfrm>
        </p:spPr>
        <p:txBody>
          <a:bodyPr anchor="ctr">
            <a:normAutofit/>
          </a:bodyPr>
          <a:lstStyle/>
          <a:p>
            <a:pPr marL="0" indent="0">
              <a:lnSpc>
                <a:spcPct val="150000"/>
              </a:lnSpc>
              <a:buNone/>
            </a:pPr>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In database security attackers are divided into three segments that are – </a:t>
            </a:r>
          </a:p>
          <a:p>
            <a:pPr marL="0" indent="0">
              <a:lnSpc>
                <a:spcPct val="150000"/>
              </a:lnSpc>
              <a:buNone/>
            </a:pPr>
            <a:r>
              <a:rPr lang="en-US" sz="2000" b="1" dirty="0">
                <a:solidFill>
                  <a:srgbClr val="C00000"/>
                </a:solidFill>
                <a:latin typeface="Times New Roman" panose="02020603050405020304" pitchFamily="18" charset="0"/>
                <a:cs typeface="Times New Roman" panose="02020603050405020304" pitchFamily="18" charset="0"/>
              </a:rPr>
              <a:t>Administrator</a:t>
            </a:r>
          </a:p>
          <a:p>
            <a:pPr>
              <a:lnSpc>
                <a:spcPct val="150000"/>
              </a:lnSpc>
            </a:pPr>
            <a:r>
              <a:rPr lang="en-US" sz="2000" dirty="0">
                <a:latin typeface="Times New Roman" panose="02020603050405020304" pitchFamily="18" charset="0"/>
                <a:cs typeface="Times New Roman" panose="02020603050405020304" pitchFamily="18" charset="0"/>
              </a:rPr>
              <a:t>An admin is an authorized person who has permission to control the system but misuses his/her privileges against the security policies to get the important information.</a:t>
            </a:r>
          </a:p>
          <a:p>
            <a:pPr marL="0" indent="0">
              <a:lnSpc>
                <a:spcPct val="150000"/>
              </a:lnSpc>
              <a:buNone/>
            </a:pPr>
            <a:r>
              <a:rPr lang="en-US" sz="2000" b="1" dirty="0">
                <a:latin typeface="Times New Roman" panose="02020603050405020304" pitchFamily="18" charset="0"/>
                <a:cs typeface="Times New Roman" panose="02020603050405020304" pitchFamily="18" charset="0"/>
              </a:rPr>
              <a:t> </a:t>
            </a:r>
            <a:r>
              <a:rPr lang="en-US" sz="2000" b="1" dirty="0">
                <a:solidFill>
                  <a:srgbClr val="C00000"/>
                </a:solidFill>
                <a:latin typeface="Times New Roman" panose="02020603050405020304" pitchFamily="18" charset="0"/>
                <a:cs typeface="Times New Roman" panose="02020603050405020304" pitchFamily="18" charset="0"/>
              </a:rPr>
              <a:t>Insider</a:t>
            </a:r>
          </a:p>
          <a:p>
            <a:pPr>
              <a:lnSpc>
                <a:spcPct val="150000"/>
              </a:lnSpc>
            </a:pPr>
            <a:r>
              <a:rPr lang="en-US" sz="2000" dirty="0">
                <a:latin typeface="Times New Roman" panose="02020603050405020304" pitchFamily="18" charset="0"/>
                <a:cs typeface="Times New Roman" panose="02020603050405020304" pitchFamily="18" charset="0"/>
              </a:rPr>
              <a:t>An insider is also a member of trusted committee in an organization but did misuse of his/her authority and want to get some sensitive or any other important information</a:t>
            </a:r>
            <a:br>
              <a:rPr lang="en-US" sz="2000" dirty="0">
                <a:latin typeface="Times New Roman" panose="02020603050405020304" pitchFamily="18" charset="0"/>
                <a:cs typeface="Times New Roman" panose="02020603050405020304" pitchFamily="18" charset="0"/>
              </a:rPr>
            </a:br>
            <a:r>
              <a:rPr lang="en-US" sz="2000" b="1" dirty="0">
                <a:solidFill>
                  <a:srgbClr val="C00000"/>
                </a:solidFill>
                <a:latin typeface="Times New Roman" panose="02020603050405020304" pitchFamily="18" charset="0"/>
                <a:cs typeface="Times New Roman" panose="02020603050405020304" pitchFamily="18" charset="0"/>
              </a:rPr>
              <a:t>Intruder</a:t>
            </a:r>
          </a:p>
          <a:p>
            <a:pPr>
              <a:lnSpc>
                <a:spcPct val="150000"/>
              </a:lnSpc>
            </a:pPr>
            <a:r>
              <a:rPr lang="en-US" sz="2000" dirty="0">
                <a:latin typeface="Times New Roman" panose="02020603050405020304" pitchFamily="18" charset="0"/>
                <a:cs typeface="Times New Roman" panose="02020603050405020304" pitchFamily="18" charset="0"/>
              </a:rPr>
              <a:t>An intruder is not a part of an organization. </a:t>
            </a:r>
          </a:p>
          <a:p>
            <a:pPr>
              <a:lnSpc>
                <a:spcPct val="150000"/>
              </a:lnSpc>
            </a:pPr>
            <a:r>
              <a:rPr lang="en-US" sz="2000" dirty="0">
                <a:latin typeface="Times New Roman" panose="02020603050405020304" pitchFamily="18" charset="0"/>
                <a:cs typeface="Times New Roman" panose="02020603050405020304" pitchFamily="18" charset="0"/>
              </a:rPr>
              <a:t>Actually he/she is unauthorized person who access the personal data of an organization and want to get the sensitive information.</a:t>
            </a:r>
          </a:p>
        </p:txBody>
      </p:sp>
      <p:sp>
        <p:nvSpPr>
          <p:cNvPr id="4" name="Slide Number Placeholder 3"/>
          <p:cNvSpPr>
            <a:spLocks noGrp="1"/>
          </p:cNvSpPr>
          <p:nvPr>
            <p:ph type="sldNum" sz="quarter" idx="12"/>
          </p:nvPr>
        </p:nvSpPr>
        <p:spPr/>
        <p:txBody>
          <a:bodyPr/>
          <a:lstStyle/>
          <a:p>
            <a:fld id="{91D10D00-2BA4-4EFE-9A20-A49A608F2010}" type="slidenum">
              <a:rPr lang="en-US" smtClean="0"/>
              <a:t>17</a:t>
            </a:fld>
            <a:endParaRPr lang="en-US"/>
          </a:p>
        </p:txBody>
      </p:sp>
    </p:spTree>
    <p:extLst>
      <p:ext uri="{BB962C8B-B14F-4D97-AF65-F5344CB8AC3E}">
        <p14:creationId xmlns:p14="http://schemas.microsoft.com/office/powerpoint/2010/main" val="2281709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normAutofit fontScale="90000"/>
          </a:bodyPr>
          <a:lstStyle/>
          <a:p>
            <a:r>
              <a:rPr lang="en-US" dirty="0"/>
              <a:t/>
            </a:r>
            <a:br>
              <a:rPr lang="en-US" dirty="0"/>
            </a:br>
            <a:r>
              <a:rPr lang="en-US" dirty="0"/>
              <a:t>Database Security Properties </a:t>
            </a:r>
            <a:br>
              <a:rPr lang="en-US" dirty="0"/>
            </a:br>
            <a:endParaRPr lang="en-US" dirty="0"/>
          </a:p>
        </p:txBody>
      </p:sp>
      <p:sp>
        <p:nvSpPr>
          <p:cNvPr id="3" name="Content Placeholder 2"/>
          <p:cNvSpPr>
            <a:spLocks noGrp="1"/>
          </p:cNvSpPr>
          <p:nvPr>
            <p:ph idx="1"/>
          </p:nvPr>
        </p:nvSpPr>
        <p:spPr/>
        <p:txBody>
          <a:bodyPr/>
          <a:lstStyle/>
          <a:p>
            <a:endParaRPr lang="en-US" dirty="0"/>
          </a:p>
          <a:p>
            <a:endParaRPr lang="en-US" dirty="0"/>
          </a:p>
        </p:txBody>
      </p:sp>
      <p:sp>
        <p:nvSpPr>
          <p:cNvPr id="4" name="Slide Number Placeholder 3"/>
          <p:cNvSpPr>
            <a:spLocks noGrp="1"/>
          </p:cNvSpPr>
          <p:nvPr>
            <p:ph type="sldNum" sz="quarter" idx="12"/>
          </p:nvPr>
        </p:nvSpPr>
        <p:spPr/>
        <p:txBody>
          <a:bodyPr/>
          <a:lstStyle/>
          <a:p>
            <a:fld id="{91D10D00-2BA4-4EFE-9A20-A49A608F2010}" type="slidenum">
              <a:rPr lang="en-US" smtClean="0"/>
              <a:t>18</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731838"/>
            <a:ext cx="4724400" cy="338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4157948"/>
            <a:ext cx="4648200" cy="2549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334000" y="533399"/>
            <a:ext cx="3581400" cy="6697346"/>
          </a:xfrm>
          <a:prstGeom prst="rect">
            <a:avLst/>
          </a:prstGeom>
        </p:spPr>
        <p:txBody>
          <a:bodyPr wrap="square">
            <a:spAutoFit/>
          </a:bodyPr>
          <a:lstStyle/>
          <a:p>
            <a:pPr marL="285750" indent="-285750">
              <a:lnSpc>
                <a:spcPct val="150000"/>
              </a:lnSpc>
              <a:buBlip>
                <a:blip r:embed="rId4"/>
              </a:buBlip>
            </a:pPr>
            <a:r>
              <a:rPr lang="en-US" dirty="0">
                <a:latin typeface="Times New Roman" panose="02020603050405020304" pitchFamily="18" charset="0"/>
                <a:cs typeface="Times New Roman" panose="02020603050405020304" pitchFamily="18" charset="0"/>
              </a:rPr>
              <a:t>The security of data basically requires three things-Confidentiality, Integrity and Availability. Where </a:t>
            </a:r>
            <a:r>
              <a:rPr lang="en-US" b="1" dirty="0">
                <a:solidFill>
                  <a:srgbClr val="C00000"/>
                </a:solidFill>
                <a:latin typeface="Times New Roman" panose="02020603050405020304" pitchFamily="18" charset="0"/>
                <a:cs typeface="Times New Roman" panose="02020603050405020304" pitchFamily="18" charset="0"/>
              </a:rPr>
              <a:t>Confidentiality</a:t>
            </a:r>
            <a:r>
              <a:rPr lang="en-US" dirty="0">
                <a:latin typeface="Times New Roman" panose="02020603050405020304" pitchFamily="18" charset="0"/>
                <a:cs typeface="Times New Roman" panose="02020603050405020304" pitchFamily="18" charset="0"/>
              </a:rPr>
              <a:t> means the data must be used by an authorized person, </a:t>
            </a:r>
            <a:r>
              <a:rPr lang="en-US" b="1" dirty="0">
                <a:solidFill>
                  <a:srgbClr val="C00000"/>
                </a:solidFill>
                <a:latin typeface="Times New Roman" panose="02020603050405020304" pitchFamily="18" charset="0"/>
                <a:cs typeface="Times New Roman" panose="02020603050405020304" pitchFamily="18" charset="0"/>
              </a:rPr>
              <a:t>Integrity </a:t>
            </a:r>
            <a:r>
              <a:rPr lang="en-US" dirty="0">
                <a:latin typeface="Times New Roman" panose="02020603050405020304" pitchFamily="18" charset="0"/>
                <a:cs typeface="Times New Roman" panose="02020603050405020304" pitchFamily="18" charset="0"/>
              </a:rPr>
              <a:t>means the data must be controlled by an authorized person in an authorized manner and </a:t>
            </a:r>
            <a:r>
              <a:rPr lang="en-US" b="1" dirty="0">
                <a:solidFill>
                  <a:srgbClr val="C00000"/>
                </a:solidFill>
                <a:latin typeface="Times New Roman" panose="02020603050405020304" pitchFamily="18" charset="0"/>
                <a:cs typeface="Times New Roman" panose="02020603050405020304" pitchFamily="18" charset="0"/>
              </a:rPr>
              <a:t>Availability</a:t>
            </a:r>
            <a:r>
              <a:rPr lang="en-US" dirty="0">
                <a:latin typeface="Times New Roman" panose="02020603050405020304" pitchFamily="18" charset="0"/>
                <a:cs typeface="Times New Roman" panose="02020603050405020304" pitchFamily="18" charset="0"/>
              </a:rPr>
              <a:t> means the data must be available to an authorized user at appropriate time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t/>
            </a:r>
            <a:br>
              <a:rPr lang="en-US" dirty="0"/>
            </a:br>
            <a:r>
              <a:rPr lang="en-US" dirty="0"/>
              <a:t/>
            </a:r>
            <a:br>
              <a:rPr lang="en-US" dirty="0"/>
            </a:br>
            <a:endParaRPr lang="en-US" dirty="0"/>
          </a:p>
        </p:txBody>
      </p:sp>
    </p:spTree>
    <p:extLst>
      <p:ext uri="{BB962C8B-B14F-4D97-AF65-F5344CB8AC3E}">
        <p14:creationId xmlns:p14="http://schemas.microsoft.com/office/powerpoint/2010/main" val="783084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6362"/>
          </a:xfrm>
        </p:spPr>
        <p:txBody>
          <a:bodyPr>
            <a:normAutofit fontScale="90000"/>
          </a:bodyPr>
          <a:lstStyle/>
          <a:p>
            <a:r>
              <a:rPr lang="en-US" dirty="0"/>
              <a:t>.</a:t>
            </a:r>
          </a:p>
        </p:txBody>
      </p:sp>
      <p:sp>
        <p:nvSpPr>
          <p:cNvPr id="3" name="Content Placeholder 2"/>
          <p:cNvSpPr>
            <a:spLocks noGrp="1"/>
          </p:cNvSpPr>
          <p:nvPr>
            <p:ph idx="1"/>
          </p:nvPr>
        </p:nvSpPr>
        <p:spPr>
          <a:xfrm>
            <a:off x="457200" y="0"/>
            <a:ext cx="8458200" cy="6126163"/>
          </a:xfrm>
        </p:spPr>
        <p:txBody>
          <a:bodyPr>
            <a:normAutofit/>
          </a:bodyPr>
          <a:lstStyle/>
          <a:p>
            <a:endParaRPr lang="en-US" dirty="0"/>
          </a:p>
          <a:p>
            <a:pPr>
              <a:lnSpc>
                <a:spcPct val="170000"/>
              </a:lnSpc>
              <a:buBlip>
                <a:blip r:embed="rId2"/>
              </a:buBlip>
            </a:pPr>
            <a:r>
              <a:rPr lang="en-US" sz="2800" dirty="0">
                <a:latin typeface="Times New Roman" panose="02020603050405020304" pitchFamily="18" charset="0"/>
                <a:cs typeface="Times New Roman" panose="02020603050405020304" pitchFamily="18" charset="0"/>
              </a:rPr>
              <a:t>For databases, requirements on the security can be classified into the following categories: </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1D10D00-2BA4-4EFE-9A20-A49A608F2010}" type="slidenum">
              <a:rPr lang="en-US" smtClean="0"/>
              <a:t>19</a:t>
            </a:fld>
            <a:endParaRPr lang="en-US"/>
          </a:p>
        </p:txBody>
      </p:sp>
    </p:spTree>
    <p:extLst>
      <p:ext uri="{BB962C8B-B14F-4D97-AF65-F5344CB8AC3E}">
        <p14:creationId xmlns:p14="http://schemas.microsoft.com/office/powerpoint/2010/main" val="2430196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i="1" dirty="0">
                <a:solidFill>
                  <a:srgbClr val="C00000"/>
                </a:solidFill>
                <a:latin typeface="Century Gothic" pitchFamily="34" charset="0"/>
              </a:rPr>
              <a:t/>
            </a:r>
            <a:br>
              <a:rPr lang="en-US" b="1" i="1" dirty="0">
                <a:solidFill>
                  <a:srgbClr val="C00000"/>
                </a:solidFill>
                <a:latin typeface="Century Gothic" pitchFamily="34" charset="0"/>
              </a:rPr>
            </a:br>
            <a:r>
              <a:rPr lang="en-US" b="1" i="1" dirty="0">
                <a:solidFill>
                  <a:srgbClr val="C00000"/>
                </a:solidFill>
                <a:latin typeface="Times New Roman" panose="02020603050405020304" pitchFamily="18" charset="0"/>
                <a:cs typeface="Times New Roman" panose="02020603050405020304" pitchFamily="18" charset="0"/>
              </a:rPr>
              <a:t>Identification, Authentication</a:t>
            </a:r>
            <a:r>
              <a:rPr lang="en-US" b="1" i="1" dirty="0">
                <a:solidFill>
                  <a:srgbClr val="C00000"/>
                </a:solidFill>
                <a:latin typeface="Century Gothic" pitchFamily="34" charset="0"/>
              </a:rPr>
              <a:t/>
            </a:r>
            <a:br>
              <a:rPr lang="en-US" b="1" i="1" dirty="0">
                <a:solidFill>
                  <a:srgbClr val="C00000"/>
                </a:solidFill>
                <a:latin typeface="Century Gothic" pitchFamily="34" charset="0"/>
              </a:rPr>
            </a:br>
            <a:endParaRPr lang="en-US" b="1" dirty="0">
              <a:solidFill>
                <a:srgbClr val="C00000"/>
              </a:solidFill>
              <a:latin typeface="Century Gothic" pitchFamily="34" charset="0"/>
            </a:endParaRPr>
          </a:p>
        </p:txBody>
      </p:sp>
      <p:sp>
        <p:nvSpPr>
          <p:cNvPr id="3" name="Content Placeholder 2"/>
          <p:cNvSpPr>
            <a:spLocks noGrp="1"/>
          </p:cNvSpPr>
          <p:nvPr>
            <p:ph idx="1"/>
          </p:nvPr>
        </p:nvSpPr>
        <p:spPr>
          <a:xfrm>
            <a:off x="457200" y="609600"/>
            <a:ext cx="8534400" cy="6248400"/>
          </a:xfrm>
        </p:spPr>
        <p:txBody>
          <a:bodyPr>
            <a:normAutofit/>
          </a:bodyPr>
          <a:lstStyle/>
          <a:p>
            <a:endParaRPr lang="en-US" dirty="0"/>
          </a:p>
          <a:p>
            <a:pPr>
              <a:lnSpc>
                <a:spcPct val="160000"/>
              </a:lnSpc>
              <a:buFont typeface="Wingdings" pitchFamily="2" charset="2"/>
              <a:buChar char="Ø"/>
            </a:pPr>
            <a:r>
              <a:rPr lang="en-US" sz="2000" dirty="0">
                <a:latin typeface="Times New Roman" panose="02020603050405020304" pitchFamily="18" charset="0"/>
                <a:cs typeface="Times New Roman" panose="02020603050405020304" pitchFamily="18" charset="0"/>
              </a:rPr>
              <a:t>Usually before getting access to a database each user has to identify himself to the computer system. </a:t>
            </a:r>
          </a:p>
          <a:p>
            <a:pPr>
              <a:lnSpc>
                <a:spcPct val="160000"/>
              </a:lnSpc>
              <a:buFont typeface="Wingdings" pitchFamily="2" charset="2"/>
              <a:buChar char="Ø"/>
            </a:pPr>
            <a:r>
              <a:rPr lang="en-US" sz="2000" dirty="0">
                <a:latin typeface="Times New Roman" panose="02020603050405020304" pitchFamily="18" charset="0"/>
                <a:cs typeface="Times New Roman" panose="02020603050405020304" pitchFamily="18" charset="0"/>
              </a:rPr>
              <a:t>Authentication is the way to verify the identity of a user at log-on time. </a:t>
            </a:r>
          </a:p>
          <a:p>
            <a:pPr>
              <a:lnSpc>
                <a:spcPct val="160000"/>
              </a:lnSpc>
              <a:buFont typeface="Wingdings" pitchFamily="2" charset="2"/>
              <a:buChar char="Ø"/>
            </a:pPr>
            <a:r>
              <a:rPr lang="en-US" sz="2000" dirty="0">
                <a:latin typeface="Times New Roman" panose="02020603050405020304" pitchFamily="18" charset="0"/>
                <a:cs typeface="Times New Roman" panose="02020603050405020304" pitchFamily="18" charset="0"/>
              </a:rPr>
              <a:t>Most common authentication methods are passwords but more advanced techniques like badge readers, </a:t>
            </a:r>
            <a:r>
              <a:rPr lang="en-US" sz="2000" b="1" u="sng" dirty="0">
                <a:solidFill>
                  <a:srgbClr val="C00000"/>
                </a:solidFill>
                <a:latin typeface="Times New Roman" panose="02020603050405020304" pitchFamily="18" charset="0"/>
                <a:cs typeface="Times New Roman" panose="02020603050405020304" pitchFamily="18" charset="0"/>
              </a:rPr>
              <a:t>biometric recognition </a:t>
            </a:r>
            <a:r>
              <a:rPr lang="en-US" sz="2000" dirty="0">
                <a:latin typeface="Times New Roman" panose="02020603050405020304" pitchFamily="18" charset="0"/>
                <a:cs typeface="Times New Roman" panose="02020603050405020304" pitchFamily="18" charset="0"/>
              </a:rPr>
              <a:t>techniques, or signature analysis devices are also available.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1D10D00-2BA4-4EFE-9A20-A49A608F2010}" type="slidenum">
              <a:rPr lang="en-US" smtClean="0"/>
              <a:t>20</a:t>
            </a:fld>
            <a:endParaRPr lang="en-US"/>
          </a:p>
        </p:txBody>
      </p:sp>
    </p:spTree>
    <p:extLst>
      <p:ext uri="{BB962C8B-B14F-4D97-AF65-F5344CB8AC3E}">
        <p14:creationId xmlns:p14="http://schemas.microsoft.com/office/powerpoint/2010/main" val="27372933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6874"/>
            <a:ext cx="7848600" cy="365125"/>
          </a:xfrm>
        </p:spPr>
        <p:txBody>
          <a:bodyPr>
            <a:noAutofit/>
          </a:bodyPr>
          <a:lstStyle/>
          <a:p>
            <a:r>
              <a:rPr lang="en-US" sz="3600" b="1" i="1" dirty="0">
                <a:solidFill>
                  <a:srgbClr val="C00000"/>
                </a:solidFill>
                <a:latin typeface="Century Gothic" pitchFamily="34" charset="0"/>
              </a:rPr>
              <a:t>Authorization, Access Controls</a:t>
            </a:r>
            <a:br>
              <a:rPr lang="en-US" sz="3600" b="1" i="1" dirty="0">
                <a:solidFill>
                  <a:srgbClr val="C00000"/>
                </a:solidFill>
                <a:latin typeface="Century Gothic" pitchFamily="34" charset="0"/>
              </a:rPr>
            </a:br>
            <a:endParaRPr lang="en-US" sz="3600" b="1" dirty="0">
              <a:solidFill>
                <a:srgbClr val="C00000"/>
              </a:solidFill>
              <a:latin typeface="Century Gothic" pitchFamily="34" charset="0"/>
            </a:endParaRPr>
          </a:p>
        </p:txBody>
      </p:sp>
      <p:sp>
        <p:nvSpPr>
          <p:cNvPr id="3" name="Content Placeholder 2"/>
          <p:cNvSpPr>
            <a:spLocks noGrp="1"/>
          </p:cNvSpPr>
          <p:nvPr>
            <p:ph idx="1"/>
          </p:nvPr>
        </p:nvSpPr>
        <p:spPr>
          <a:xfrm>
            <a:off x="152400" y="609600"/>
            <a:ext cx="8991600" cy="6858000"/>
          </a:xfrm>
        </p:spPr>
        <p:txBody>
          <a:bodyPr>
            <a:normAutofit fontScale="40000" lnSpcReduction="20000"/>
          </a:bodyPr>
          <a:lstStyle/>
          <a:p>
            <a:endParaRPr lang="en-US" dirty="0"/>
          </a:p>
          <a:p>
            <a:pPr algn="just">
              <a:lnSpc>
                <a:spcPct val="170000"/>
              </a:lnSpc>
              <a:buBlip>
                <a:blip r:embed="rId2"/>
              </a:buBlip>
            </a:pPr>
            <a:r>
              <a:rPr lang="en-US" sz="5000" dirty="0">
                <a:latin typeface="Times New Roman" panose="02020603050405020304" pitchFamily="18" charset="0"/>
                <a:cs typeface="Times New Roman" panose="02020603050405020304" pitchFamily="18" charset="0"/>
              </a:rPr>
              <a:t>Authorization is the specification of a set of rules that specify who has which type of access to what information. </a:t>
            </a:r>
          </a:p>
          <a:p>
            <a:pPr algn="just">
              <a:lnSpc>
                <a:spcPct val="170000"/>
              </a:lnSpc>
              <a:buBlip>
                <a:blip r:embed="rId2"/>
              </a:buBlip>
            </a:pPr>
            <a:r>
              <a:rPr lang="en-US" sz="5000" dirty="0">
                <a:latin typeface="Times New Roman" panose="02020603050405020304" pitchFamily="18" charset="0"/>
                <a:cs typeface="Times New Roman" panose="02020603050405020304" pitchFamily="18" charset="0"/>
              </a:rPr>
              <a:t>Authorization policies therefore govern the disclosure and modification of information.</a:t>
            </a:r>
          </a:p>
          <a:p>
            <a:pPr algn="just">
              <a:lnSpc>
                <a:spcPct val="170000"/>
              </a:lnSpc>
              <a:buBlip>
                <a:blip r:embed="rId2"/>
              </a:buBlip>
            </a:pPr>
            <a:r>
              <a:rPr lang="en-US" sz="5000" dirty="0">
                <a:latin typeface="Times New Roman" panose="02020603050405020304" pitchFamily="18" charset="0"/>
                <a:cs typeface="Times New Roman" panose="02020603050405020304" pitchFamily="18" charset="0"/>
              </a:rPr>
              <a:t>Access controls are procedures that are designed to control authorizations. </a:t>
            </a:r>
          </a:p>
          <a:p>
            <a:pPr>
              <a:lnSpc>
                <a:spcPct val="170000"/>
              </a:lnSpc>
              <a:buBlip>
                <a:blip r:embed="rId2"/>
              </a:buBlip>
            </a:pPr>
            <a:r>
              <a:rPr lang="en-US" sz="5000" dirty="0">
                <a:latin typeface="Times New Roman" panose="02020603050405020304" pitchFamily="18" charset="0"/>
                <a:cs typeface="Times New Roman" panose="02020603050405020304" pitchFamily="18" charset="0"/>
              </a:rPr>
              <a:t>They are responsible to limit access to stored data to authorized users only. </a:t>
            </a:r>
            <a:r>
              <a:rPr lang="en-US" sz="9600" dirty="0">
                <a:latin typeface="Century Gothic" pitchFamily="34" charset="0"/>
              </a:rPr>
              <a:t/>
            </a:r>
            <a:br>
              <a:rPr lang="en-US" sz="9600" dirty="0">
                <a:latin typeface="Century Gothic" pitchFamily="34" charset="0"/>
              </a:rPr>
            </a:br>
            <a:r>
              <a:rPr lang="en-US" sz="9600" dirty="0">
                <a:latin typeface="Century Gothic" pitchFamily="34" charset="0"/>
              </a:rPr>
              <a:t/>
            </a:r>
            <a:br>
              <a:rPr lang="en-US" sz="9600" dirty="0">
                <a:latin typeface="Century Gothic" pitchFamily="34" charset="0"/>
              </a:rPr>
            </a:br>
            <a:endParaRPr lang="en-US" sz="9600" dirty="0">
              <a:latin typeface="Century Gothic" pitchFamily="34" charset="0"/>
            </a:endParaRPr>
          </a:p>
        </p:txBody>
      </p:sp>
      <p:sp>
        <p:nvSpPr>
          <p:cNvPr id="4" name="Slide Number Placeholder 3"/>
          <p:cNvSpPr>
            <a:spLocks noGrp="1"/>
          </p:cNvSpPr>
          <p:nvPr>
            <p:ph type="sldNum" sz="quarter" idx="12"/>
          </p:nvPr>
        </p:nvSpPr>
        <p:spPr/>
        <p:txBody>
          <a:bodyPr/>
          <a:lstStyle/>
          <a:p>
            <a:fld id="{91D10D00-2BA4-4EFE-9A20-A49A608F2010}" type="slidenum">
              <a:rPr lang="en-US" smtClean="0"/>
              <a:t>21</a:t>
            </a:fld>
            <a:endParaRPr lang="en-US"/>
          </a:p>
        </p:txBody>
      </p:sp>
    </p:spTree>
    <p:extLst>
      <p:ext uri="{BB962C8B-B14F-4D97-AF65-F5344CB8AC3E}">
        <p14:creationId xmlns:p14="http://schemas.microsoft.com/office/powerpoint/2010/main" val="858161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1">
            <a:extLst>
              <a:ext uri="{FF2B5EF4-FFF2-40B4-BE49-F238E27FC236}">
                <a16:creationId xmlns:a16="http://schemas.microsoft.com/office/drawing/2014/main" xmlns="" id="{85D9E4B7-4592-4CE0-83B5-3578C93EFC9A}"/>
              </a:ext>
            </a:extLst>
          </p:cNvPr>
          <p:cNvSpPr txBox="1">
            <a:spLocks noChangeArrowheads="1"/>
          </p:cNvSpPr>
          <p:nvPr/>
        </p:nvSpPr>
        <p:spPr bwMode="auto">
          <a:xfrm>
            <a:off x="152400" y="228600"/>
            <a:ext cx="88392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spcBef>
                <a:spcPts val="8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3200">
                <a:solidFill>
                  <a:srgbClr val="000000"/>
                </a:solidFill>
                <a:latin typeface="Arial" panose="020B0604020202020204" pitchFamily="34" charset="0"/>
                <a:cs typeface="WenQuanYi Micro Hei" charset="0"/>
              </a:defRPr>
            </a:lvl1pPr>
            <a:lvl2pPr indent="-284163">
              <a:spcBef>
                <a:spcPts val="7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9pPr>
          </a:lstStyle>
          <a:p>
            <a:pPr eaLnBrk="1" hangingPunct="1">
              <a:spcBef>
                <a:spcPts val="525"/>
              </a:spcBef>
              <a:buClrTx/>
              <a:buFontTx/>
              <a:buNone/>
            </a:pPr>
            <a:r>
              <a:rPr lang="en-US" altLang="en-US" sz="2100" i="1" dirty="0">
                <a:solidFill>
                  <a:srgbClr val="0000CC"/>
                </a:solidFill>
                <a:latin typeface="Times New Roman" panose="02020603050405020304" pitchFamily="18" charset="0"/>
                <a:cs typeface="Times New Roman" panose="02020603050405020304" pitchFamily="18" charset="0"/>
              </a:rPr>
              <a:t>Authentication</a:t>
            </a:r>
          </a:p>
          <a:p>
            <a:pPr eaLnBrk="1" hangingPunct="1">
              <a:spcBef>
                <a:spcPts val="525"/>
              </a:spcBef>
            </a:pPr>
            <a:r>
              <a:rPr lang="en-US" altLang="en-US" sz="2100" dirty="0">
                <a:latin typeface="Times New Roman" panose="02020603050405020304" pitchFamily="18" charset="0"/>
                <a:cs typeface="Times New Roman" panose="02020603050405020304" pitchFamily="18" charset="0"/>
              </a:rPr>
              <a:t>All users of the database will have different access levels and permission for different data objects, and authentication is the process of checking whether the user is the one with the privilege for the access level.</a:t>
            </a:r>
          </a:p>
          <a:p>
            <a:pPr eaLnBrk="1" hangingPunct="1">
              <a:spcBef>
                <a:spcPts val="525"/>
              </a:spcBef>
            </a:pPr>
            <a:r>
              <a:rPr lang="en-US" altLang="en-US" sz="2100" dirty="0">
                <a:latin typeface="Times New Roman" panose="02020603050405020304" pitchFamily="18" charset="0"/>
                <a:cs typeface="Times New Roman" panose="02020603050405020304" pitchFamily="18" charset="0"/>
              </a:rPr>
              <a:t>Thus the system will check whether the user with a specific username and password is trying to use the resource</a:t>
            </a:r>
          </a:p>
          <a:p>
            <a:pPr eaLnBrk="1" hangingPunct="1">
              <a:spcBef>
                <a:spcPts val="525"/>
              </a:spcBef>
              <a:buClrTx/>
              <a:buFontTx/>
              <a:buNone/>
            </a:pPr>
            <a:r>
              <a:rPr lang="en-US" altLang="en-US" sz="2100" i="1" dirty="0">
                <a:solidFill>
                  <a:srgbClr val="0000CC"/>
                </a:solidFill>
                <a:latin typeface="Times New Roman" panose="02020603050405020304" pitchFamily="18" charset="0"/>
                <a:cs typeface="Times New Roman" panose="02020603050405020304" pitchFamily="18" charset="0"/>
              </a:rPr>
              <a:t>Authorization/Privilege</a:t>
            </a:r>
          </a:p>
          <a:p>
            <a:pPr eaLnBrk="1" hangingPunct="1">
              <a:spcBef>
                <a:spcPts val="525"/>
              </a:spcBef>
            </a:pPr>
            <a:r>
              <a:rPr lang="en-US" altLang="en-US" sz="2100" dirty="0">
                <a:latin typeface="Times New Roman" panose="02020603050405020304" pitchFamily="18" charset="0"/>
                <a:cs typeface="Times New Roman" panose="02020603050405020304" pitchFamily="18" charset="0"/>
              </a:rPr>
              <a:t>Authorization refers to the process that determines the mode in which a particular (previously authenticated) client is allowed to access a specific resource controlled by a server.</a:t>
            </a:r>
          </a:p>
          <a:p>
            <a:pPr eaLnBrk="1" hangingPunct="1">
              <a:spcBef>
                <a:spcPts val="525"/>
              </a:spcBef>
            </a:pPr>
            <a:r>
              <a:rPr lang="en-US" altLang="en-US" sz="2100" dirty="0">
                <a:latin typeface="Times New Roman" panose="02020603050405020304" pitchFamily="18" charset="0"/>
                <a:cs typeface="Times New Roman" panose="02020603050405020304" pitchFamily="18" charset="0"/>
              </a:rPr>
              <a:t>Any database access request will have the following three major components</a:t>
            </a:r>
          </a:p>
          <a:p>
            <a:pPr lvl="1" eaLnBrk="1" hangingPunct="1">
              <a:spcBef>
                <a:spcPts val="525"/>
              </a:spcBef>
              <a:buClrTx/>
              <a:buFontTx/>
              <a:buNone/>
            </a:pPr>
            <a:r>
              <a:rPr lang="en-US" altLang="en-US" sz="2100" dirty="0">
                <a:latin typeface="Times New Roman" panose="02020603050405020304" pitchFamily="18" charset="0"/>
                <a:cs typeface="Times New Roman" panose="02020603050405020304" pitchFamily="18" charset="0"/>
              </a:rPr>
              <a:t>1. </a:t>
            </a:r>
            <a:r>
              <a:rPr lang="en-US" altLang="en-US" sz="2100" dirty="0">
                <a:solidFill>
                  <a:srgbClr val="0000CC"/>
                </a:solidFill>
                <a:latin typeface="Times New Roman" panose="02020603050405020304" pitchFamily="18" charset="0"/>
                <a:cs typeface="Times New Roman" panose="02020603050405020304" pitchFamily="18" charset="0"/>
              </a:rPr>
              <a:t>Requested Operation</a:t>
            </a:r>
            <a:r>
              <a:rPr lang="en-US" altLang="en-US" sz="2100" dirty="0">
                <a:latin typeface="Times New Roman" panose="02020603050405020304" pitchFamily="18" charset="0"/>
                <a:cs typeface="Times New Roman" panose="02020603050405020304" pitchFamily="18" charset="0"/>
              </a:rPr>
              <a:t>: what kind of operation is requested by a specific query?</a:t>
            </a:r>
          </a:p>
          <a:p>
            <a:pPr lvl="1" eaLnBrk="1" hangingPunct="1">
              <a:spcBef>
                <a:spcPts val="525"/>
              </a:spcBef>
              <a:buClrTx/>
              <a:buFontTx/>
              <a:buNone/>
            </a:pPr>
            <a:r>
              <a:rPr lang="en-US" altLang="en-US" sz="2100" dirty="0">
                <a:latin typeface="Times New Roman" panose="02020603050405020304" pitchFamily="18" charset="0"/>
                <a:cs typeface="Times New Roman" panose="02020603050405020304" pitchFamily="18" charset="0"/>
              </a:rPr>
              <a:t>2. </a:t>
            </a:r>
            <a:r>
              <a:rPr lang="en-US" altLang="en-US" sz="2100" dirty="0">
                <a:solidFill>
                  <a:srgbClr val="0000CC"/>
                </a:solidFill>
                <a:latin typeface="Times New Roman" panose="02020603050405020304" pitchFamily="18" charset="0"/>
                <a:cs typeface="Times New Roman" panose="02020603050405020304" pitchFamily="18" charset="0"/>
              </a:rPr>
              <a:t>Requested Object</a:t>
            </a:r>
            <a:r>
              <a:rPr lang="en-US" altLang="en-US" sz="2100" dirty="0">
                <a:latin typeface="Times New Roman" panose="02020603050405020304" pitchFamily="18" charset="0"/>
                <a:cs typeface="Times New Roman" panose="02020603050405020304" pitchFamily="18" charset="0"/>
              </a:rPr>
              <a:t>: on which resource or data of the database is the operation sought to be applied?</a:t>
            </a:r>
          </a:p>
          <a:p>
            <a:pPr lvl="1" eaLnBrk="1" hangingPunct="1">
              <a:spcBef>
                <a:spcPts val="525"/>
              </a:spcBef>
              <a:buClrTx/>
              <a:buFontTx/>
              <a:buNone/>
            </a:pPr>
            <a:r>
              <a:rPr lang="en-US" altLang="en-US" sz="2100" dirty="0">
                <a:latin typeface="Times New Roman" panose="02020603050405020304" pitchFamily="18" charset="0"/>
                <a:cs typeface="Times New Roman" panose="02020603050405020304" pitchFamily="18" charset="0"/>
              </a:rPr>
              <a:t>3. </a:t>
            </a:r>
            <a:r>
              <a:rPr lang="en-US" altLang="en-US" sz="2100" dirty="0">
                <a:solidFill>
                  <a:srgbClr val="0000CC"/>
                </a:solidFill>
                <a:latin typeface="Times New Roman" panose="02020603050405020304" pitchFamily="18" charset="0"/>
                <a:cs typeface="Times New Roman" panose="02020603050405020304" pitchFamily="18" charset="0"/>
              </a:rPr>
              <a:t>Requesting User</a:t>
            </a:r>
            <a:r>
              <a:rPr lang="en-US" altLang="en-US" sz="2100" dirty="0">
                <a:latin typeface="Times New Roman" panose="02020603050405020304" pitchFamily="18" charset="0"/>
                <a:cs typeface="Times New Roman" panose="02020603050405020304" pitchFamily="18" charset="0"/>
              </a:rPr>
              <a:t>: who is the user requesting the operation on the specified object?</a:t>
            </a:r>
          </a:p>
        </p:txBody>
      </p:sp>
      <p:sp>
        <p:nvSpPr>
          <p:cNvPr id="20483" name="Text Box 2">
            <a:extLst>
              <a:ext uri="{FF2B5EF4-FFF2-40B4-BE49-F238E27FC236}">
                <a16:creationId xmlns:a16="http://schemas.microsoft.com/office/drawing/2014/main" xmlns="" id="{800D17FB-2256-4607-8DCB-3B704A6CC7C2}"/>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algn="r" eaLnBrk="1" hangingPunct="1">
              <a:spcBef>
                <a:spcPct val="0"/>
              </a:spcBef>
              <a:buClrTx/>
              <a:buFontTx/>
              <a:buNone/>
            </a:pPr>
            <a:fld id="{C907277A-F262-4A90-934E-88ABB160B0FC}" type="slidenum">
              <a:rPr lang="en-US" altLang="en-US" sz="1400"/>
              <a:pPr algn="r" eaLnBrk="1" hangingPunct="1">
                <a:spcBef>
                  <a:spcPct val="0"/>
                </a:spcBef>
                <a:buClrTx/>
                <a:buFontTx/>
                <a:buNone/>
              </a:pPr>
              <a:t>22</a:t>
            </a:fld>
            <a:endParaRPr lang="en-US" altLang="en-US" sz="1400"/>
          </a:p>
        </p:txBody>
      </p:sp>
    </p:spTree>
  </p:cSld>
  <p:clrMapOvr>
    <a:masterClrMapping/>
  </p:clrMapOvr>
  <p:transition spd="med">
    <p:strips dir="rd"/>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1">
            <a:extLst>
              <a:ext uri="{FF2B5EF4-FFF2-40B4-BE49-F238E27FC236}">
                <a16:creationId xmlns:a16="http://schemas.microsoft.com/office/drawing/2014/main" xmlns="" id="{1D583F82-0381-4518-96BC-CC562EBD7495}"/>
              </a:ext>
            </a:extLst>
          </p:cNvPr>
          <p:cNvSpPr txBox="1">
            <a:spLocks noChangeArrowheads="1"/>
          </p:cNvSpPr>
          <p:nvPr/>
        </p:nvSpPr>
        <p:spPr bwMode="auto">
          <a:xfrm>
            <a:off x="381000" y="228600"/>
            <a:ext cx="85344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spcBef>
                <a:spcPts val="8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9pPr>
          </a:lstStyle>
          <a:p>
            <a:pPr eaLnBrk="1" hangingPunct="1">
              <a:spcBef>
                <a:spcPts val="600"/>
              </a:spcBef>
              <a:buClrTx/>
              <a:buFontTx/>
              <a:buNone/>
            </a:pPr>
            <a:r>
              <a:rPr lang="en-US" altLang="en-US" sz="2400" i="1">
                <a:solidFill>
                  <a:srgbClr val="0000CC"/>
                </a:solidFill>
                <a:latin typeface="Times New Roman" panose="02020603050405020304" pitchFamily="18" charset="0"/>
                <a:cs typeface="Times New Roman" panose="02020603050405020304" pitchFamily="18" charset="0"/>
              </a:rPr>
              <a:t>Forms of user authorization</a:t>
            </a:r>
          </a:p>
          <a:p>
            <a:pPr eaLnBrk="1" hangingPunct="1">
              <a:spcBef>
                <a:spcPts val="550"/>
              </a:spcBef>
              <a:buClrTx/>
              <a:buFontTx/>
              <a:buNone/>
            </a:pPr>
            <a:r>
              <a:rPr lang="en-US" altLang="en-US" sz="2200">
                <a:latin typeface="Times New Roman" panose="02020603050405020304" pitchFamily="18" charset="0"/>
                <a:cs typeface="Times New Roman" panose="02020603050405020304" pitchFamily="18" charset="0"/>
              </a:rPr>
              <a:t>There are different forms of user authorization on the resource of the</a:t>
            </a:r>
          </a:p>
          <a:p>
            <a:pPr eaLnBrk="1" hangingPunct="1">
              <a:spcBef>
                <a:spcPts val="550"/>
              </a:spcBef>
              <a:buClrTx/>
              <a:buFontTx/>
              <a:buNone/>
            </a:pPr>
            <a:r>
              <a:rPr lang="en-US" altLang="en-US" sz="2200">
                <a:latin typeface="Times New Roman" panose="02020603050405020304" pitchFamily="18" charset="0"/>
                <a:cs typeface="Times New Roman" panose="02020603050405020304" pitchFamily="18" charset="0"/>
              </a:rPr>
              <a:t>database. These includes :</a:t>
            </a:r>
          </a:p>
          <a:p>
            <a:pPr eaLnBrk="1" hangingPunct="1">
              <a:spcBef>
                <a:spcPts val="550"/>
              </a:spcBef>
              <a:buClrTx/>
              <a:buFontTx/>
              <a:buNone/>
            </a:pPr>
            <a:r>
              <a:rPr lang="en-US" altLang="en-US" sz="2200">
                <a:latin typeface="Times New Roman" panose="02020603050405020304" pitchFamily="18" charset="0"/>
                <a:cs typeface="Times New Roman" panose="02020603050405020304" pitchFamily="18" charset="0"/>
              </a:rPr>
              <a:t>1. </a:t>
            </a:r>
            <a:r>
              <a:rPr lang="en-US" altLang="en-US" sz="2200">
                <a:solidFill>
                  <a:srgbClr val="FF0066"/>
                </a:solidFill>
                <a:latin typeface="Times New Roman" panose="02020603050405020304" pitchFamily="18" charset="0"/>
                <a:cs typeface="Times New Roman" panose="02020603050405020304" pitchFamily="18" charset="0"/>
              </a:rPr>
              <a:t>Read</a:t>
            </a:r>
            <a:r>
              <a:rPr lang="en-US" altLang="en-US" sz="2200">
                <a:latin typeface="Times New Roman" panose="02020603050405020304" pitchFamily="18" charset="0"/>
                <a:cs typeface="Times New Roman" panose="02020603050405020304" pitchFamily="18" charset="0"/>
              </a:rPr>
              <a:t> Authorization: the user with this privilege is allowed only to read the content of the data object.</a:t>
            </a:r>
          </a:p>
          <a:p>
            <a:pPr eaLnBrk="1" hangingPunct="1">
              <a:spcBef>
                <a:spcPts val="550"/>
              </a:spcBef>
              <a:buClrTx/>
              <a:buFontTx/>
              <a:buNone/>
            </a:pPr>
            <a:r>
              <a:rPr lang="en-US" altLang="en-US" sz="2200">
                <a:latin typeface="Times New Roman" panose="02020603050405020304" pitchFamily="18" charset="0"/>
                <a:cs typeface="Times New Roman" panose="02020603050405020304" pitchFamily="18" charset="0"/>
              </a:rPr>
              <a:t>2. </a:t>
            </a:r>
            <a:r>
              <a:rPr lang="en-US" altLang="en-US" sz="2200">
                <a:solidFill>
                  <a:srgbClr val="FF0066"/>
                </a:solidFill>
                <a:latin typeface="Times New Roman" panose="02020603050405020304" pitchFamily="18" charset="0"/>
                <a:cs typeface="Times New Roman" panose="02020603050405020304" pitchFamily="18" charset="0"/>
              </a:rPr>
              <a:t>Insert</a:t>
            </a:r>
            <a:r>
              <a:rPr lang="en-US" altLang="en-US" sz="2200">
                <a:latin typeface="Times New Roman" panose="02020603050405020304" pitchFamily="18" charset="0"/>
                <a:cs typeface="Times New Roman" panose="02020603050405020304" pitchFamily="18" charset="0"/>
              </a:rPr>
              <a:t> Authorization: the user with this privilege is allowed only to insert new records or items to the data object.</a:t>
            </a:r>
          </a:p>
          <a:p>
            <a:pPr eaLnBrk="1" hangingPunct="1">
              <a:spcBef>
                <a:spcPts val="550"/>
              </a:spcBef>
              <a:buClrTx/>
              <a:buFontTx/>
              <a:buNone/>
            </a:pPr>
            <a:r>
              <a:rPr lang="en-US" altLang="en-US" sz="2200">
                <a:latin typeface="Times New Roman" panose="02020603050405020304" pitchFamily="18" charset="0"/>
                <a:cs typeface="Times New Roman" panose="02020603050405020304" pitchFamily="18" charset="0"/>
              </a:rPr>
              <a:t>3. </a:t>
            </a:r>
            <a:r>
              <a:rPr lang="en-US" altLang="en-US" sz="2200">
                <a:solidFill>
                  <a:srgbClr val="FF0066"/>
                </a:solidFill>
                <a:latin typeface="Times New Roman" panose="02020603050405020304" pitchFamily="18" charset="0"/>
                <a:cs typeface="Times New Roman" panose="02020603050405020304" pitchFamily="18" charset="0"/>
              </a:rPr>
              <a:t>Update</a:t>
            </a:r>
            <a:r>
              <a:rPr lang="en-US" altLang="en-US" sz="2200">
                <a:latin typeface="Times New Roman" panose="02020603050405020304" pitchFamily="18" charset="0"/>
                <a:cs typeface="Times New Roman" panose="02020603050405020304" pitchFamily="18" charset="0"/>
              </a:rPr>
              <a:t> Authorization: users with this privilege are allowed to modify content of attributes but are not authorized to delete the records.</a:t>
            </a:r>
          </a:p>
          <a:p>
            <a:pPr eaLnBrk="1" hangingPunct="1">
              <a:spcBef>
                <a:spcPts val="550"/>
              </a:spcBef>
              <a:buClrTx/>
              <a:buFontTx/>
              <a:buNone/>
            </a:pPr>
            <a:r>
              <a:rPr lang="en-US" altLang="en-US" sz="2200">
                <a:latin typeface="Times New Roman" panose="02020603050405020304" pitchFamily="18" charset="0"/>
                <a:cs typeface="Times New Roman" panose="02020603050405020304" pitchFamily="18" charset="0"/>
              </a:rPr>
              <a:t>4. </a:t>
            </a:r>
            <a:r>
              <a:rPr lang="en-US" altLang="en-US" sz="2200">
                <a:solidFill>
                  <a:srgbClr val="FF0066"/>
                </a:solidFill>
                <a:latin typeface="Times New Roman" panose="02020603050405020304" pitchFamily="18" charset="0"/>
                <a:cs typeface="Times New Roman" panose="02020603050405020304" pitchFamily="18" charset="0"/>
              </a:rPr>
              <a:t>Delete</a:t>
            </a:r>
            <a:r>
              <a:rPr lang="en-US" altLang="en-US" sz="2200">
                <a:latin typeface="Times New Roman" panose="02020603050405020304" pitchFamily="18" charset="0"/>
                <a:cs typeface="Times New Roman" panose="02020603050405020304" pitchFamily="18" charset="0"/>
              </a:rPr>
              <a:t> Authorization: users with this privilege are only allowed to delete a record and not anything else.</a:t>
            </a:r>
          </a:p>
          <a:p>
            <a:pPr eaLnBrk="1" hangingPunct="1">
              <a:spcBef>
                <a:spcPts val="550"/>
              </a:spcBef>
              <a:buClrTx/>
              <a:buFontTx/>
              <a:buNone/>
            </a:pPr>
            <a:endParaRPr lang="en-US" altLang="en-US" sz="2200">
              <a:latin typeface="Times New Roman" panose="02020603050405020304" pitchFamily="18" charset="0"/>
              <a:cs typeface="Times New Roman" panose="02020603050405020304" pitchFamily="18" charset="0"/>
            </a:endParaRPr>
          </a:p>
          <a:p>
            <a:pPr eaLnBrk="1" hangingPunct="1">
              <a:spcBef>
                <a:spcPts val="550"/>
              </a:spcBef>
              <a:buClr>
                <a:srgbClr val="FF0066"/>
              </a:buClr>
              <a:buFont typeface="Wingdings" panose="05000000000000000000" pitchFamily="2" charset="2"/>
              <a:buChar char=""/>
            </a:pPr>
            <a:r>
              <a:rPr lang="en-US" altLang="en-US" sz="2200">
                <a:solidFill>
                  <a:srgbClr val="0000CC"/>
                </a:solidFill>
                <a:latin typeface="Times New Roman" panose="02020603050405020304" pitchFamily="18" charset="0"/>
                <a:cs typeface="Times New Roman" panose="02020603050405020304" pitchFamily="18" charset="0"/>
              </a:rPr>
              <a:t>Note</a:t>
            </a:r>
            <a:r>
              <a:rPr lang="en-US" altLang="en-US" sz="2200">
                <a:latin typeface="Times New Roman" panose="02020603050405020304" pitchFamily="18" charset="0"/>
                <a:cs typeface="Times New Roman" panose="02020603050405020304" pitchFamily="18" charset="0"/>
              </a:rPr>
              <a:t>: Different users, depending on the power of the user, can have one or the combination of the above forms of authorization on different data objects.</a:t>
            </a:r>
          </a:p>
        </p:txBody>
      </p:sp>
      <p:sp>
        <p:nvSpPr>
          <p:cNvPr id="22531" name="Text Box 2">
            <a:extLst>
              <a:ext uri="{FF2B5EF4-FFF2-40B4-BE49-F238E27FC236}">
                <a16:creationId xmlns:a16="http://schemas.microsoft.com/office/drawing/2014/main" xmlns="" id="{1FF5B10C-26F8-4148-98D4-3D7361C76A7E}"/>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algn="r" eaLnBrk="1" hangingPunct="1">
              <a:spcBef>
                <a:spcPct val="0"/>
              </a:spcBef>
              <a:buClrTx/>
              <a:buFontTx/>
              <a:buNone/>
            </a:pPr>
            <a:fld id="{33526611-90DE-4CCF-BDD1-79C8C56C00BC}" type="slidenum">
              <a:rPr lang="en-US" altLang="en-US" sz="1400"/>
              <a:pPr algn="r" eaLnBrk="1" hangingPunct="1">
                <a:spcBef>
                  <a:spcPct val="0"/>
                </a:spcBef>
                <a:buClrTx/>
                <a:buFontTx/>
                <a:buNone/>
              </a:pPr>
              <a:t>23</a:t>
            </a:fld>
            <a:endParaRPr lang="en-US" altLang="en-US" sz="1400"/>
          </a:p>
        </p:txBody>
      </p:sp>
    </p:spTree>
  </p:cSld>
  <p:clrMapOvr>
    <a:masterClrMapping/>
  </p:clrMapOvr>
  <p:transition spd="med">
    <p:strips dir="rd"/>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1">
            <a:extLst>
              <a:ext uri="{FF2B5EF4-FFF2-40B4-BE49-F238E27FC236}">
                <a16:creationId xmlns:a16="http://schemas.microsoft.com/office/drawing/2014/main" xmlns="" id="{B7515AF6-F9C4-4300-B74C-471D83A75DB3}"/>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algn="r" eaLnBrk="1" hangingPunct="1">
              <a:spcBef>
                <a:spcPct val="0"/>
              </a:spcBef>
              <a:buClrTx/>
              <a:buFontTx/>
              <a:buNone/>
            </a:pPr>
            <a:fld id="{44CCF124-E37E-4E61-AE2E-BC6E29DAC68D}" type="slidenum">
              <a:rPr lang="en-US" altLang="en-US" sz="1400"/>
              <a:pPr algn="r" eaLnBrk="1" hangingPunct="1">
                <a:spcBef>
                  <a:spcPct val="0"/>
                </a:spcBef>
                <a:buClrTx/>
                <a:buFontTx/>
                <a:buNone/>
              </a:pPr>
              <a:t>24</a:t>
            </a:fld>
            <a:endParaRPr lang="en-US" altLang="en-US" sz="1400"/>
          </a:p>
        </p:txBody>
      </p:sp>
      <p:sp>
        <p:nvSpPr>
          <p:cNvPr id="24579" name="Text Box 2">
            <a:extLst>
              <a:ext uri="{FF2B5EF4-FFF2-40B4-BE49-F238E27FC236}">
                <a16:creationId xmlns:a16="http://schemas.microsoft.com/office/drawing/2014/main" xmlns="" id="{D0A831B6-A4E1-4304-894A-6D2E01EE8279}"/>
              </a:ext>
            </a:extLst>
          </p:cNvPr>
          <p:cNvSpPr txBox="1">
            <a:spLocks noChangeArrowheads="1"/>
          </p:cNvSpPr>
          <p:nvPr/>
        </p:nvSpPr>
        <p:spPr bwMode="auto">
          <a:xfrm>
            <a:off x="304800" y="511175"/>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marL="177800" indent="-176213">
              <a:spcBef>
                <a:spcPts val="8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9pPr>
          </a:lstStyle>
          <a:p>
            <a:pPr eaLnBrk="1" hangingPunct="1">
              <a:spcBef>
                <a:spcPct val="0"/>
              </a:spcBef>
              <a:buClrTx/>
              <a:buFontTx/>
              <a:buNone/>
            </a:pPr>
            <a:r>
              <a:rPr lang="en-US" altLang="en-US" sz="2400" b="1">
                <a:solidFill>
                  <a:srgbClr val="0000CC"/>
                </a:solidFill>
                <a:latin typeface="Times New Roman" panose="02020603050405020304" pitchFamily="18" charset="0"/>
              </a:rPr>
              <a:t>Database Security and the DBA</a:t>
            </a:r>
            <a:r>
              <a:rPr lang="en-US" altLang="en-US" sz="2400">
                <a:latin typeface="Times New Roman" panose="02020603050405020304" pitchFamily="18" charset="0"/>
              </a:rPr>
              <a:t> </a:t>
            </a:r>
          </a:p>
        </p:txBody>
      </p:sp>
      <p:sp>
        <p:nvSpPr>
          <p:cNvPr id="24580" name="Text Box 3">
            <a:extLst>
              <a:ext uri="{FF2B5EF4-FFF2-40B4-BE49-F238E27FC236}">
                <a16:creationId xmlns:a16="http://schemas.microsoft.com/office/drawing/2014/main" xmlns="" id="{9BE95B28-3AC4-4F9B-AD75-96B0DC78EB88}"/>
              </a:ext>
            </a:extLst>
          </p:cNvPr>
          <p:cNvSpPr txBox="1">
            <a:spLocks noChangeArrowheads="1"/>
          </p:cNvSpPr>
          <p:nvPr/>
        </p:nvSpPr>
        <p:spPr bwMode="auto">
          <a:xfrm>
            <a:off x="304800" y="1066800"/>
            <a:ext cx="8839200" cy="285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1313" indent="-341313">
              <a:spcBef>
                <a:spcPts val="8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panose="020B0604020202020204" pitchFamily="34" charset="0"/>
                <a:cs typeface="WenQuanYi Micro Hei" charset="0"/>
              </a:defRPr>
            </a:lvl1pPr>
            <a:lvl2pPr marL="741363" indent="-284163">
              <a:spcBef>
                <a:spcPts val="7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panose="020B0604020202020204" pitchFamily="34" charset="0"/>
                <a:cs typeface="WenQuanYi Micro Hei" charset="0"/>
              </a:defRPr>
            </a:lvl2pPr>
            <a:lvl3pPr marL="1141413" indent="-227013">
              <a:spcBef>
                <a:spcPts val="6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9pPr>
          </a:lstStyle>
          <a:p>
            <a:pPr eaLnBrk="1" hangingPunct="1">
              <a:lnSpc>
                <a:spcPct val="90000"/>
              </a:lnSpc>
              <a:spcBef>
                <a:spcPts val="550"/>
              </a:spcBef>
              <a:buClr>
                <a:srgbClr val="FF0066"/>
              </a:buClr>
              <a:buFont typeface="Wingdings" panose="05000000000000000000" pitchFamily="2" charset="2"/>
              <a:buChar char=""/>
            </a:pPr>
            <a:r>
              <a:rPr lang="en-US" altLang="en-US" sz="2200">
                <a:latin typeface="Times New Roman" panose="02020603050405020304" pitchFamily="18" charset="0"/>
              </a:rPr>
              <a:t>The database administrator (</a:t>
            </a:r>
            <a:r>
              <a:rPr lang="en-US" altLang="en-US" sz="2200" b="1">
                <a:latin typeface="Times New Roman" panose="02020603050405020304" pitchFamily="18" charset="0"/>
              </a:rPr>
              <a:t>DBA</a:t>
            </a:r>
            <a:r>
              <a:rPr lang="en-US" altLang="en-US" sz="2200">
                <a:latin typeface="Times New Roman" panose="02020603050405020304" pitchFamily="18" charset="0"/>
              </a:rPr>
              <a:t>) is the central authority for managing a database system.</a:t>
            </a:r>
          </a:p>
          <a:p>
            <a:pPr lvl="1" eaLnBrk="1" hangingPunct="1">
              <a:lnSpc>
                <a:spcPct val="90000"/>
              </a:lnSpc>
              <a:spcBef>
                <a:spcPts val="550"/>
              </a:spcBef>
              <a:buClr>
                <a:srgbClr val="FF0066"/>
              </a:buClr>
              <a:buFont typeface="Wingdings" panose="05000000000000000000" pitchFamily="2" charset="2"/>
              <a:buChar char=""/>
            </a:pPr>
            <a:r>
              <a:rPr lang="en-US" altLang="en-US" sz="2200">
                <a:latin typeface="Times New Roman" panose="02020603050405020304" pitchFamily="18" charset="0"/>
              </a:rPr>
              <a:t>The DBA’s responsibilities include</a:t>
            </a:r>
          </a:p>
          <a:p>
            <a:pPr lvl="2" eaLnBrk="1" hangingPunct="1">
              <a:lnSpc>
                <a:spcPct val="90000"/>
              </a:lnSpc>
              <a:spcBef>
                <a:spcPts val="550"/>
              </a:spcBef>
              <a:buClr>
                <a:srgbClr val="FF0066"/>
              </a:buClr>
              <a:buFont typeface="Wingdings" panose="05000000000000000000" pitchFamily="2" charset="2"/>
              <a:buChar char=""/>
            </a:pPr>
            <a:r>
              <a:rPr lang="en-US" altLang="en-US" sz="2200">
                <a:latin typeface="Times New Roman" panose="02020603050405020304" pitchFamily="18" charset="0"/>
              </a:rPr>
              <a:t>Account creation</a:t>
            </a:r>
          </a:p>
          <a:p>
            <a:pPr lvl="2" eaLnBrk="1" hangingPunct="1">
              <a:lnSpc>
                <a:spcPct val="90000"/>
              </a:lnSpc>
              <a:spcBef>
                <a:spcPts val="550"/>
              </a:spcBef>
              <a:buClr>
                <a:srgbClr val="FF0066"/>
              </a:buClr>
              <a:buFont typeface="Wingdings" panose="05000000000000000000" pitchFamily="2" charset="2"/>
              <a:buChar char=""/>
            </a:pPr>
            <a:r>
              <a:rPr lang="en-US" altLang="en-US" sz="2200">
                <a:latin typeface="Times New Roman" panose="02020603050405020304" pitchFamily="18" charset="0"/>
              </a:rPr>
              <a:t>granting privileges to users who need to use the system</a:t>
            </a:r>
          </a:p>
          <a:p>
            <a:pPr lvl="2" eaLnBrk="1" hangingPunct="1">
              <a:lnSpc>
                <a:spcPct val="90000"/>
              </a:lnSpc>
              <a:spcBef>
                <a:spcPts val="550"/>
              </a:spcBef>
              <a:buClr>
                <a:srgbClr val="FF0066"/>
              </a:buClr>
              <a:buFont typeface="Wingdings" panose="05000000000000000000" pitchFamily="2" charset="2"/>
              <a:buChar char=""/>
            </a:pPr>
            <a:r>
              <a:rPr lang="en-US" altLang="en-US" sz="2200">
                <a:latin typeface="Times New Roman" panose="02020603050405020304" pitchFamily="18" charset="0"/>
              </a:rPr>
              <a:t>Privilege revocation</a:t>
            </a:r>
          </a:p>
          <a:p>
            <a:pPr lvl="2" eaLnBrk="1" hangingPunct="1">
              <a:lnSpc>
                <a:spcPct val="90000"/>
              </a:lnSpc>
              <a:spcBef>
                <a:spcPts val="550"/>
              </a:spcBef>
              <a:buClr>
                <a:srgbClr val="FF0066"/>
              </a:buClr>
              <a:buFont typeface="Wingdings" panose="05000000000000000000" pitchFamily="2" charset="2"/>
              <a:buChar char=""/>
            </a:pPr>
            <a:r>
              <a:rPr lang="en-US" altLang="en-US" sz="2200">
                <a:latin typeface="Times New Roman" panose="02020603050405020304" pitchFamily="18" charset="0"/>
              </a:rPr>
              <a:t>classifying users and data in accordance with the policy of the organization</a:t>
            </a:r>
          </a:p>
        </p:txBody>
      </p:sp>
      <p:sp>
        <p:nvSpPr>
          <p:cNvPr id="24581" name="Rectangle 4">
            <a:extLst>
              <a:ext uri="{FF2B5EF4-FFF2-40B4-BE49-F238E27FC236}">
                <a16:creationId xmlns:a16="http://schemas.microsoft.com/office/drawing/2014/main" xmlns="" id="{795B6D42-78B5-4DFC-87F6-40D0A04D439B}"/>
              </a:ext>
            </a:extLst>
          </p:cNvPr>
          <p:cNvSpPr>
            <a:spLocks noChangeArrowheads="1"/>
          </p:cNvSpPr>
          <p:nvPr/>
        </p:nvSpPr>
        <p:spPr bwMode="auto">
          <a:xfrm>
            <a:off x="457200" y="30178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4582" name="Rectangle 5">
            <a:extLst>
              <a:ext uri="{FF2B5EF4-FFF2-40B4-BE49-F238E27FC236}">
                <a16:creationId xmlns:a16="http://schemas.microsoft.com/office/drawing/2014/main" xmlns="" id="{9F87E2C4-3BD1-408B-AB47-AC4D221EFBCF}"/>
              </a:ext>
            </a:extLst>
          </p:cNvPr>
          <p:cNvSpPr>
            <a:spLocks noChangeArrowheads="1"/>
          </p:cNvSpPr>
          <p:nvPr/>
        </p:nvSpPr>
        <p:spPr bwMode="auto">
          <a:xfrm>
            <a:off x="228600" y="4495800"/>
            <a:ext cx="8458200" cy="177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eaLnBrk="1" hangingPunct="1">
              <a:spcBef>
                <a:spcPct val="0"/>
              </a:spcBef>
              <a:buClr>
                <a:srgbClr val="FF0066"/>
              </a:buClr>
              <a:buFont typeface="Wingdings" panose="05000000000000000000" pitchFamily="2" charset="2"/>
              <a:buChar char=""/>
            </a:pPr>
            <a:r>
              <a:rPr lang="en-US" altLang="en-US" sz="2200" dirty="0">
                <a:latin typeface="Times New Roman" panose="02020603050405020304" pitchFamily="18" charset="0"/>
              </a:rPr>
              <a:t>  Whenever a person or group of persons need to access a database     </a:t>
            </a:r>
          </a:p>
          <a:p>
            <a:pPr eaLnBrk="1" hangingPunct="1">
              <a:spcBef>
                <a:spcPct val="0"/>
              </a:spcBef>
              <a:buClrTx/>
              <a:buFontTx/>
              <a:buNone/>
            </a:pPr>
            <a:r>
              <a:rPr lang="en-US" altLang="en-US" sz="2200" dirty="0">
                <a:latin typeface="Times New Roman" panose="02020603050405020304" pitchFamily="18" charset="0"/>
              </a:rPr>
              <a:t>     system, the individual or group must first apply for a user account.</a:t>
            </a:r>
          </a:p>
          <a:p>
            <a:pPr eaLnBrk="1" hangingPunct="1">
              <a:spcBef>
                <a:spcPct val="0"/>
              </a:spcBef>
              <a:buClr>
                <a:srgbClr val="FF0066"/>
              </a:buClr>
              <a:buFont typeface="Wingdings" panose="05000000000000000000" pitchFamily="2" charset="2"/>
              <a:buChar char=""/>
            </a:pPr>
            <a:r>
              <a:rPr lang="en-US" altLang="en-US" sz="2200" dirty="0">
                <a:latin typeface="Times New Roman" panose="02020603050405020304" pitchFamily="18" charset="0"/>
              </a:rPr>
              <a:t> The DBA will then create a new </a:t>
            </a:r>
            <a:r>
              <a:rPr lang="en-US" altLang="en-US" sz="2200" b="1" dirty="0">
                <a:latin typeface="Times New Roman" panose="02020603050405020304" pitchFamily="18" charset="0"/>
              </a:rPr>
              <a:t>account id</a:t>
            </a:r>
            <a:r>
              <a:rPr lang="en-US" altLang="en-US" sz="2200" dirty="0">
                <a:latin typeface="Times New Roman" panose="02020603050405020304" pitchFamily="18" charset="0"/>
              </a:rPr>
              <a:t> and </a:t>
            </a:r>
            <a:r>
              <a:rPr lang="en-US" altLang="en-US" sz="2200" b="1" dirty="0">
                <a:latin typeface="Times New Roman" panose="02020603050405020304" pitchFamily="18" charset="0"/>
              </a:rPr>
              <a:t>password</a:t>
            </a:r>
            <a:r>
              <a:rPr lang="en-US" altLang="en-US" sz="2200" dirty="0">
                <a:latin typeface="Times New Roman" panose="02020603050405020304" pitchFamily="18" charset="0"/>
              </a:rPr>
              <a:t> for the   </a:t>
            </a:r>
          </a:p>
          <a:p>
            <a:pPr eaLnBrk="1" hangingPunct="1">
              <a:spcBef>
                <a:spcPct val="0"/>
              </a:spcBef>
              <a:buClrTx/>
              <a:buFontTx/>
              <a:buNone/>
            </a:pPr>
            <a:r>
              <a:rPr lang="en-US" altLang="en-US" sz="2200" dirty="0">
                <a:latin typeface="Times New Roman" panose="02020603050405020304" pitchFamily="18" charset="0"/>
              </a:rPr>
              <a:t>    user if he/she believes there is a legitimate need to access the    </a:t>
            </a:r>
          </a:p>
          <a:p>
            <a:pPr eaLnBrk="1" hangingPunct="1">
              <a:spcBef>
                <a:spcPct val="0"/>
              </a:spcBef>
              <a:buClrTx/>
              <a:buFontTx/>
              <a:buNone/>
            </a:pPr>
            <a:r>
              <a:rPr lang="en-US" altLang="en-US" sz="2200" dirty="0">
                <a:latin typeface="Times New Roman" panose="02020603050405020304" pitchFamily="18" charset="0"/>
              </a:rPr>
              <a:t>    database</a:t>
            </a:r>
          </a:p>
        </p:txBody>
      </p:sp>
      <p:sp>
        <p:nvSpPr>
          <p:cNvPr id="24583" name="Rectangle 6">
            <a:extLst>
              <a:ext uri="{FF2B5EF4-FFF2-40B4-BE49-F238E27FC236}">
                <a16:creationId xmlns:a16="http://schemas.microsoft.com/office/drawing/2014/main" xmlns="" id="{7791D717-2B14-4016-BE4E-7A8148412D85}"/>
              </a:ext>
            </a:extLst>
          </p:cNvPr>
          <p:cNvSpPr>
            <a:spLocks noChangeArrowheads="1"/>
          </p:cNvSpPr>
          <p:nvPr/>
        </p:nvSpPr>
        <p:spPr bwMode="auto">
          <a:xfrm>
            <a:off x="228600" y="4038600"/>
            <a:ext cx="8229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marL="406400" indent="-404813">
              <a:spcBef>
                <a:spcPts val="800"/>
              </a:spcBef>
              <a:buClr>
                <a:srgbClr val="000000"/>
              </a:buClr>
              <a:buSzPct val="100000"/>
              <a:buFont typeface="Times New Roman" panose="02020603050405020304" pitchFamily="18" charset="0"/>
              <a:buChar char="•"/>
              <a:tabLst>
                <a:tab pos="406400" algn="l"/>
                <a:tab pos="1320800" algn="l"/>
                <a:tab pos="2235200" algn="l"/>
                <a:tab pos="3149600" algn="l"/>
                <a:tab pos="4064000" algn="l"/>
                <a:tab pos="4978400" algn="l"/>
                <a:tab pos="5892800" algn="l"/>
                <a:tab pos="6807200" algn="l"/>
                <a:tab pos="7721600" algn="l"/>
                <a:tab pos="8636000" algn="l"/>
                <a:tab pos="9550400" algn="l"/>
                <a:tab pos="104648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406400" algn="l"/>
                <a:tab pos="1320800" algn="l"/>
                <a:tab pos="2235200" algn="l"/>
                <a:tab pos="3149600" algn="l"/>
                <a:tab pos="4064000" algn="l"/>
                <a:tab pos="4978400" algn="l"/>
                <a:tab pos="5892800" algn="l"/>
                <a:tab pos="6807200" algn="l"/>
                <a:tab pos="7721600" algn="l"/>
                <a:tab pos="8636000" algn="l"/>
                <a:tab pos="9550400" algn="l"/>
                <a:tab pos="104648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406400" algn="l"/>
                <a:tab pos="1320800" algn="l"/>
                <a:tab pos="2235200" algn="l"/>
                <a:tab pos="3149600" algn="l"/>
                <a:tab pos="4064000" algn="l"/>
                <a:tab pos="4978400" algn="l"/>
                <a:tab pos="5892800" algn="l"/>
                <a:tab pos="6807200" algn="l"/>
                <a:tab pos="7721600" algn="l"/>
                <a:tab pos="8636000" algn="l"/>
                <a:tab pos="9550400" algn="l"/>
                <a:tab pos="104648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406400" algn="l"/>
                <a:tab pos="1320800" algn="l"/>
                <a:tab pos="2235200" algn="l"/>
                <a:tab pos="3149600" algn="l"/>
                <a:tab pos="4064000" algn="l"/>
                <a:tab pos="4978400" algn="l"/>
                <a:tab pos="5892800" algn="l"/>
                <a:tab pos="6807200" algn="l"/>
                <a:tab pos="7721600" algn="l"/>
                <a:tab pos="8636000" algn="l"/>
                <a:tab pos="9550400" algn="l"/>
                <a:tab pos="104648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406400" algn="l"/>
                <a:tab pos="1320800" algn="l"/>
                <a:tab pos="2235200" algn="l"/>
                <a:tab pos="3149600" algn="l"/>
                <a:tab pos="4064000" algn="l"/>
                <a:tab pos="4978400" algn="l"/>
                <a:tab pos="5892800" algn="l"/>
                <a:tab pos="6807200" algn="l"/>
                <a:tab pos="7721600" algn="l"/>
                <a:tab pos="8636000" algn="l"/>
                <a:tab pos="9550400" algn="l"/>
                <a:tab pos="104648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406400" algn="l"/>
                <a:tab pos="1320800" algn="l"/>
                <a:tab pos="2235200" algn="l"/>
                <a:tab pos="3149600" algn="l"/>
                <a:tab pos="4064000" algn="l"/>
                <a:tab pos="4978400" algn="l"/>
                <a:tab pos="5892800" algn="l"/>
                <a:tab pos="6807200" algn="l"/>
                <a:tab pos="7721600" algn="l"/>
                <a:tab pos="8636000" algn="l"/>
                <a:tab pos="9550400" algn="l"/>
                <a:tab pos="104648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406400" algn="l"/>
                <a:tab pos="1320800" algn="l"/>
                <a:tab pos="2235200" algn="l"/>
                <a:tab pos="3149600" algn="l"/>
                <a:tab pos="4064000" algn="l"/>
                <a:tab pos="4978400" algn="l"/>
                <a:tab pos="5892800" algn="l"/>
                <a:tab pos="6807200" algn="l"/>
                <a:tab pos="7721600" algn="l"/>
                <a:tab pos="8636000" algn="l"/>
                <a:tab pos="9550400" algn="l"/>
                <a:tab pos="104648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406400" algn="l"/>
                <a:tab pos="1320800" algn="l"/>
                <a:tab pos="2235200" algn="l"/>
                <a:tab pos="3149600" algn="l"/>
                <a:tab pos="4064000" algn="l"/>
                <a:tab pos="4978400" algn="l"/>
                <a:tab pos="5892800" algn="l"/>
                <a:tab pos="6807200" algn="l"/>
                <a:tab pos="7721600" algn="l"/>
                <a:tab pos="8636000" algn="l"/>
                <a:tab pos="9550400" algn="l"/>
                <a:tab pos="104648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406400" algn="l"/>
                <a:tab pos="1320800" algn="l"/>
                <a:tab pos="2235200" algn="l"/>
                <a:tab pos="3149600" algn="l"/>
                <a:tab pos="4064000" algn="l"/>
                <a:tab pos="4978400" algn="l"/>
                <a:tab pos="5892800" algn="l"/>
                <a:tab pos="6807200" algn="l"/>
                <a:tab pos="7721600" algn="l"/>
                <a:tab pos="8636000" algn="l"/>
                <a:tab pos="9550400" algn="l"/>
                <a:tab pos="10464800" algn="l"/>
              </a:tabLst>
              <a:defRPr sz="2000">
                <a:solidFill>
                  <a:srgbClr val="000000"/>
                </a:solidFill>
                <a:latin typeface="Arial" panose="020B0604020202020204" pitchFamily="34" charset="0"/>
                <a:cs typeface="WenQuanYi Micro Hei" charset="0"/>
              </a:defRPr>
            </a:lvl9pPr>
          </a:lstStyle>
          <a:p>
            <a:pPr eaLnBrk="1" hangingPunct="1">
              <a:spcBef>
                <a:spcPct val="0"/>
              </a:spcBef>
              <a:buClrTx/>
              <a:buFontTx/>
              <a:buNone/>
            </a:pPr>
            <a:r>
              <a:rPr lang="en-US" altLang="en-US" sz="2200" b="1" dirty="0">
                <a:solidFill>
                  <a:srgbClr val="0000CC"/>
                </a:solidFill>
                <a:latin typeface="Times New Roman" panose="02020603050405020304" pitchFamily="18" charset="0"/>
              </a:rPr>
              <a:t>Access Protection, User Accounts, and Databases Audits</a:t>
            </a:r>
          </a:p>
        </p:txBody>
      </p:sp>
    </p:spTree>
  </p:cSld>
  <p:clrMapOvr>
    <a:masterClrMapping/>
  </p:clrMapOvr>
  <p:transition spd="med">
    <p:strips dir="rd"/>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1">
            <a:extLst>
              <a:ext uri="{FF2B5EF4-FFF2-40B4-BE49-F238E27FC236}">
                <a16:creationId xmlns:a16="http://schemas.microsoft.com/office/drawing/2014/main" xmlns="" id="{30CC74B9-9298-41CF-B140-CBBE8DE1BE6C}"/>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algn="r" eaLnBrk="1" hangingPunct="1">
              <a:spcBef>
                <a:spcPct val="0"/>
              </a:spcBef>
              <a:buClrTx/>
              <a:buFontTx/>
              <a:buNone/>
            </a:pPr>
            <a:fld id="{7D191A48-51AF-4C22-A6E8-D484899F3F56}" type="slidenum">
              <a:rPr lang="en-US" altLang="en-US" sz="1400"/>
              <a:pPr algn="r" eaLnBrk="1" hangingPunct="1">
                <a:spcBef>
                  <a:spcPct val="0"/>
                </a:spcBef>
                <a:buClrTx/>
                <a:buFontTx/>
                <a:buNone/>
              </a:pPr>
              <a:t>25</a:t>
            </a:fld>
            <a:endParaRPr lang="en-US" altLang="en-US" sz="1400"/>
          </a:p>
        </p:txBody>
      </p:sp>
      <p:sp>
        <p:nvSpPr>
          <p:cNvPr id="26627" name="Text Box 2">
            <a:extLst>
              <a:ext uri="{FF2B5EF4-FFF2-40B4-BE49-F238E27FC236}">
                <a16:creationId xmlns:a16="http://schemas.microsoft.com/office/drawing/2014/main" xmlns="" id="{5E341A3A-D6A9-4E13-AE0F-618431B1187D}"/>
              </a:ext>
            </a:extLst>
          </p:cNvPr>
          <p:cNvSpPr txBox="1">
            <a:spLocks noChangeArrowheads="1"/>
          </p:cNvSpPr>
          <p:nvPr/>
        </p:nvSpPr>
        <p:spPr bwMode="auto">
          <a:xfrm>
            <a:off x="228600" y="304800"/>
            <a:ext cx="8610600" cy="641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1313" indent="-341313">
              <a:spcBef>
                <a:spcPts val="8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panose="020B0604020202020204" pitchFamily="34" charset="0"/>
                <a:cs typeface="WenQuanYi Micro Hei" charset="0"/>
              </a:defRPr>
            </a:lvl1pPr>
            <a:lvl2pPr marL="741363" indent="-284163">
              <a:spcBef>
                <a:spcPts val="7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9pPr>
          </a:lstStyle>
          <a:p>
            <a:pPr marL="0" lvl="0" indent="0">
              <a:lnSpc>
                <a:spcPct val="150000"/>
              </a:lnSpc>
              <a:spcBef>
                <a:spcPts val="0"/>
              </a:spcBef>
              <a:buClrTx/>
              <a:buSzTx/>
              <a:buFont typeface="Wingdings" panose="05000000000000000000" pitchFamily="2" charset="2"/>
              <a:buChar char="Ø"/>
              <a:tabLst/>
            </a:pPr>
            <a:r>
              <a:rPr lang="en-US" sz="2000" dirty="0">
                <a:solidFill>
                  <a:prstClr val="black"/>
                </a:solidFill>
                <a:latin typeface="Times New Roman" panose="02020603050405020304" pitchFamily="18" charset="0"/>
                <a:cs typeface="Times New Roman" panose="02020603050405020304" pitchFamily="18" charset="0"/>
              </a:rPr>
              <a:t>A </a:t>
            </a:r>
            <a:r>
              <a:rPr lang="en-US" sz="2000" b="1" dirty="0">
                <a:solidFill>
                  <a:srgbClr val="FF0000"/>
                </a:solidFill>
                <a:latin typeface="Times New Roman" panose="02020603050405020304" pitchFamily="18" charset="0"/>
                <a:cs typeface="Times New Roman" panose="02020603050405020304" pitchFamily="18" charset="0"/>
              </a:rPr>
              <a:t>database audit</a:t>
            </a:r>
            <a:r>
              <a:rPr lang="en-US" sz="2000" dirty="0">
                <a:solidFill>
                  <a:srgbClr val="FF0000"/>
                </a:solidFill>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is the systematic process of tracking and documenting database activities to ensure compliance, security, and operational integrity. </a:t>
            </a:r>
          </a:p>
          <a:p>
            <a:pPr marL="0" lvl="0" indent="0">
              <a:lnSpc>
                <a:spcPct val="150000"/>
              </a:lnSpc>
              <a:spcBef>
                <a:spcPts val="0"/>
              </a:spcBef>
              <a:buClrTx/>
              <a:buSzTx/>
              <a:buFont typeface="Wingdings" panose="05000000000000000000" pitchFamily="2" charset="2"/>
              <a:buChar char="Ø"/>
              <a:tabLst/>
            </a:pPr>
            <a:r>
              <a:rPr lang="en-US" sz="1800" dirty="0">
                <a:solidFill>
                  <a:prstClr val="black"/>
                </a:solidFill>
                <a:latin typeface="Times New Roman" panose="02020603050405020304" pitchFamily="18" charset="0"/>
                <a:cs typeface="Times New Roman" panose="02020603050405020304" pitchFamily="18" charset="0"/>
              </a:rPr>
              <a:t>  </a:t>
            </a:r>
            <a:r>
              <a:rPr lang="en-US" sz="2000" dirty="0">
                <a:solidFill>
                  <a:prstClr val="black"/>
                </a:solidFill>
                <a:latin typeface="Times New Roman" panose="02020603050405020304" pitchFamily="18" charset="0"/>
                <a:cs typeface="Times New Roman" panose="02020603050405020304" pitchFamily="18" charset="0"/>
              </a:rPr>
              <a:t>It involves the </a:t>
            </a:r>
            <a:r>
              <a:rPr lang="en-US" sz="2000" b="1" dirty="0">
                <a:solidFill>
                  <a:prstClr val="black"/>
                </a:solidFill>
                <a:latin typeface="Times New Roman" panose="02020603050405020304" pitchFamily="18" charset="0"/>
                <a:cs typeface="Times New Roman" panose="02020603050405020304" pitchFamily="18" charset="0"/>
              </a:rPr>
              <a:t>collection, recording, and analysis</a:t>
            </a:r>
            <a:r>
              <a:rPr lang="en-US" sz="2000" dirty="0">
                <a:solidFill>
                  <a:prstClr val="black"/>
                </a:solidFill>
                <a:latin typeface="Times New Roman" panose="02020603050405020304" pitchFamily="18" charset="0"/>
                <a:cs typeface="Times New Roman" panose="02020603050405020304" pitchFamily="18" charset="0"/>
              </a:rPr>
              <a:t> of database events and actions.</a:t>
            </a:r>
          </a:p>
          <a:p>
            <a:pPr marL="0" lvl="0" indent="0">
              <a:lnSpc>
                <a:spcPct val="150000"/>
              </a:lnSpc>
              <a:spcBef>
                <a:spcPts val="0"/>
              </a:spcBef>
              <a:buClrTx/>
              <a:buSzTx/>
              <a:buFont typeface="Wingdings" panose="05000000000000000000" pitchFamily="2" charset="2"/>
              <a:buChar char="Ø"/>
              <a:tabLst/>
            </a:pPr>
            <a:r>
              <a:rPr lang="en-US" sz="2000" dirty="0">
                <a:solidFill>
                  <a:prstClr val="black"/>
                </a:solidFill>
                <a:latin typeface="Times New Roman" panose="02020603050405020304" pitchFamily="18" charset="0"/>
                <a:cs typeface="Times New Roman" panose="02020603050405020304" pitchFamily="18" charset="0"/>
              </a:rPr>
              <a:t> This is typically done using </a:t>
            </a:r>
            <a:r>
              <a:rPr lang="en-US" sz="2000" b="1" dirty="0">
                <a:solidFill>
                  <a:prstClr val="black"/>
                </a:solidFill>
                <a:latin typeface="Times New Roman" panose="02020603050405020304" pitchFamily="18" charset="0"/>
                <a:cs typeface="Times New Roman" panose="02020603050405020304" pitchFamily="18" charset="0"/>
              </a:rPr>
              <a:t>audit trails</a:t>
            </a:r>
            <a:r>
              <a:rPr lang="en-US" sz="2000" dirty="0">
                <a:solidFill>
                  <a:prstClr val="black"/>
                </a:solidFill>
                <a:latin typeface="Times New Roman" panose="02020603050405020304" pitchFamily="18" charset="0"/>
                <a:cs typeface="Times New Roman" panose="02020603050405020304" pitchFamily="18" charset="0"/>
              </a:rPr>
              <a:t> (logs) that capture:</a:t>
            </a:r>
          </a:p>
          <a:p>
            <a:pPr marL="0" lvl="0" indent="0">
              <a:lnSpc>
                <a:spcPct val="150000"/>
              </a:lnSpc>
              <a:spcBef>
                <a:spcPts val="0"/>
              </a:spcBef>
              <a:buClrTx/>
              <a:buSzTx/>
              <a:buFont typeface="Wingdings" panose="05000000000000000000" pitchFamily="2" charset="2"/>
              <a:buChar char="Ø"/>
              <a:tabLst/>
            </a:pPr>
            <a:r>
              <a:rPr lang="en-US" sz="2000" b="1" dirty="0">
                <a:solidFill>
                  <a:prstClr val="black"/>
                </a:solidFill>
                <a:latin typeface="Times New Roman" panose="02020603050405020304" pitchFamily="18" charset="0"/>
                <a:cs typeface="Times New Roman" panose="02020603050405020304" pitchFamily="18" charset="0"/>
              </a:rPr>
              <a:t>Who</a:t>
            </a:r>
            <a:r>
              <a:rPr lang="en-US" sz="2000" dirty="0">
                <a:solidFill>
                  <a:prstClr val="black"/>
                </a:solidFill>
                <a:latin typeface="Times New Roman" panose="02020603050405020304" pitchFamily="18" charset="0"/>
                <a:cs typeface="Times New Roman" panose="02020603050405020304" pitchFamily="18" charset="0"/>
              </a:rPr>
              <a:t> accessed the data (user, application, IP address)</a:t>
            </a:r>
          </a:p>
          <a:p>
            <a:pPr marL="0" lvl="0" indent="0">
              <a:lnSpc>
                <a:spcPct val="150000"/>
              </a:lnSpc>
              <a:spcBef>
                <a:spcPts val="0"/>
              </a:spcBef>
              <a:buClrTx/>
              <a:buSzTx/>
              <a:buFont typeface="Wingdings" panose="05000000000000000000" pitchFamily="2" charset="2"/>
              <a:buChar char="Ø"/>
              <a:tabLst/>
            </a:pPr>
            <a:r>
              <a:rPr lang="en-US" sz="2000" b="1" dirty="0">
                <a:solidFill>
                  <a:prstClr val="black"/>
                </a:solidFill>
                <a:latin typeface="Times New Roman" panose="02020603050405020304" pitchFamily="18" charset="0"/>
                <a:cs typeface="Times New Roman" panose="02020603050405020304" pitchFamily="18" charset="0"/>
              </a:rPr>
              <a:t>What</a:t>
            </a:r>
            <a:r>
              <a:rPr lang="en-US" sz="2000" dirty="0">
                <a:solidFill>
                  <a:prstClr val="black"/>
                </a:solidFill>
                <a:latin typeface="Times New Roman" panose="02020603050405020304" pitchFamily="18" charset="0"/>
                <a:cs typeface="Times New Roman" panose="02020603050405020304" pitchFamily="18" charset="0"/>
              </a:rPr>
              <a:t> action was performed (SELECT, UPDATE, DELETE, etc.)</a:t>
            </a:r>
          </a:p>
          <a:p>
            <a:pPr marL="0" lvl="0" indent="0">
              <a:lnSpc>
                <a:spcPct val="150000"/>
              </a:lnSpc>
              <a:spcBef>
                <a:spcPts val="0"/>
              </a:spcBef>
              <a:buClrTx/>
              <a:buSzTx/>
              <a:buFont typeface="Wingdings" panose="05000000000000000000" pitchFamily="2" charset="2"/>
              <a:buChar char="Ø"/>
              <a:tabLst/>
            </a:pPr>
            <a:r>
              <a:rPr lang="en-US" sz="2000" b="1" dirty="0">
                <a:solidFill>
                  <a:prstClr val="black"/>
                </a:solidFill>
                <a:latin typeface="Times New Roman" panose="02020603050405020304" pitchFamily="18" charset="0"/>
                <a:cs typeface="Times New Roman" panose="02020603050405020304" pitchFamily="18" charset="0"/>
              </a:rPr>
              <a:t>When</a:t>
            </a:r>
            <a:r>
              <a:rPr lang="en-US" sz="2000" dirty="0">
                <a:solidFill>
                  <a:prstClr val="black"/>
                </a:solidFill>
                <a:latin typeface="Times New Roman" panose="02020603050405020304" pitchFamily="18" charset="0"/>
                <a:cs typeface="Times New Roman" panose="02020603050405020304" pitchFamily="18" charset="0"/>
              </a:rPr>
              <a:t> it happened (timestamp)</a:t>
            </a:r>
          </a:p>
          <a:p>
            <a:pPr marL="0" lvl="0" indent="0">
              <a:lnSpc>
                <a:spcPct val="150000"/>
              </a:lnSpc>
              <a:spcBef>
                <a:spcPts val="0"/>
              </a:spcBef>
              <a:buClrTx/>
              <a:buSzTx/>
              <a:buFont typeface="Wingdings" panose="05000000000000000000" pitchFamily="2" charset="2"/>
              <a:buChar char="Ø"/>
              <a:tabLst/>
            </a:pPr>
            <a:r>
              <a:rPr lang="en-US" sz="2000" b="1" dirty="0">
                <a:solidFill>
                  <a:prstClr val="black"/>
                </a:solidFill>
                <a:latin typeface="Times New Roman" panose="02020603050405020304" pitchFamily="18" charset="0"/>
                <a:cs typeface="Times New Roman" panose="02020603050405020304" pitchFamily="18" charset="0"/>
              </a:rPr>
              <a:t>What</a:t>
            </a:r>
            <a:r>
              <a:rPr lang="en-US" sz="2000" dirty="0">
                <a:solidFill>
                  <a:prstClr val="black"/>
                </a:solidFill>
                <a:latin typeface="Times New Roman" panose="02020603050405020304" pitchFamily="18" charset="0"/>
                <a:cs typeface="Times New Roman" panose="02020603050405020304" pitchFamily="18" charset="0"/>
              </a:rPr>
              <a:t> specific data was affected (e.g., which rows were changed)</a:t>
            </a:r>
          </a:p>
          <a:p>
            <a:pPr marL="0" lvl="0" indent="0">
              <a:lnSpc>
                <a:spcPct val="150000"/>
              </a:lnSpc>
              <a:spcBef>
                <a:spcPts val="0"/>
              </a:spcBef>
              <a:buClrTx/>
              <a:buSzTx/>
              <a:buFont typeface="Wingdings" panose="05000000000000000000" pitchFamily="2" charset="2"/>
              <a:buChar char="Ø"/>
              <a:tabLst/>
            </a:pPr>
            <a:r>
              <a:rPr lang="en-US" sz="2000" b="1" dirty="0">
                <a:solidFill>
                  <a:prstClr val="black"/>
                </a:solidFill>
                <a:latin typeface="Times New Roman" panose="02020603050405020304" pitchFamily="18" charset="0"/>
                <a:cs typeface="Times New Roman" panose="02020603050405020304" pitchFamily="18" charset="0"/>
              </a:rPr>
              <a:t>Where</a:t>
            </a:r>
            <a:r>
              <a:rPr lang="en-US" sz="2000" dirty="0">
                <a:solidFill>
                  <a:prstClr val="black"/>
                </a:solidFill>
                <a:latin typeface="Times New Roman" panose="02020603050405020304" pitchFamily="18" charset="0"/>
                <a:cs typeface="Times New Roman" panose="02020603050405020304" pitchFamily="18" charset="0"/>
              </a:rPr>
              <a:t> the request came from (which machine or application</a:t>
            </a:r>
            <a:r>
              <a:rPr lang="en-US" sz="1800" dirty="0">
                <a:solidFill>
                  <a:prstClr val="black"/>
                </a:solidFill>
                <a:latin typeface="Times New Roman" panose="02020603050405020304" pitchFamily="18" charset="0"/>
                <a:cs typeface="Times New Roman" panose="02020603050405020304" pitchFamily="18" charset="0"/>
              </a:rPr>
              <a:t>)</a:t>
            </a:r>
          </a:p>
        </p:txBody>
      </p:sp>
      <p:sp>
        <p:nvSpPr>
          <p:cNvPr id="20483" name="Rectangle 3">
            <a:extLst>
              <a:ext uri="{FF2B5EF4-FFF2-40B4-BE49-F238E27FC236}">
                <a16:creationId xmlns:a16="http://schemas.microsoft.com/office/drawing/2014/main" xmlns="" id="{801471C5-691D-4CBA-A925-390CBC5C378B}"/>
              </a:ext>
            </a:extLst>
          </p:cNvPr>
          <p:cNvSpPr>
            <a:spLocks noChangeArrowheads="1"/>
          </p:cNvSpPr>
          <p:nvPr/>
        </p:nvSpPr>
        <p:spPr bwMode="auto">
          <a:xfrm>
            <a:off x="242887" y="5029200"/>
            <a:ext cx="8686800" cy="962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6800" rIns="90000" bIns="46800">
            <a:spAutoFit/>
          </a:bodyPr>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eaLnBrk="1" hangingPunct="1">
              <a:lnSpc>
                <a:spcPct val="150000"/>
              </a:lnSpc>
              <a:spcBef>
                <a:spcPct val="0"/>
              </a:spcBef>
              <a:buClr>
                <a:srgbClr val="FF3399"/>
              </a:buClr>
              <a:buFont typeface="Wingdings" panose="05000000000000000000" pitchFamily="2" charset="2"/>
              <a:buChar char=""/>
            </a:pPr>
            <a:r>
              <a:rPr lang="en-US" altLang="en-US" sz="2000" dirty="0">
                <a:latin typeface="Times New Roman" panose="02020603050405020304" pitchFamily="18" charset="0"/>
              </a:rPr>
              <a:t>To protect databases against the possible threats </a:t>
            </a:r>
            <a:r>
              <a:rPr lang="en-US" altLang="en-US" sz="2000" dirty="0">
                <a:solidFill>
                  <a:srgbClr val="0000CC"/>
                </a:solidFill>
                <a:latin typeface="Times New Roman" panose="02020603050405020304" pitchFamily="18" charset="0"/>
              </a:rPr>
              <a:t>two </a:t>
            </a:r>
            <a:r>
              <a:rPr lang="en-US" altLang="en-US" sz="2000" dirty="0">
                <a:latin typeface="Times New Roman" panose="02020603050405020304" pitchFamily="18" charset="0"/>
              </a:rPr>
              <a:t>kinds of countermeasures can   </a:t>
            </a:r>
          </a:p>
          <a:p>
            <a:pPr eaLnBrk="1" hangingPunct="1">
              <a:lnSpc>
                <a:spcPct val="150000"/>
              </a:lnSpc>
              <a:spcBef>
                <a:spcPct val="0"/>
              </a:spcBef>
              <a:buClrTx/>
              <a:buFontTx/>
              <a:buNone/>
            </a:pPr>
            <a:r>
              <a:rPr lang="en-US" altLang="en-US" sz="2000" dirty="0">
                <a:latin typeface="Times New Roman" panose="02020603050405020304" pitchFamily="18" charset="0"/>
              </a:rPr>
              <a:t>  be implemented</a:t>
            </a:r>
            <a:r>
              <a:rPr lang="en-US" altLang="en-US" sz="2000" dirty="0">
                <a:solidFill>
                  <a:srgbClr val="0000CC"/>
                </a:solidFill>
                <a:latin typeface="Times New Roman" panose="02020603050405020304" pitchFamily="18" charset="0"/>
              </a:rPr>
              <a:t>: </a:t>
            </a:r>
            <a:r>
              <a:rPr lang="en-US" altLang="en-US" sz="2000" b="1" i="1" dirty="0">
                <a:solidFill>
                  <a:srgbClr val="FF0066"/>
                </a:solidFill>
                <a:latin typeface="Times New Roman" panose="02020603050405020304" pitchFamily="18" charset="0"/>
              </a:rPr>
              <a:t>Access control</a:t>
            </a:r>
            <a:r>
              <a:rPr lang="en-US" altLang="en-US" sz="2000" b="1" i="1" dirty="0">
                <a:solidFill>
                  <a:srgbClr val="0000CC"/>
                </a:solidFill>
                <a:latin typeface="Times New Roman" panose="02020603050405020304" pitchFamily="18" charset="0"/>
              </a:rPr>
              <a:t> ,</a:t>
            </a:r>
            <a:r>
              <a:rPr lang="en-US" altLang="en-US" sz="2000" b="1" i="1" dirty="0">
                <a:solidFill>
                  <a:srgbClr val="FF0066"/>
                </a:solidFill>
                <a:latin typeface="Times New Roman" panose="02020603050405020304" pitchFamily="18" charset="0"/>
              </a:rPr>
              <a:t>and  </a:t>
            </a:r>
            <a:r>
              <a:rPr lang="en-US" altLang="en-US" sz="2000" b="1" i="1" dirty="0">
                <a:solidFill>
                  <a:srgbClr val="FF0000"/>
                </a:solidFill>
                <a:latin typeface="Times New Roman" panose="02020603050405020304" pitchFamily="18" charset="0"/>
              </a:rPr>
              <a:t>Encryption</a:t>
            </a:r>
          </a:p>
        </p:txBody>
      </p:sp>
    </p:spTree>
  </p:cSld>
  <p:clrMapOvr>
    <a:masterClrMapping/>
  </p:clrMapOvr>
  <p:transition spd="med">
    <p:strips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additive="repl">
                                        <p:cTn id="6" dur="1" fill="hold">
                                          <p:stCondLst>
                                            <p:cond delay="0"/>
                                          </p:stCondLst>
                                        </p:cTn>
                                        <p:tgtEl>
                                          <p:spTgt spid="20483"/>
                                        </p:tgtEl>
                                        <p:attrNameLst>
                                          <p:attrName>style.visibility</p:attrName>
                                        </p:attrNameLst>
                                      </p:cBhvr>
                                      <p:to>
                                        <p:strVal val="visible"/>
                                      </p:to>
                                    </p:set>
                                    <p:anim calcmode="lin" valueType="num">
                                      <p:cBhvr>
                                        <p:cTn id="7" dur="500" fill="hold"/>
                                        <p:tgtEl>
                                          <p:spTgt spid="20483"/>
                                        </p:tgtEl>
                                        <p:attrNameLst>
                                          <p:attrName>ppt_x</p:attrName>
                                        </p:attrNameLst>
                                      </p:cBhvr>
                                      <p:tavLst>
                                        <p:tav tm="100000">
                                          <p:val>
                                            <p:strVal val="#ppt_x"/>
                                          </p:val>
                                        </p:tav>
                                        <p:tav>
                                          <p:val>
                                            <p:strVal val="#ppt_x"/>
                                          </p:val>
                                        </p:tav>
                                      </p:tavLst>
                                    </p:anim>
                                    <p:anim calcmode="lin" valueType="num">
                                      <p:cBhvr>
                                        <p:cTn id="8" dur="500" fill="hold"/>
                                        <p:tgtEl>
                                          <p:spTgt spid="20483"/>
                                        </p:tgtEl>
                                        <p:attrNameLst>
                                          <p:attrName>ppt_y</p:attrName>
                                        </p:attrNameLst>
                                      </p:cBhvr>
                                      <p:tavLst>
                                        <p:tav tm="100000">
                                          <p:val>
                                            <p:strVal val="1+#ppt_h/2"/>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1">
            <a:extLst>
              <a:ext uri="{FF2B5EF4-FFF2-40B4-BE49-F238E27FC236}">
                <a16:creationId xmlns:a16="http://schemas.microsoft.com/office/drawing/2014/main" xmlns="" id="{FE96B7F1-29E4-4A77-9FF0-E67C8E000CEA}"/>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algn="r" eaLnBrk="1" hangingPunct="1">
              <a:spcBef>
                <a:spcPct val="0"/>
              </a:spcBef>
              <a:buClrTx/>
              <a:buFontTx/>
              <a:buNone/>
            </a:pPr>
            <a:fld id="{FB75FAC2-49B4-4365-ACA7-22445E8F63B1}" type="slidenum">
              <a:rPr lang="en-US" altLang="en-US" sz="1400"/>
              <a:pPr algn="r" eaLnBrk="1" hangingPunct="1">
                <a:spcBef>
                  <a:spcPct val="0"/>
                </a:spcBef>
                <a:buClrTx/>
                <a:buFontTx/>
                <a:buNone/>
              </a:pPr>
              <a:t>26</a:t>
            </a:fld>
            <a:endParaRPr lang="en-US" altLang="en-US" sz="1400"/>
          </a:p>
        </p:txBody>
      </p:sp>
      <p:sp>
        <p:nvSpPr>
          <p:cNvPr id="28675" name="Text Box 2">
            <a:extLst>
              <a:ext uri="{FF2B5EF4-FFF2-40B4-BE49-F238E27FC236}">
                <a16:creationId xmlns:a16="http://schemas.microsoft.com/office/drawing/2014/main" xmlns="" id="{357AB4B2-5D1F-4FAD-8688-6CC43A5168CC}"/>
              </a:ext>
            </a:extLst>
          </p:cNvPr>
          <p:cNvSpPr txBox="1">
            <a:spLocks noChangeArrowheads="1"/>
          </p:cNvSpPr>
          <p:nvPr/>
        </p:nvSpPr>
        <p:spPr bwMode="auto">
          <a:xfrm>
            <a:off x="457200" y="571500"/>
            <a:ext cx="586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marL="177800" indent="-176213">
              <a:spcBef>
                <a:spcPts val="8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9pPr>
          </a:lstStyle>
          <a:p>
            <a:pPr eaLnBrk="1" hangingPunct="1">
              <a:spcBef>
                <a:spcPct val="0"/>
              </a:spcBef>
              <a:buClrTx/>
              <a:buFontTx/>
              <a:buNone/>
            </a:pPr>
            <a:r>
              <a:rPr lang="en-US" altLang="en-US" sz="2400" b="1">
                <a:solidFill>
                  <a:srgbClr val="FF0000"/>
                </a:solidFill>
                <a:latin typeface="Times New Roman" panose="02020603050405020304" pitchFamily="18" charset="0"/>
              </a:rPr>
              <a:t>2. 1</a:t>
            </a:r>
            <a:r>
              <a:rPr lang="en-US" altLang="en-US" sz="2400" b="1">
                <a:solidFill>
                  <a:srgbClr val="0000CC"/>
                </a:solidFill>
                <a:latin typeface="Times New Roman" panose="02020603050405020304" pitchFamily="18" charset="0"/>
              </a:rPr>
              <a:t>. Discretionary Access Control (DAC)</a:t>
            </a:r>
          </a:p>
        </p:txBody>
      </p:sp>
      <p:sp>
        <p:nvSpPr>
          <p:cNvPr id="28676" name="Text Box 3">
            <a:extLst>
              <a:ext uri="{FF2B5EF4-FFF2-40B4-BE49-F238E27FC236}">
                <a16:creationId xmlns:a16="http://schemas.microsoft.com/office/drawing/2014/main" xmlns="" id="{E1732E2A-EA22-43B3-BC2D-7F8DADEC6789}"/>
              </a:ext>
            </a:extLst>
          </p:cNvPr>
          <p:cNvSpPr txBox="1">
            <a:spLocks noChangeArrowheads="1"/>
          </p:cNvSpPr>
          <p:nvPr/>
        </p:nvSpPr>
        <p:spPr bwMode="auto">
          <a:xfrm>
            <a:off x="457200" y="1170990"/>
            <a:ext cx="8382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519113" indent="-519113">
              <a:spcBef>
                <a:spcPts val="800"/>
              </a:spcBef>
              <a:buClr>
                <a:srgbClr val="000000"/>
              </a:buClr>
              <a:buSzPct val="100000"/>
              <a:buFont typeface="Times New Roman" panose="02020603050405020304" pitchFamily="18" charset="0"/>
              <a:buChar char="•"/>
              <a:tabLst>
                <a:tab pos="1089025" algn="l"/>
                <a:tab pos="2003425" algn="l"/>
                <a:tab pos="2917825" algn="l"/>
                <a:tab pos="3832225" algn="l"/>
                <a:tab pos="4746625" algn="l"/>
                <a:tab pos="5661025" algn="l"/>
                <a:tab pos="6575425" algn="l"/>
                <a:tab pos="7489825" algn="l"/>
                <a:tab pos="8404225" algn="l"/>
                <a:tab pos="9318625" algn="l"/>
                <a:tab pos="10233025"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1089025" algn="l"/>
                <a:tab pos="2003425" algn="l"/>
                <a:tab pos="2917825" algn="l"/>
                <a:tab pos="3832225" algn="l"/>
                <a:tab pos="4746625" algn="l"/>
                <a:tab pos="5661025" algn="l"/>
                <a:tab pos="6575425" algn="l"/>
                <a:tab pos="7489825" algn="l"/>
                <a:tab pos="8404225" algn="l"/>
                <a:tab pos="9318625" algn="l"/>
                <a:tab pos="10233025"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1089025" algn="l"/>
                <a:tab pos="2003425" algn="l"/>
                <a:tab pos="2917825" algn="l"/>
                <a:tab pos="3832225" algn="l"/>
                <a:tab pos="4746625" algn="l"/>
                <a:tab pos="5661025" algn="l"/>
                <a:tab pos="6575425" algn="l"/>
                <a:tab pos="7489825" algn="l"/>
                <a:tab pos="8404225" algn="l"/>
                <a:tab pos="9318625" algn="l"/>
                <a:tab pos="10233025"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1089025" algn="l"/>
                <a:tab pos="2003425" algn="l"/>
                <a:tab pos="2917825" algn="l"/>
                <a:tab pos="3832225" algn="l"/>
                <a:tab pos="4746625" algn="l"/>
                <a:tab pos="5661025" algn="l"/>
                <a:tab pos="6575425" algn="l"/>
                <a:tab pos="7489825" algn="l"/>
                <a:tab pos="8404225" algn="l"/>
                <a:tab pos="9318625" algn="l"/>
                <a:tab pos="10233025"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1089025" algn="l"/>
                <a:tab pos="2003425" algn="l"/>
                <a:tab pos="2917825" algn="l"/>
                <a:tab pos="3832225" algn="l"/>
                <a:tab pos="4746625" algn="l"/>
                <a:tab pos="5661025" algn="l"/>
                <a:tab pos="6575425" algn="l"/>
                <a:tab pos="7489825" algn="l"/>
                <a:tab pos="8404225" algn="l"/>
                <a:tab pos="9318625" algn="l"/>
                <a:tab pos="10233025"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089025" algn="l"/>
                <a:tab pos="2003425" algn="l"/>
                <a:tab pos="2917825" algn="l"/>
                <a:tab pos="3832225" algn="l"/>
                <a:tab pos="4746625" algn="l"/>
                <a:tab pos="5661025" algn="l"/>
                <a:tab pos="6575425" algn="l"/>
                <a:tab pos="7489825" algn="l"/>
                <a:tab pos="8404225" algn="l"/>
                <a:tab pos="9318625" algn="l"/>
                <a:tab pos="10233025"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089025" algn="l"/>
                <a:tab pos="2003425" algn="l"/>
                <a:tab pos="2917825" algn="l"/>
                <a:tab pos="3832225" algn="l"/>
                <a:tab pos="4746625" algn="l"/>
                <a:tab pos="5661025" algn="l"/>
                <a:tab pos="6575425" algn="l"/>
                <a:tab pos="7489825" algn="l"/>
                <a:tab pos="8404225" algn="l"/>
                <a:tab pos="9318625" algn="l"/>
                <a:tab pos="10233025"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089025" algn="l"/>
                <a:tab pos="2003425" algn="l"/>
                <a:tab pos="2917825" algn="l"/>
                <a:tab pos="3832225" algn="l"/>
                <a:tab pos="4746625" algn="l"/>
                <a:tab pos="5661025" algn="l"/>
                <a:tab pos="6575425" algn="l"/>
                <a:tab pos="7489825" algn="l"/>
                <a:tab pos="8404225" algn="l"/>
                <a:tab pos="9318625" algn="l"/>
                <a:tab pos="10233025"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089025" algn="l"/>
                <a:tab pos="2003425" algn="l"/>
                <a:tab pos="2917825" algn="l"/>
                <a:tab pos="3832225" algn="l"/>
                <a:tab pos="4746625" algn="l"/>
                <a:tab pos="5661025" algn="l"/>
                <a:tab pos="6575425" algn="l"/>
                <a:tab pos="7489825" algn="l"/>
                <a:tab pos="8404225" algn="l"/>
                <a:tab pos="9318625" algn="l"/>
                <a:tab pos="10233025" algn="l"/>
              </a:tabLst>
              <a:defRPr sz="2000">
                <a:solidFill>
                  <a:srgbClr val="000000"/>
                </a:solidFill>
                <a:latin typeface="Arial" panose="020B0604020202020204" pitchFamily="34" charset="0"/>
                <a:cs typeface="WenQuanYi Micro Hei" charset="0"/>
              </a:defRPr>
            </a:lvl9pPr>
          </a:lstStyle>
          <a:p>
            <a:pPr eaLnBrk="1" hangingPunct="1">
              <a:lnSpc>
                <a:spcPct val="150000"/>
              </a:lnSpc>
              <a:spcBef>
                <a:spcPts val="550"/>
              </a:spcBef>
              <a:buClr>
                <a:srgbClr val="FF0066"/>
              </a:buClr>
              <a:buFont typeface="Wingdings" panose="05000000000000000000" pitchFamily="2" charset="2"/>
              <a:buChar char="Ø"/>
            </a:pPr>
            <a:r>
              <a:rPr lang="en-US" altLang="en-US" sz="2000" dirty="0">
                <a:latin typeface="Times New Roman" panose="02020603050405020304" pitchFamily="18" charset="0"/>
              </a:rPr>
              <a:t>The typical method of enforcing discretionary access control in a database system is based on the granting and revoking privileges</a:t>
            </a:r>
            <a:r>
              <a:rPr lang="en-US" altLang="en-US" sz="2200" dirty="0">
                <a:latin typeface="Times New Roman" panose="02020603050405020304" pitchFamily="18" charset="0"/>
              </a:rPr>
              <a:t>.</a:t>
            </a:r>
          </a:p>
          <a:p>
            <a:pPr>
              <a:lnSpc>
                <a:spcPct val="150000"/>
              </a:lnSpc>
              <a:spcBef>
                <a:spcPts val="550"/>
              </a:spcBef>
              <a:buClr>
                <a:srgbClr val="FF0066"/>
              </a:buClr>
              <a:buFont typeface="Wingdings" panose="05000000000000000000" pitchFamily="2" charset="2"/>
              <a:buChar char="Ø"/>
            </a:pPr>
            <a:r>
              <a:rPr lang="en-US" altLang="en-US" sz="2000" dirty="0">
                <a:latin typeface="Times New Roman" panose="02020603050405020304" pitchFamily="18" charset="0"/>
              </a:rPr>
              <a:t>These are defined by user identification during authentication</a:t>
            </a:r>
          </a:p>
          <a:p>
            <a:pPr>
              <a:lnSpc>
                <a:spcPct val="150000"/>
              </a:lnSpc>
              <a:spcBef>
                <a:spcPts val="550"/>
              </a:spcBef>
              <a:buClr>
                <a:srgbClr val="FF0066"/>
              </a:buClr>
              <a:buFont typeface="Wingdings" panose="05000000000000000000" pitchFamily="2" charset="2"/>
              <a:buChar char="Ø"/>
            </a:pPr>
            <a:r>
              <a:rPr lang="en-US" altLang="en-US" sz="2000" dirty="0">
                <a:latin typeface="Times New Roman" panose="02020603050405020304" pitchFamily="18" charset="0"/>
              </a:rPr>
              <a:t> Example:  username, password. </a:t>
            </a:r>
          </a:p>
          <a:p>
            <a:pPr>
              <a:lnSpc>
                <a:spcPct val="150000"/>
              </a:lnSpc>
              <a:spcBef>
                <a:spcPts val="550"/>
              </a:spcBef>
              <a:buClr>
                <a:srgbClr val="FF0066"/>
              </a:buClr>
              <a:buFont typeface="Wingdings" panose="05000000000000000000" pitchFamily="2" charset="2"/>
              <a:buChar char="Ø"/>
            </a:pPr>
            <a:r>
              <a:rPr lang="en-US" altLang="en-US" sz="2000" dirty="0">
                <a:latin typeface="Times New Roman" panose="02020603050405020304" pitchFamily="18" charset="0"/>
              </a:rPr>
              <a:t>Its main aim is to grant and revoke privileges to users.</a:t>
            </a:r>
          </a:p>
          <a:p>
            <a:pPr marL="0" indent="0" eaLnBrk="1" hangingPunct="1">
              <a:lnSpc>
                <a:spcPct val="150000"/>
              </a:lnSpc>
              <a:spcBef>
                <a:spcPts val="550"/>
              </a:spcBef>
              <a:buClr>
                <a:srgbClr val="FF0066"/>
              </a:buClr>
              <a:buNone/>
            </a:pPr>
            <a:endParaRPr lang="en-US" altLang="en-US" sz="2200" dirty="0">
              <a:latin typeface="Times New Roman" panose="02020603050405020304" pitchFamily="18" charset="0"/>
            </a:endParaRPr>
          </a:p>
        </p:txBody>
      </p:sp>
      <p:sp>
        <p:nvSpPr>
          <p:cNvPr id="28678" name="Text Box 5">
            <a:extLst>
              <a:ext uri="{FF2B5EF4-FFF2-40B4-BE49-F238E27FC236}">
                <a16:creationId xmlns:a16="http://schemas.microsoft.com/office/drawing/2014/main" xmlns="" id="{28AE57C9-B171-43AF-A3A2-93DBCAF7929C}"/>
              </a:ext>
            </a:extLst>
          </p:cNvPr>
          <p:cNvSpPr txBox="1">
            <a:spLocks noChangeArrowheads="1"/>
          </p:cNvSpPr>
          <p:nvPr/>
        </p:nvSpPr>
        <p:spPr bwMode="auto">
          <a:xfrm>
            <a:off x="381000" y="152400"/>
            <a:ext cx="5867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ctr"/>
          <a:lstStyle>
            <a:lvl1pPr marL="177800" indent="-176213">
              <a:spcBef>
                <a:spcPts val="8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177800" algn="l"/>
                <a:tab pos="1092200" algn="l"/>
                <a:tab pos="2006600" algn="l"/>
                <a:tab pos="2921000" algn="l"/>
                <a:tab pos="3835400" algn="l"/>
                <a:tab pos="4749800" algn="l"/>
                <a:tab pos="5664200" algn="l"/>
                <a:tab pos="6578600" algn="l"/>
                <a:tab pos="7493000" algn="l"/>
                <a:tab pos="8407400" algn="l"/>
                <a:tab pos="9321800" algn="l"/>
                <a:tab pos="10236200" algn="l"/>
              </a:tabLst>
              <a:defRPr sz="2000">
                <a:solidFill>
                  <a:srgbClr val="000000"/>
                </a:solidFill>
                <a:latin typeface="Arial" panose="020B0604020202020204" pitchFamily="34" charset="0"/>
                <a:cs typeface="WenQuanYi Micro Hei" charset="0"/>
              </a:defRPr>
            </a:lvl9pPr>
          </a:lstStyle>
          <a:p>
            <a:pPr eaLnBrk="1" hangingPunct="1">
              <a:spcBef>
                <a:spcPct val="0"/>
              </a:spcBef>
              <a:buClrTx/>
              <a:buFontTx/>
              <a:buNone/>
            </a:pPr>
            <a:r>
              <a:rPr lang="en-US" altLang="en-US" sz="2400" b="1" dirty="0">
                <a:solidFill>
                  <a:srgbClr val="FF0000"/>
                </a:solidFill>
                <a:latin typeface="Times New Roman" panose="02020603050405020304" pitchFamily="18" charset="0"/>
              </a:rPr>
              <a:t>2 </a:t>
            </a:r>
            <a:r>
              <a:rPr lang="en-US" altLang="en-US" sz="2400" b="1" dirty="0">
                <a:solidFill>
                  <a:srgbClr val="0000CC"/>
                </a:solidFill>
                <a:latin typeface="Times New Roman" panose="02020603050405020304" pitchFamily="18" charset="0"/>
              </a:rPr>
              <a:t>. Access Control (AC)</a:t>
            </a:r>
          </a:p>
        </p:txBody>
      </p:sp>
      <p:sp>
        <p:nvSpPr>
          <p:cNvPr id="3" name="Rectangle 2">
            <a:extLst>
              <a:ext uri="{FF2B5EF4-FFF2-40B4-BE49-F238E27FC236}">
                <a16:creationId xmlns:a16="http://schemas.microsoft.com/office/drawing/2014/main" xmlns="" id="{F16B7249-6177-42CA-BA56-A94ABD6B2FD1}"/>
              </a:ext>
            </a:extLst>
          </p:cNvPr>
          <p:cNvSpPr/>
          <p:nvPr/>
        </p:nvSpPr>
        <p:spPr>
          <a:xfrm>
            <a:off x="381000" y="3733800"/>
            <a:ext cx="8229600" cy="2345322"/>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Access is controlled by the owner of the data (table, row, file).</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owner can grant or revoke permissions to other users.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More flexible, but less secure.</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Example: A user who owns a table uses GRANT to allow others to read or write.</a:t>
            </a:r>
          </a:p>
        </p:txBody>
      </p:sp>
    </p:spTree>
  </p:cSld>
  <p:clrMapOvr>
    <a:masterClrMapping/>
  </p:clrMapOvr>
  <p:transition spd="med">
    <p:strips dir="rd"/>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1">
            <a:extLst>
              <a:ext uri="{FF2B5EF4-FFF2-40B4-BE49-F238E27FC236}">
                <a16:creationId xmlns:a16="http://schemas.microsoft.com/office/drawing/2014/main" xmlns="" id="{A86DA179-40B6-4C3C-AD25-E3F28A8BFD53}"/>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algn="r" eaLnBrk="1" hangingPunct="1">
              <a:spcBef>
                <a:spcPct val="0"/>
              </a:spcBef>
              <a:buClrTx/>
              <a:buFontTx/>
              <a:buNone/>
            </a:pPr>
            <a:fld id="{AFE0977A-D551-43A7-9BA5-2BB4625BFA01}" type="slidenum">
              <a:rPr lang="en-US" altLang="en-US" sz="1400"/>
              <a:pPr algn="r" eaLnBrk="1" hangingPunct="1">
                <a:spcBef>
                  <a:spcPct val="0"/>
                </a:spcBef>
                <a:buClrTx/>
                <a:buFontTx/>
                <a:buNone/>
              </a:pPr>
              <a:t>27</a:t>
            </a:fld>
            <a:endParaRPr lang="en-US" altLang="en-US" sz="1400"/>
          </a:p>
        </p:txBody>
      </p:sp>
      <p:sp>
        <p:nvSpPr>
          <p:cNvPr id="30724" name="Text Box 3">
            <a:extLst>
              <a:ext uri="{FF2B5EF4-FFF2-40B4-BE49-F238E27FC236}">
                <a16:creationId xmlns:a16="http://schemas.microsoft.com/office/drawing/2014/main" xmlns="" id="{A6329ECE-FB27-471E-80F3-1E5F939A9305}"/>
              </a:ext>
            </a:extLst>
          </p:cNvPr>
          <p:cNvSpPr txBox="1">
            <a:spLocks noChangeArrowheads="1"/>
          </p:cNvSpPr>
          <p:nvPr/>
        </p:nvSpPr>
        <p:spPr bwMode="auto">
          <a:xfrm>
            <a:off x="304800" y="304800"/>
            <a:ext cx="8534400"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2900">
              <a:spcBef>
                <a:spcPts val="8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panose="020B0604020202020204" pitchFamily="34" charset="0"/>
                <a:cs typeface="WenQuanYi Micro Hei" charset="0"/>
              </a:defRPr>
            </a:lvl1pPr>
            <a:lvl2pPr marL="741363" indent="-284163">
              <a:spcBef>
                <a:spcPts val="7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panose="020B0604020202020204" pitchFamily="34" charset="0"/>
                <a:cs typeface="WenQuanYi Micro Hei" charset="0"/>
              </a:defRPr>
            </a:lvl2pPr>
            <a:lvl3pPr marL="1141413" indent="-227013">
              <a:spcBef>
                <a:spcPts val="6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9pPr>
          </a:lstStyle>
          <a:p>
            <a:pPr marL="457200" lvl="1" indent="0">
              <a:lnSpc>
                <a:spcPct val="150000"/>
              </a:lnSpc>
              <a:spcBef>
                <a:spcPts val="525"/>
              </a:spcBef>
              <a:buNone/>
            </a:pPr>
            <a:r>
              <a:rPr lang="en-US" altLang="en-US" sz="2000" dirty="0">
                <a:latin typeface="Times New Roman" panose="02020603050405020304" pitchFamily="18" charset="0"/>
                <a:cs typeface="Times New Roman" panose="02020603050405020304" pitchFamily="18" charset="0"/>
              </a:rPr>
              <a:t>Syntax :-GRANT </a:t>
            </a:r>
            <a:r>
              <a:rPr lang="en-US" altLang="en-US" sz="2000" dirty="0" err="1">
                <a:latin typeface="Times New Roman" panose="02020603050405020304" pitchFamily="18" charset="0"/>
                <a:cs typeface="Times New Roman" panose="02020603050405020304" pitchFamily="18" charset="0"/>
              </a:rPr>
              <a:t>permission_list</a:t>
            </a:r>
            <a:r>
              <a:rPr lang="en-US" altLang="en-US" sz="2000" dirty="0">
                <a:latin typeface="Times New Roman" panose="02020603050405020304" pitchFamily="18" charset="0"/>
                <a:cs typeface="Times New Roman" panose="02020603050405020304" pitchFamily="18" charset="0"/>
              </a:rPr>
              <a:t> ON </a:t>
            </a:r>
            <a:r>
              <a:rPr lang="en-US" altLang="en-US" sz="2000" dirty="0" err="1">
                <a:latin typeface="Times New Roman" panose="02020603050405020304" pitchFamily="18" charset="0"/>
                <a:cs typeface="Times New Roman" panose="02020603050405020304" pitchFamily="18" charset="0"/>
              </a:rPr>
              <a:t>object_name</a:t>
            </a:r>
            <a:r>
              <a:rPr lang="en-US" altLang="en-US" sz="2000" dirty="0">
                <a:latin typeface="Times New Roman" panose="02020603050405020304" pitchFamily="18" charset="0"/>
                <a:cs typeface="Times New Roman" panose="02020603050405020304" pitchFamily="18" charset="0"/>
              </a:rPr>
              <a:t> TO </a:t>
            </a:r>
            <a:r>
              <a:rPr lang="en-US" altLang="en-US" sz="2000" dirty="0" err="1">
                <a:latin typeface="Times New Roman" panose="02020603050405020304" pitchFamily="18" charset="0"/>
                <a:cs typeface="Times New Roman" panose="02020603050405020304" pitchFamily="18" charset="0"/>
              </a:rPr>
              <a:t>user_name</a:t>
            </a:r>
            <a:r>
              <a:rPr lang="en-US" altLang="en-US" sz="2000" dirty="0">
                <a:latin typeface="Times New Roman" panose="02020603050405020304" pitchFamily="18" charset="0"/>
                <a:cs typeface="Times New Roman" panose="02020603050405020304" pitchFamily="18" charset="0"/>
              </a:rPr>
              <a:t>;</a:t>
            </a:r>
          </a:p>
          <a:p>
            <a:pPr marL="457200" lvl="1" indent="0">
              <a:lnSpc>
                <a:spcPct val="150000"/>
              </a:lnSpc>
              <a:spcBef>
                <a:spcPts val="525"/>
              </a:spcBef>
              <a:buNone/>
            </a:pPr>
            <a:r>
              <a:rPr lang="en-US" sz="2000" dirty="0">
                <a:latin typeface="Times New Roman" panose="02020603050405020304" pitchFamily="18" charset="0"/>
                <a:cs typeface="Times New Roman" panose="02020603050405020304" pitchFamily="18" charset="0"/>
              </a:rPr>
              <a:t>Example 1: Give SELECT permission</a:t>
            </a:r>
          </a:p>
          <a:p>
            <a:pPr marL="457200" lvl="1" indent="0">
              <a:spcBef>
                <a:spcPts val="525"/>
              </a:spcBef>
              <a:buNone/>
            </a:pPr>
            <a:r>
              <a:rPr lang="en-US" altLang="en-US" sz="2000" dirty="0">
                <a:latin typeface="Times New Roman" panose="02020603050405020304" pitchFamily="18" charset="0"/>
                <a:cs typeface="Times New Roman" panose="02020603050405020304" pitchFamily="18" charset="0"/>
              </a:rPr>
              <a:t>GRANT SELECT ON Employee TO user A;</a:t>
            </a:r>
          </a:p>
          <a:p>
            <a:pPr marL="457200" lvl="1" indent="0">
              <a:spcBef>
                <a:spcPts val="525"/>
              </a:spcBef>
              <a:buNone/>
            </a:pPr>
            <a:r>
              <a:rPr lang="en-US" sz="2000" b="1" dirty="0">
                <a:latin typeface="Times New Roman" panose="02020603050405020304" pitchFamily="18" charset="0"/>
                <a:cs typeface="Times New Roman" panose="02020603050405020304" pitchFamily="18" charset="0"/>
              </a:rPr>
              <a:t>Example 2: Give SELECT and UPDATE</a:t>
            </a:r>
          </a:p>
          <a:p>
            <a:pPr marL="457200" lvl="1" indent="0">
              <a:spcBef>
                <a:spcPts val="525"/>
              </a:spcBef>
              <a:buNone/>
            </a:pPr>
            <a:r>
              <a:rPr lang="en-US" altLang="en-US" sz="2000" dirty="0">
                <a:latin typeface="Times New Roman" panose="02020603050405020304" pitchFamily="18" charset="0"/>
                <a:cs typeface="Times New Roman" panose="02020603050405020304" pitchFamily="18" charset="0"/>
              </a:rPr>
              <a:t>GRANT SELECT, UPDATE ON Employee TO user B;</a:t>
            </a:r>
          </a:p>
          <a:p>
            <a:pPr marL="457200" lvl="1" indent="0">
              <a:lnSpc>
                <a:spcPct val="150000"/>
              </a:lnSpc>
              <a:spcBef>
                <a:spcPts val="525"/>
              </a:spcBef>
              <a:buNone/>
            </a:pPr>
            <a:r>
              <a:rPr lang="en-US" altLang="en-US" sz="2000" dirty="0">
                <a:latin typeface="Times New Roman" panose="02020603050405020304" pitchFamily="18" charset="0"/>
                <a:cs typeface="Times New Roman" panose="02020603050405020304" pitchFamily="18" charset="0"/>
              </a:rPr>
              <a:t>Example 3: Give all permissions</a:t>
            </a:r>
          </a:p>
          <a:p>
            <a:pPr marL="457200" lvl="1" indent="0">
              <a:lnSpc>
                <a:spcPct val="150000"/>
              </a:lnSpc>
              <a:spcBef>
                <a:spcPts val="525"/>
              </a:spcBef>
              <a:buNone/>
            </a:pPr>
            <a:r>
              <a:rPr lang="en-US" altLang="en-US" sz="2000" dirty="0">
                <a:latin typeface="Times New Roman" panose="02020603050405020304" pitchFamily="18" charset="0"/>
                <a:cs typeface="Times New Roman" panose="02020603050405020304" pitchFamily="18" charset="0"/>
              </a:rPr>
              <a:t>GRANT ALL PRIVILEGES ON Employee TO </a:t>
            </a:r>
            <a:r>
              <a:rPr lang="en-US" altLang="en-US" sz="2000" dirty="0" err="1">
                <a:latin typeface="Times New Roman" panose="02020603050405020304" pitchFamily="18" charset="0"/>
                <a:cs typeface="Times New Roman" panose="02020603050405020304" pitchFamily="18" charset="0"/>
              </a:rPr>
              <a:t>userC</a:t>
            </a:r>
            <a:r>
              <a:rPr lang="en-US" altLang="en-US" sz="2000" dirty="0">
                <a:latin typeface="Times New Roman" panose="02020603050405020304" pitchFamily="18" charset="0"/>
                <a:cs typeface="Times New Roman" panose="02020603050405020304" pitchFamily="18" charset="0"/>
              </a:rPr>
              <a:t>;</a:t>
            </a:r>
          </a:p>
          <a:p>
            <a:pPr marL="457200" lvl="1" indent="0">
              <a:lnSpc>
                <a:spcPct val="110000"/>
              </a:lnSpc>
              <a:spcBef>
                <a:spcPts val="525"/>
              </a:spcBef>
              <a:buNone/>
            </a:pPr>
            <a:endParaRPr lang="en-US" altLang="en-US" sz="2100" dirty="0">
              <a:latin typeface="Times New Roman" panose="02020603050405020304" pitchFamily="18" charset="0"/>
            </a:endParaRPr>
          </a:p>
          <a:p>
            <a:pPr marL="457200" lvl="1" indent="0">
              <a:lnSpc>
                <a:spcPct val="110000"/>
              </a:lnSpc>
              <a:spcBef>
                <a:spcPts val="525"/>
              </a:spcBef>
              <a:buNone/>
            </a:pPr>
            <a:endParaRPr lang="en-US" altLang="en-US" sz="2100" dirty="0">
              <a:latin typeface="Times New Roman" panose="02020603050405020304" pitchFamily="18" charset="0"/>
            </a:endParaRPr>
          </a:p>
        </p:txBody>
      </p:sp>
      <p:sp>
        <p:nvSpPr>
          <p:cNvPr id="30725" name="Rectangle 4">
            <a:extLst>
              <a:ext uri="{FF2B5EF4-FFF2-40B4-BE49-F238E27FC236}">
                <a16:creationId xmlns:a16="http://schemas.microsoft.com/office/drawing/2014/main" xmlns="" id="{D9CA0F98-BF86-4F23-9FBC-AABEDEEF93AE}"/>
              </a:ext>
            </a:extLst>
          </p:cNvPr>
          <p:cNvSpPr>
            <a:spLocks noChangeArrowheads="1"/>
          </p:cNvSpPr>
          <p:nvPr/>
        </p:nvSpPr>
        <p:spPr bwMode="auto">
          <a:xfrm>
            <a:off x="304800" y="3276600"/>
            <a:ext cx="85344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341313" indent="-341313">
              <a:spcBef>
                <a:spcPts val="800"/>
              </a:spcBef>
              <a:buClr>
                <a:srgbClr val="000000"/>
              </a:buClr>
              <a:buSzPct val="100000"/>
              <a:buFont typeface="Times New Roman" panose="02020603050405020304" pitchFamily="18"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sz="3200">
                <a:solidFill>
                  <a:srgbClr val="000000"/>
                </a:solidFill>
                <a:latin typeface="Arial" panose="020B0604020202020204" pitchFamily="34" charset="0"/>
                <a:cs typeface="WenQuanYi Micro Hei" charset="0"/>
              </a:defRPr>
            </a:lvl1pPr>
            <a:lvl2pPr marL="684213" indent="-227013">
              <a:spcBef>
                <a:spcPts val="700"/>
              </a:spcBef>
              <a:buClr>
                <a:srgbClr val="000000"/>
              </a:buClr>
              <a:buSzPct val="100000"/>
              <a:buFont typeface="Times New Roman" panose="02020603050405020304" pitchFamily="18"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sz="2800">
                <a:solidFill>
                  <a:srgbClr val="000000"/>
                </a:solidFill>
                <a:latin typeface="Arial" panose="020B0604020202020204" pitchFamily="34" charset="0"/>
                <a:cs typeface="WenQuanYi Micro Hei" charset="0"/>
              </a:defRPr>
            </a:lvl2pPr>
            <a:lvl3pPr marL="1141413" indent="-227013">
              <a:spcBef>
                <a:spcPts val="600"/>
              </a:spcBef>
              <a:buClr>
                <a:srgbClr val="000000"/>
              </a:buClr>
              <a:buSzPct val="100000"/>
              <a:buFont typeface="Times New Roman" panose="02020603050405020304" pitchFamily="18"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341313" algn="l"/>
                <a:tab pos="1255713" algn="l"/>
                <a:tab pos="2170113" algn="l"/>
                <a:tab pos="3084513" algn="l"/>
                <a:tab pos="3998913" algn="l"/>
                <a:tab pos="4913313" algn="l"/>
                <a:tab pos="5827713" algn="l"/>
                <a:tab pos="6742113" algn="l"/>
                <a:tab pos="7656513" algn="l"/>
                <a:tab pos="8570913" algn="l"/>
                <a:tab pos="9485313" algn="l"/>
                <a:tab pos="10399713" algn="l"/>
              </a:tabLst>
              <a:defRPr sz="2000">
                <a:solidFill>
                  <a:srgbClr val="000000"/>
                </a:solidFill>
                <a:latin typeface="Arial" panose="020B0604020202020204" pitchFamily="34" charset="0"/>
                <a:cs typeface="WenQuanYi Micro Hei" charset="0"/>
              </a:defRPr>
            </a:lvl9pPr>
          </a:lstStyle>
          <a:p>
            <a:pPr eaLnBrk="1" hangingPunct="1">
              <a:lnSpc>
                <a:spcPct val="150000"/>
              </a:lnSpc>
              <a:spcBef>
                <a:spcPts val="550"/>
              </a:spcBef>
              <a:buClr>
                <a:srgbClr val="0000CC"/>
              </a:buClr>
              <a:buFont typeface="Wingdings" panose="05000000000000000000" pitchFamily="2" charset="2"/>
              <a:buChar char=""/>
            </a:pPr>
            <a:r>
              <a:rPr lang="en-US" altLang="en-US" sz="2000" dirty="0">
                <a:solidFill>
                  <a:srgbClr val="FF00FF"/>
                </a:solidFill>
                <a:latin typeface="Times New Roman" panose="02020603050405020304" pitchFamily="18" charset="0"/>
                <a:cs typeface="Times New Roman" panose="02020603050405020304" pitchFamily="18" charset="0"/>
              </a:rPr>
              <a:t>Revoking Privileges</a:t>
            </a:r>
          </a:p>
          <a:p>
            <a:pPr lvl="2" eaLnBrk="1" hangingPunct="1">
              <a:spcBef>
                <a:spcPts val="550"/>
              </a:spcBef>
              <a:buClr>
                <a:srgbClr val="0000CC"/>
              </a:buClr>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SQL, a </a:t>
            </a:r>
            <a:r>
              <a:rPr lang="en-US" altLang="en-US" sz="2000" b="1" dirty="0">
                <a:solidFill>
                  <a:srgbClr val="FF0000"/>
                </a:solidFill>
                <a:latin typeface="Times New Roman" panose="02020603050405020304" pitchFamily="18" charset="0"/>
                <a:cs typeface="Times New Roman" panose="02020603050405020304" pitchFamily="18" charset="0"/>
              </a:rPr>
              <a:t>REVOKE</a:t>
            </a:r>
            <a:r>
              <a:rPr lang="en-US" altLang="en-US" sz="2000" dirty="0">
                <a:latin typeface="Times New Roman" panose="02020603050405020304" pitchFamily="18" charset="0"/>
                <a:cs typeface="Times New Roman" panose="02020603050405020304" pitchFamily="18" charset="0"/>
              </a:rPr>
              <a:t> command is included for the purpose of </a:t>
            </a:r>
            <a:r>
              <a:rPr lang="en-US" altLang="en-US" sz="2000" b="1" dirty="0">
                <a:solidFill>
                  <a:srgbClr val="FF0000"/>
                </a:solidFill>
                <a:latin typeface="Times New Roman" panose="02020603050405020304" pitchFamily="18" charset="0"/>
                <a:cs typeface="Times New Roman" panose="02020603050405020304" pitchFamily="18" charset="0"/>
              </a:rPr>
              <a:t>canceling privileges</a:t>
            </a:r>
            <a:r>
              <a:rPr lang="en-US" altLang="en-US" sz="2000" dirty="0">
                <a:solidFill>
                  <a:srgbClr val="FF0000"/>
                </a:solidFill>
                <a:latin typeface="Times New Roman" panose="02020603050405020304" pitchFamily="18" charset="0"/>
                <a:cs typeface="Times New Roman" panose="02020603050405020304" pitchFamily="18" charset="0"/>
              </a:rPr>
              <a:t>.</a:t>
            </a:r>
          </a:p>
          <a:p>
            <a:pPr lvl="2">
              <a:spcBef>
                <a:spcPts val="550"/>
              </a:spcBef>
              <a:buClr>
                <a:srgbClr val="0000CC"/>
              </a:buClr>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Used to </a:t>
            </a:r>
            <a:r>
              <a:rPr lang="en-US" sz="2000" b="1" dirty="0">
                <a:solidFill>
                  <a:srgbClr val="FF0000"/>
                </a:solidFill>
                <a:latin typeface="Times New Roman" panose="02020603050405020304" pitchFamily="18" charset="0"/>
                <a:cs typeface="Times New Roman" panose="02020603050405020304" pitchFamily="18" charset="0"/>
              </a:rPr>
              <a:t>remove permissions</a:t>
            </a:r>
            <a:r>
              <a:rPr lang="en-US" sz="2000" dirty="0">
                <a:solidFill>
                  <a:srgbClr val="FF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that were given using GRANT.</a:t>
            </a:r>
          </a:p>
          <a:p>
            <a:pPr marL="914400" lvl="2" indent="0">
              <a:lnSpc>
                <a:spcPct val="150000"/>
              </a:lnSpc>
              <a:spcBef>
                <a:spcPts val="550"/>
              </a:spcBef>
              <a:buClr>
                <a:srgbClr val="0000CC"/>
              </a:buClr>
              <a:buNone/>
            </a:pPr>
            <a:r>
              <a:rPr lang="en-US" sz="2000" dirty="0">
                <a:latin typeface="Times New Roman" panose="02020603050405020304" pitchFamily="18" charset="0"/>
                <a:cs typeface="Times New Roman" panose="02020603050405020304" pitchFamily="18" charset="0"/>
              </a:rPr>
              <a:t>Syntax :- REVOKE </a:t>
            </a:r>
            <a:r>
              <a:rPr lang="en-US" sz="2000" dirty="0" err="1">
                <a:latin typeface="Times New Roman" panose="02020603050405020304" pitchFamily="18" charset="0"/>
                <a:cs typeface="Times New Roman" panose="02020603050405020304" pitchFamily="18" charset="0"/>
              </a:rPr>
              <a:t>permission_list</a:t>
            </a:r>
            <a:r>
              <a:rPr lang="en-US" sz="2000" dirty="0">
                <a:latin typeface="Times New Roman" panose="02020603050405020304" pitchFamily="18" charset="0"/>
                <a:cs typeface="Times New Roman" panose="02020603050405020304" pitchFamily="18" charset="0"/>
              </a:rPr>
              <a:t> ON </a:t>
            </a:r>
            <a:r>
              <a:rPr lang="en-US" sz="2000" dirty="0" err="1">
                <a:latin typeface="Times New Roman" panose="02020603050405020304" pitchFamily="18" charset="0"/>
                <a:cs typeface="Times New Roman" panose="02020603050405020304" pitchFamily="18" charset="0"/>
              </a:rPr>
              <a:t>object_name</a:t>
            </a:r>
            <a:r>
              <a:rPr lang="en-US" sz="2000" dirty="0">
                <a:latin typeface="Times New Roman" panose="02020603050405020304" pitchFamily="18" charset="0"/>
                <a:cs typeface="Times New Roman" panose="02020603050405020304" pitchFamily="18" charset="0"/>
              </a:rPr>
              <a:t> FROM </a:t>
            </a:r>
            <a:r>
              <a:rPr lang="en-US" sz="2000" dirty="0" err="1">
                <a:latin typeface="Times New Roman" panose="02020603050405020304" pitchFamily="18" charset="0"/>
                <a:cs typeface="Times New Roman" panose="02020603050405020304" pitchFamily="18" charset="0"/>
              </a:rPr>
              <a:t>user_name</a:t>
            </a:r>
            <a:r>
              <a:rPr lang="en-US" sz="2000" dirty="0">
                <a:latin typeface="Times New Roman" panose="02020603050405020304" pitchFamily="18" charset="0"/>
                <a:cs typeface="Times New Roman" panose="02020603050405020304" pitchFamily="18" charset="0"/>
              </a:rPr>
              <a:t>;</a:t>
            </a:r>
          </a:p>
          <a:p>
            <a:pPr marL="914400" lvl="2" indent="0">
              <a:lnSpc>
                <a:spcPct val="150000"/>
              </a:lnSpc>
              <a:spcBef>
                <a:spcPts val="550"/>
              </a:spcBef>
              <a:buClr>
                <a:srgbClr val="0000CC"/>
              </a:buClr>
              <a:buNone/>
            </a:pPr>
            <a:r>
              <a:rPr lang="en-US" sz="2000" dirty="0">
                <a:latin typeface="Times New Roman" panose="02020603050405020304" pitchFamily="18" charset="0"/>
                <a:cs typeface="Times New Roman" panose="02020603050405020304" pitchFamily="18" charset="0"/>
              </a:rPr>
              <a:t>Example 1: Remove SELECT permission</a:t>
            </a:r>
          </a:p>
          <a:p>
            <a:pPr marL="914400" lvl="2" indent="0">
              <a:lnSpc>
                <a:spcPct val="150000"/>
              </a:lnSpc>
              <a:spcBef>
                <a:spcPts val="550"/>
              </a:spcBef>
              <a:buClr>
                <a:srgbClr val="0000CC"/>
              </a:buClr>
              <a:buNone/>
            </a:pPr>
            <a:r>
              <a:rPr lang="en-US" sz="2000" dirty="0">
                <a:latin typeface="Times New Roman" panose="02020603050405020304" pitchFamily="18" charset="0"/>
                <a:cs typeface="Times New Roman" panose="02020603050405020304" pitchFamily="18" charset="0"/>
              </a:rPr>
              <a:t>REVOKE SELECT ON Employee FROM </a:t>
            </a:r>
            <a:r>
              <a:rPr lang="en-US" sz="2000" dirty="0" err="1">
                <a:latin typeface="Times New Roman" panose="02020603050405020304" pitchFamily="18" charset="0"/>
                <a:cs typeface="Times New Roman" panose="02020603050405020304" pitchFamily="18" charset="0"/>
              </a:rPr>
              <a:t>userA</a:t>
            </a:r>
            <a:r>
              <a:rPr lang="en-US" sz="2000" dirty="0">
                <a:latin typeface="Times New Roman" panose="02020603050405020304" pitchFamily="18" charset="0"/>
                <a:cs typeface="Times New Roman" panose="02020603050405020304" pitchFamily="18" charset="0"/>
              </a:rPr>
              <a:t>;</a:t>
            </a:r>
          </a:p>
        </p:txBody>
      </p:sp>
    </p:spTree>
  </p:cSld>
  <p:clrMapOvr>
    <a:masterClrMapping/>
  </p:clrMapOvr>
  <p:transition spd="med">
    <p:strips dir="rd"/>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1">
            <a:extLst>
              <a:ext uri="{FF2B5EF4-FFF2-40B4-BE49-F238E27FC236}">
                <a16:creationId xmlns:a16="http://schemas.microsoft.com/office/drawing/2014/main" xmlns="" id="{049D9BAF-AE22-4A33-A010-BD67BEA7DFD3}"/>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algn="r" eaLnBrk="1" hangingPunct="1">
              <a:spcBef>
                <a:spcPct val="0"/>
              </a:spcBef>
              <a:buClrTx/>
              <a:buFontTx/>
              <a:buNone/>
            </a:pPr>
            <a:fld id="{F814FE1D-9E67-4B31-AA7F-8AA0A4BBF0BE}" type="slidenum">
              <a:rPr lang="en-US" altLang="en-US" sz="1400"/>
              <a:pPr algn="r" eaLnBrk="1" hangingPunct="1">
                <a:spcBef>
                  <a:spcPct val="0"/>
                </a:spcBef>
                <a:buClrTx/>
                <a:buFontTx/>
                <a:buNone/>
              </a:pPr>
              <a:t>28</a:t>
            </a:fld>
            <a:endParaRPr lang="en-US" altLang="en-US" sz="1400"/>
          </a:p>
        </p:txBody>
      </p:sp>
      <p:sp>
        <p:nvSpPr>
          <p:cNvPr id="34819" name="Text Box 2">
            <a:extLst>
              <a:ext uri="{FF2B5EF4-FFF2-40B4-BE49-F238E27FC236}">
                <a16:creationId xmlns:a16="http://schemas.microsoft.com/office/drawing/2014/main" xmlns="" id="{894E7900-3F29-486B-97B1-CD04AA2E7A24}"/>
              </a:ext>
            </a:extLst>
          </p:cNvPr>
          <p:cNvSpPr txBox="1">
            <a:spLocks noChangeArrowheads="1"/>
          </p:cNvSpPr>
          <p:nvPr/>
        </p:nvSpPr>
        <p:spPr bwMode="auto">
          <a:xfrm>
            <a:off x="457200" y="0"/>
            <a:ext cx="82296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eaLnBrk="1" hangingPunct="1">
              <a:spcBef>
                <a:spcPct val="0"/>
              </a:spcBef>
              <a:buClrTx/>
              <a:buFontTx/>
              <a:buNone/>
            </a:pPr>
            <a:r>
              <a:rPr lang="en-US" altLang="en-US" sz="2400" u="sng">
                <a:solidFill>
                  <a:srgbClr val="0000CC"/>
                </a:solidFill>
                <a:latin typeface="Times New Roman" panose="02020603050405020304" pitchFamily="18" charset="0"/>
              </a:rPr>
              <a:t>Example 1</a:t>
            </a:r>
          </a:p>
        </p:txBody>
      </p:sp>
      <p:sp>
        <p:nvSpPr>
          <p:cNvPr id="34820" name="Text Box 3">
            <a:extLst>
              <a:ext uri="{FF2B5EF4-FFF2-40B4-BE49-F238E27FC236}">
                <a16:creationId xmlns:a16="http://schemas.microsoft.com/office/drawing/2014/main" xmlns="" id="{8E9A5778-0DF6-4360-BB22-AAA315244435}"/>
              </a:ext>
            </a:extLst>
          </p:cNvPr>
          <p:cNvSpPr txBox="1">
            <a:spLocks noChangeArrowheads="1"/>
          </p:cNvSpPr>
          <p:nvPr/>
        </p:nvSpPr>
        <p:spPr bwMode="auto">
          <a:xfrm>
            <a:off x="428625" y="785813"/>
            <a:ext cx="8305800" cy="530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1313" indent="-341313">
              <a:spcBef>
                <a:spcPts val="8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panose="020B0604020202020204" pitchFamily="34" charset="0"/>
                <a:cs typeface="WenQuanYi Micro Hei" charset="0"/>
              </a:defRPr>
            </a:lvl1pPr>
            <a:lvl2pPr indent="-284163">
              <a:spcBef>
                <a:spcPts val="7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9pPr>
          </a:lstStyle>
          <a:p>
            <a:pPr eaLnBrk="1" hangingPunct="1">
              <a:spcBef>
                <a:spcPts val="600"/>
              </a:spcBef>
              <a:buClr>
                <a:srgbClr val="0000CC"/>
              </a:buClr>
              <a:buFont typeface="Wingdings" panose="05000000000000000000" pitchFamily="2" charset="2"/>
              <a:buChar char=""/>
            </a:pPr>
            <a:r>
              <a:rPr lang="en-US" altLang="en-US" sz="2400" dirty="0">
                <a:latin typeface="Times New Roman" panose="02020603050405020304" pitchFamily="18" charset="0"/>
              </a:rPr>
              <a:t>Suppose that the DBA creates four accounts:A1, A2, A3, A4 and wants only A1 to be able to create relations. Then the DBA must issue the following GRANT command in SQL</a:t>
            </a:r>
          </a:p>
          <a:p>
            <a:pPr lvl="1" eaLnBrk="1" hangingPunct="1">
              <a:spcBef>
                <a:spcPts val="600"/>
              </a:spcBef>
              <a:buClrTx/>
              <a:buFontTx/>
              <a:buNone/>
            </a:pPr>
            <a:r>
              <a:rPr lang="en-US" altLang="en-US" sz="2400" b="1" dirty="0">
                <a:solidFill>
                  <a:srgbClr val="0000CC"/>
                </a:solidFill>
                <a:latin typeface="Times New Roman" panose="02020603050405020304" pitchFamily="18" charset="0"/>
              </a:rPr>
              <a:t>                    </a:t>
            </a:r>
            <a:r>
              <a:rPr lang="en-US" altLang="en-US" sz="2400" b="1" dirty="0">
                <a:solidFill>
                  <a:srgbClr val="FF0066"/>
                </a:solidFill>
                <a:latin typeface="Times New Roman" panose="02020603050405020304" pitchFamily="18" charset="0"/>
              </a:rPr>
              <a:t>GRANT</a:t>
            </a:r>
            <a:r>
              <a:rPr lang="en-US" altLang="en-US" sz="2400" dirty="0">
                <a:solidFill>
                  <a:srgbClr val="FF0066"/>
                </a:solidFill>
                <a:latin typeface="Times New Roman" panose="02020603050405020304" pitchFamily="18" charset="0"/>
              </a:rPr>
              <a:t> CREATE </a:t>
            </a:r>
            <a:r>
              <a:rPr lang="en-US" altLang="en-US" sz="2400" dirty="0" err="1">
                <a:solidFill>
                  <a:srgbClr val="FF0066"/>
                </a:solidFill>
                <a:latin typeface="Times New Roman" panose="02020603050405020304" pitchFamily="18" charset="0"/>
              </a:rPr>
              <a:t>TABlE</a:t>
            </a:r>
            <a:r>
              <a:rPr lang="en-US" altLang="en-US" sz="2400" dirty="0">
                <a:solidFill>
                  <a:srgbClr val="FF0066"/>
                </a:solidFill>
                <a:latin typeface="Times New Roman" panose="02020603050405020304" pitchFamily="18" charset="0"/>
              </a:rPr>
              <a:t> TO A1;</a:t>
            </a:r>
          </a:p>
          <a:p>
            <a:pPr eaLnBrk="1" hangingPunct="1">
              <a:spcBef>
                <a:spcPts val="600"/>
              </a:spcBef>
              <a:buClrTx/>
              <a:buFontTx/>
              <a:buNone/>
            </a:pPr>
            <a:r>
              <a:rPr lang="en-US" altLang="en-US" sz="2400" u="sng" dirty="0">
                <a:solidFill>
                  <a:srgbClr val="0000CC"/>
                </a:solidFill>
                <a:latin typeface="Times New Roman" panose="02020603050405020304" pitchFamily="18" charset="0"/>
              </a:rPr>
              <a:t>Example 2</a:t>
            </a:r>
          </a:p>
          <a:p>
            <a:pPr eaLnBrk="1" hangingPunct="1">
              <a:spcBef>
                <a:spcPts val="600"/>
              </a:spcBef>
              <a:buClr>
                <a:srgbClr val="0000CC"/>
              </a:buClr>
              <a:buFont typeface="Wingdings" panose="05000000000000000000" pitchFamily="2" charset="2"/>
              <a:buChar char=""/>
            </a:pPr>
            <a:r>
              <a:rPr lang="en-US" altLang="en-US" sz="2400" dirty="0">
                <a:latin typeface="Times New Roman" panose="02020603050405020304" pitchFamily="18" charset="0"/>
              </a:rPr>
              <a:t>Suppose that A1 </a:t>
            </a:r>
            <a:r>
              <a:rPr lang="en-US" altLang="en-US" sz="2400" b="1" dirty="0">
                <a:latin typeface="Times New Roman" panose="02020603050405020304" pitchFamily="18" charset="0"/>
              </a:rPr>
              <a:t>creates</a:t>
            </a:r>
            <a:r>
              <a:rPr lang="en-US" altLang="en-US" sz="2400" dirty="0">
                <a:latin typeface="Times New Roman" panose="02020603050405020304" pitchFamily="18" charset="0"/>
              </a:rPr>
              <a:t> the two base relations </a:t>
            </a:r>
            <a:r>
              <a:rPr lang="en-US" altLang="en-US" sz="2400" b="1" dirty="0">
                <a:latin typeface="Times New Roman" panose="02020603050405020304" pitchFamily="18" charset="0"/>
              </a:rPr>
              <a:t>EMPLOYEE</a:t>
            </a:r>
            <a:r>
              <a:rPr lang="en-US" altLang="en-US" sz="2400" dirty="0">
                <a:latin typeface="Times New Roman" panose="02020603050405020304" pitchFamily="18" charset="0"/>
              </a:rPr>
              <a:t> and </a:t>
            </a:r>
            <a:r>
              <a:rPr lang="en-US" altLang="en-US" sz="2400" b="1" dirty="0">
                <a:latin typeface="Times New Roman" panose="02020603050405020304" pitchFamily="18" charset="0"/>
              </a:rPr>
              <a:t>DEPARTMENT</a:t>
            </a:r>
          </a:p>
          <a:p>
            <a:pPr lvl="1" eaLnBrk="1" hangingPunct="1">
              <a:spcBef>
                <a:spcPts val="600"/>
              </a:spcBef>
              <a:buClr>
                <a:srgbClr val="0000CC"/>
              </a:buClr>
              <a:buFont typeface="Wingdings" panose="05000000000000000000" pitchFamily="2" charset="2"/>
              <a:buChar char=""/>
            </a:pPr>
            <a:r>
              <a:rPr lang="en-US" altLang="en-US" sz="2400" dirty="0">
                <a:latin typeface="Times New Roman" panose="02020603050405020304" pitchFamily="18" charset="0"/>
              </a:rPr>
              <a:t>A1 is then </a:t>
            </a:r>
            <a:r>
              <a:rPr lang="en-US" altLang="en-US" sz="2400" b="1" dirty="0">
                <a:latin typeface="Times New Roman" panose="02020603050405020304" pitchFamily="18" charset="0"/>
              </a:rPr>
              <a:t>owner</a:t>
            </a:r>
            <a:r>
              <a:rPr lang="en-US" altLang="en-US" sz="2400" dirty="0">
                <a:latin typeface="Times New Roman" panose="02020603050405020304" pitchFamily="18" charset="0"/>
              </a:rPr>
              <a:t> of these two relations and hence </a:t>
            </a:r>
            <a:r>
              <a:rPr lang="en-US" altLang="en-US" sz="2400" dirty="0">
                <a:solidFill>
                  <a:srgbClr val="FF0000"/>
                </a:solidFill>
                <a:latin typeface="Times New Roman" panose="02020603050405020304" pitchFamily="18" charset="0"/>
              </a:rPr>
              <a:t>A1</a:t>
            </a:r>
            <a:r>
              <a:rPr lang="en-US" altLang="en-US" sz="2400" dirty="0">
                <a:latin typeface="Times New Roman" panose="02020603050405020304" pitchFamily="18" charset="0"/>
              </a:rPr>
              <a:t> has </a:t>
            </a:r>
            <a:r>
              <a:rPr lang="en-US" altLang="en-US" sz="2400" u="sng" dirty="0">
                <a:latin typeface="Times New Roman" panose="02020603050405020304" pitchFamily="18" charset="0"/>
              </a:rPr>
              <a:t>all the relation privileges</a:t>
            </a:r>
            <a:r>
              <a:rPr lang="en-US" altLang="en-US" sz="2400" dirty="0">
                <a:latin typeface="Times New Roman" panose="02020603050405020304" pitchFamily="18" charset="0"/>
              </a:rPr>
              <a:t> on each of them.</a:t>
            </a:r>
          </a:p>
          <a:p>
            <a:pPr eaLnBrk="1" hangingPunct="1">
              <a:spcBef>
                <a:spcPts val="600"/>
              </a:spcBef>
              <a:buClr>
                <a:srgbClr val="0000CC"/>
              </a:buClr>
              <a:buFont typeface="Wingdings" panose="05000000000000000000" pitchFamily="2" charset="2"/>
              <a:buChar char=""/>
            </a:pPr>
            <a:r>
              <a:rPr lang="en-US" altLang="en-US" sz="2400" dirty="0">
                <a:latin typeface="Times New Roman" panose="02020603050405020304" pitchFamily="18" charset="0"/>
              </a:rPr>
              <a:t>Suppose that A1 wants to grant A2 the privilege to insert and delete rows in both of these relations, but A1 does not want A2 to be able to propagate these privileges to additional accounts:</a:t>
            </a:r>
          </a:p>
          <a:p>
            <a:pPr eaLnBrk="1" hangingPunct="1">
              <a:spcBef>
                <a:spcPts val="600"/>
              </a:spcBef>
              <a:buClrTx/>
              <a:buFontTx/>
              <a:buNone/>
            </a:pPr>
            <a:r>
              <a:rPr lang="en-US" altLang="en-US" sz="2400" b="1" dirty="0">
                <a:solidFill>
                  <a:srgbClr val="800000"/>
                </a:solidFill>
                <a:latin typeface="Times New Roman" panose="02020603050405020304" pitchFamily="18" charset="0"/>
              </a:rPr>
              <a:t>	</a:t>
            </a:r>
          </a:p>
        </p:txBody>
      </p:sp>
      <p:sp>
        <p:nvSpPr>
          <p:cNvPr id="34821" name="Text Box 4">
            <a:extLst>
              <a:ext uri="{FF2B5EF4-FFF2-40B4-BE49-F238E27FC236}">
                <a16:creationId xmlns:a16="http://schemas.microsoft.com/office/drawing/2014/main" xmlns="" id="{2EAF1DE9-FC09-4FD5-96C9-CADCAAE5178A}"/>
              </a:ext>
            </a:extLst>
          </p:cNvPr>
          <p:cNvSpPr txBox="1">
            <a:spLocks noChangeArrowheads="1"/>
          </p:cNvSpPr>
          <p:nvPr/>
        </p:nvSpPr>
        <p:spPr bwMode="auto">
          <a:xfrm>
            <a:off x="457200" y="5562600"/>
            <a:ext cx="8382000" cy="76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spAutoFit/>
          </a:bodyPr>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eaLnBrk="1" hangingPunct="1">
              <a:spcBef>
                <a:spcPct val="0"/>
              </a:spcBef>
              <a:buClrTx/>
              <a:buFontTx/>
              <a:buNone/>
            </a:pPr>
            <a:r>
              <a:rPr lang="en-US" altLang="en-US" sz="2200">
                <a:solidFill>
                  <a:srgbClr val="0000CC"/>
                </a:solidFill>
                <a:latin typeface="Times New Roman" panose="02020603050405020304" pitchFamily="18" charset="0"/>
              </a:rPr>
              <a:t>GRANT</a:t>
            </a:r>
            <a:r>
              <a:rPr lang="en-US" altLang="en-US" sz="2200">
                <a:solidFill>
                  <a:srgbClr val="FF0066"/>
                </a:solidFill>
                <a:latin typeface="Times New Roman" panose="02020603050405020304" pitchFamily="18" charset="0"/>
              </a:rPr>
              <a:t> INSERT, DELETE </a:t>
            </a:r>
            <a:r>
              <a:rPr lang="en-US" altLang="en-US" sz="2200">
                <a:solidFill>
                  <a:srgbClr val="0000CC"/>
                </a:solidFill>
                <a:latin typeface="Times New Roman" panose="02020603050405020304" pitchFamily="18" charset="0"/>
              </a:rPr>
              <a:t>ON </a:t>
            </a:r>
            <a:r>
              <a:rPr lang="en-US" altLang="en-US" sz="2200">
                <a:solidFill>
                  <a:srgbClr val="002060"/>
                </a:solidFill>
                <a:latin typeface="Times New Roman" panose="02020603050405020304" pitchFamily="18" charset="0"/>
              </a:rPr>
              <a:t>EMPLOYEE</a:t>
            </a:r>
            <a:r>
              <a:rPr lang="en-US" altLang="en-US" sz="2200">
                <a:solidFill>
                  <a:srgbClr val="FF0066"/>
                </a:solidFill>
                <a:latin typeface="Times New Roman" panose="02020603050405020304" pitchFamily="18" charset="0"/>
              </a:rPr>
              <a:t>, </a:t>
            </a:r>
            <a:r>
              <a:rPr lang="en-US" altLang="en-US" sz="2200">
                <a:solidFill>
                  <a:srgbClr val="002060"/>
                </a:solidFill>
                <a:latin typeface="Times New Roman" panose="02020603050405020304" pitchFamily="18" charset="0"/>
              </a:rPr>
              <a:t>DEPARTMENT</a:t>
            </a:r>
            <a:r>
              <a:rPr lang="en-US" altLang="en-US" sz="2200">
                <a:solidFill>
                  <a:srgbClr val="FF0066"/>
                </a:solidFill>
                <a:latin typeface="Times New Roman" panose="02020603050405020304" pitchFamily="18" charset="0"/>
              </a:rPr>
              <a:t> </a:t>
            </a:r>
            <a:r>
              <a:rPr lang="en-US" altLang="en-US" sz="2200">
                <a:solidFill>
                  <a:srgbClr val="0000CC"/>
                </a:solidFill>
                <a:latin typeface="Times New Roman" panose="02020603050405020304" pitchFamily="18" charset="0"/>
              </a:rPr>
              <a:t>TO</a:t>
            </a:r>
            <a:r>
              <a:rPr lang="en-US" altLang="en-US" sz="2200">
                <a:solidFill>
                  <a:srgbClr val="FF0066"/>
                </a:solidFill>
                <a:latin typeface="Times New Roman" panose="02020603050405020304" pitchFamily="18" charset="0"/>
              </a:rPr>
              <a:t> </a:t>
            </a:r>
            <a:r>
              <a:rPr lang="en-US" altLang="en-US" sz="2200">
                <a:solidFill>
                  <a:srgbClr val="FF00FF"/>
                </a:solidFill>
                <a:latin typeface="Times New Roman" panose="02020603050405020304" pitchFamily="18" charset="0"/>
              </a:rPr>
              <a:t>A2</a:t>
            </a:r>
            <a:r>
              <a:rPr lang="en-US" altLang="en-US" sz="2200">
                <a:solidFill>
                  <a:srgbClr val="FF0066"/>
                </a:solidFill>
                <a:latin typeface="Times New Roman" panose="02020603050405020304" pitchFamily="18" charset="0"/>
              </a:rPr>
              <a:t>;</a:t>
            </a:r>
          </a:p>
          <a:p>
            <a:pPr eaLnBrk="1" hangingPunct="1">
              <a:spcBef>
                <a:spcPct val="0"/>
              </a:spcBef>
              <a:buClrTx/>
              <a:buFontTx/>
              <a:buNone/>
            </a:pPr>
            <a:endParaRPr lang="en-US" altLang="en-US" sz="2200">
              <a:solidFill>
                <a:srgbClr val="FF0066"/>
              </a:solidFill>
              <a:latin typeface="Times New Roman" panose="02020603050405020304" pitchFamily="18" charset="0"/>
            </a:endParaRPr>
          </a:p>
        </p:txBody>
      </p:sp>
    </p:spTree>
  </p:cSld>
  <p:clrMapOvr>
    <a:masterClrMapping/>
  </p:clrMapOvr>
  <p:transition spd="med">
    <p:push/>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1">
            <a:extLst>
              <a:ext uri="{FF2B5EF4-FFF2-40B4-BE49-F238E27FC236}">
                <a16:creationId xmlns:a16="http://schemas.microsoft.com/office/drawing/2014/main" xmlns="" id="{977D63DB-F79B-4799-A891-7C46F7FA9810}"/>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algn="r" eaLnBrk="1" hangingPunct="1">
              <a:spcBef>
                <a:spcPct val="0"/>
              </a:spcBef>
              <a:buClrTx/>
              <a:buFontTx/>
              <a:buNone/>
            </a:pPr>
            <a:fld id="{13B159CF-D528-48F4-82E2-CEEF240C5A69}" type="slidenum">
              <a:rPr lang="en-US" altLang="en-US" sz="1400"/>
              <a:pPr algn="r" eaLnBrk="1" hangingPunct="1">
                <a:spcBef>
                  <a:spcPct val="0"/>
                </a:spcBef>
                <a:buClrTx/>
                <a:buFontTx/>
                <a:buNone/>
              </a:pPr>
              <a:t>29</a:t>
            </a:fld>
            <a:endParaRPr lang="en-US" altLang="en-US" sz="1400"/>
          </a:p>
        </p:txBody>
      </p:sp>
      <p:sp>
        <p:nvSpPr>
          <p:cNvPr id="36867" name="Text Box 2">
            <a:extLst>
              <a:ext uri="{FF2B5EF4-FFF2-40B4-BE49-F238E27FC236}">
                <a16:creationId xmlns:a16="http://schemas.microsoft.com/office/drawing/2014/main" xmlns="" id="{A2CB50D7-1A17-491D-BAB5-C13B78F4D9D6}"/>
              </a:ext>
            </a:extLst>
          </p:cNvPr>
          <p:cNvSpPr txBox="1">
            <a:spLocks noChangeArrowheads="1"/>
          </p:cNvSpPr>
          <p:nvPr/>
        </p:nvSpPr>
        <p:spPr bwMode="auto">
          <a:xfrm>
            <a:off x="457200" y="304800"/>
            <a:ext cx="8229600" cy="7405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2900" indent="-341313">
              <a:spcBef>
                <a:spcPts val="8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3200">
                <a:solidFill>
                  <a:srgbClr val="000000"/>
                </a:solidFill>
                <a:latin typeface="Arial" panose="020B0604020202020204" pitchFamily="34" charset="0"/>
                <a:cs typeface="WenQuanYi Micro Hei" charset="0"/>
              </a:defRPr>
            </a:lvl1pPr>
            <a:lvl2pPr marL="741363" indent="-284163">
              <a:spcBef>
                <a:spcPts val="7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2813" algn="l"/>
                <a:tab pos="1827213" algn="l"/>
                <a:tab pos="2741613" algn="l"/>
                <a:tab pos="3656013" algn="l"/>
                <a:tab pos="4570413" algn="l"/>
                <a:tab pos="5484813" algn="l"/>
                <a:tab pos="6399213" algn="l"/>
                <a:tab pos="7313613" algn="l"/>
                <a:tab pos="8228013" algn="l"/>
                <a:tab pos="9142413" algn="l"/>
                <a:tab pos="10056813" algn="l"/>
              </a:tabLst>
              <a:defRPr sz="2000">
                <a:solidFill>
                  <a:srgbClr val="000000"/>
                </a:solidFill>
                <a:latin typeface="Arial" panose="020B0604020202020204" pitchFamily="34" charset="0"/>
                <a:cs typeface="WenQuanYi Micro Hei" charset="0"/>
              </a:defRPr>
            </a:lvl9pPr>
          </a:lstStyle>
          <a:p>
            <a:pPr eaLnBrk="1" hangingPunct="1">
              <a:lnSpc>
                <a:spcPct val="80000"/>
              </a:lnSpc>
              <a:spcBef>
                <a:spcPts val="575"/>
              </a:spcBef>
              <a:buClrTx/>
              <a:buFontTx/>
              <a:buNone/>
            </a:pPr>
            <a:r>
              <a:rPr lang="en-US" altLang="en-US" sz="2300" u="sng">
                <a:solidFill>
                  <a:srgbClr val="0000CC"/>
                </a:solidFill>
                <a:latin typeface="Times New Roman" panose="02020603050405020304" pitchFamily="18" charset="0"/>
              </a:rPr>
              <a:t>Example 3</a:t>
            </a:r>
          </a:p>
          <a:p>
            <a:pPr eaLnBrk="1" hangingPunct="1">
              <a:lnSpc>
                <a:spcPct val="80000"/>
              </a:lnSpc>
              <a:spcBef>
                <a:spcPts val="575"/>
              </a:spcBef>
              <a:buClr>
                <a:srgbClr val="0000CC"/>
              </a:buClr>
              <a:buFont typeface="Wingdings" panose="05000000000000000000" pitchFamily="2" charset="2"/>
              <a:buChar char=""/>
            </a:pPr>
            <a:r>
              <a:rPr lang="en-US" altLang="en-US" sz="2300">
                <a:latin typeface="Times New Roman" panose="02020603050405020304" pitchFamily="18" charset="0"/>
              </a:rPr>
              <a:t>Suppose that A1 wants to allow A3 to retrieve information from either of the table (Department or Employee) and also to be able to propagate the SELECT privilege to other accounts.</a:t>
            </a:r>
          </a:p>
          <a:p>
            <a:pPr eaLnBrk="1" hangingPunct="1">
              <a:lnSpc>
                <a:spcPct val="80000"/>
              </a:lnSpc>
              <a:spcBef>
                <a:spcPts val="575"/>
              </a:spcBef>
              <a:buClr>
                <a:srgbClr val="0000CC"/>
              </a:buClr>
              <a:buFont typeface="Wingdings" panose="05000000000000000000" pitchFamily="2" charset="2"/>
              <a:buChar char=""/>
            </a:pPr>
            <a:r>
              <a:rPr lang="en-US" altLang="en-US" sz="2300">
                <a:solidFill>
                  <a:srgbClr val="0000CC"/>
                </a:solidFill>
                <a:latin typeface="Times New Roman" panose="02020603050405020304" pitchFamily="18" charset="0"/>
              </a:rPr>
              <a:t>A1</a:t>
            </a:r>
            <a:r>
              <a:rPr lang="en-US" altLang="en-US" sz="2300">
                <a:latin typeface="Times New Roman" panose="02020603050405020304" pitchFamily="18" charset="0"/>
              </a:rPr>
              <a:t> can issue the command:</a:t>
            </a:r>
          </a:p>
          <a:p>
            <a:pPr eaLnBrk="1" hangingPunct="1">
              <a:lnSpc>
                <a:spcPct val="80000"/>
              </a:lnSpc>
              <a:spcBef>
                <a:spcPts val="575"/>
              </a:spcBef>
              <a:buClrTx/>
              <a:buFontTx/>
              <a:buNone/>
            </a:pPr>
            <a:r>
              <a:rPr lang="en-US" altLang="en-US" sz="2300" b="1">
                <a:solidFill>
                  <a:srgbClr val="800000"/>
                </a:solidFill>
                <a:latin typeface="Times New Roman" panose="02020603050405020304" pitchFamily="18" charset="0"/>
              </a:rPr>
              <a:t>	</a:t>
            </a:r>
            <a:r>
              <a:rPr lang="en-US" altLang="en-US" sz="2300" b="1">
                <a:solidFill>
                  <a:srgbClr val="0000CC"/>
                </a:solidFill>
                <a:latin typeface="Times New Roman" panose="02020603050405020304" pitchFamily="18" charset="0"/>
              </a:rPr>
              <a:t>GRANT</a:t>
            </a:r>
            <a:r>
              <a:rPr lang="en-US" altLang="en-US" sz="2300" b="1">
                <a:solidFill>
                  <a:srgbClr val="FF0066"/>
                </a:solidFill>
                <a:latin typeface="Times New Roman" panose="02020603050405020304" pitchFamily="18" charset="0"/>
              </a:rPr>
              <a:t> SELECT </a:t>
            </a:r>
            <a:r>
              <a:rPr lang="en-US" altLang="en-US" sz="2300" b="1">
                <a:solidFill>
                  <a:srgbClr val="0000CC"/>
                </a:solidFill>
                <a:latin typeface="Times New Roman" panose="02020603050405020304" pitchFamily="18" charset="0"/>
              </a:rPr>
              <a:t>ON</a:t>
            </a:r>
            <a:r>
              <a:rPr lang="en-US" altLang="en-US" sz="2300" b="1">
                <a:solidFill>
                  <a:srgbClr val="FF0066"/>
                </a:solidFill>
                <a:latin typeface="Times New Roman" panose="02020603050405020304" pitchFamily="18" charset="0"/>
              </a:rPr>
              <a:t> </a:t>
            </a:r>
            <a:r>
              <a:rPr lang="en-US" altLang="en-US" sz="2300">
                <a:solidFill>
                  <a:srgbClr val="FF00FF"/>
                </a:solidFill>
                <a:latin typeface="Times New Roman" panose="02020603050405020304" pitchFamily="18" charset="0"/>
              </a:rPr>
              <a:t>EMPLOYEE, DEPARTMENT</a:t>
            </a:r>
            <a:r>
              <a:rPr lang="en-US" altLang="en-US" sz="2300" b="1">
                <a:solidFill>
                  <a:srgbClr val="FF00FF"/>
                </a:solidFill>
                <a:latin typeface="Times New Roman" panose="02020603050405020304" pitchFamily="18" charset="0"/>
              </a:rPr>
              <a:t> </a:t>
            </a:r>
          </a:p>
          <a:p>
            <a:pPr eaLnBrk="1" hangingPunct="1">
              <a:lnSpc>
                <a:spcPct val="80000"/>
              </a:lnSpc>
              <a:spcBef>
                <a:spcPts val="575"/>
              </a:spcBef>
              <a:buClrTx/>
              <a:buFontTx/>
              <a:buNone/>
            </a:pPr>
            <a:r>
              <a:rPr lang="en-US" altLang="en-US" sz="2300" b="1">
                <a:solidFill>
                  <a:srgbClr val="FF0066"/>
                </a:solidFill>
                <a:latin typeface="Times New Roman" panose="02020603050405020304" pitchFamily="18" charset="0"/>
              </a:rPr>
              <a:t>		</a:t>
            </a:r>
            <a:r>
              <a:rPr lang="en-US" altLang="en-US" sz="2300" b="1">
                <a:solidFill>
                  <a:srgbClr val="0000CC"/>
                </a:solidFill>
                <a:latin typeface="Times New Roman" panose="02020603050405020304" pitchFamily="18" charset="0"/>
              </a:rPr>
              <a:t>TO</a:t>
            </a:r>
            <a:r>
              <a:rPr lang="en-US" altLang="en-US" sz="2300" b="1">
                <a:solidFill>
                  <a:srgbClr val="FF0066"/>
                </a:solidFill>
                <a:latin typeface="Times New Roman" panose="02020603050405020304" pitchFamily="18" charset="0"/>
              </a:rPr>
              <a:t> </a:t>
            </a:r>
            <a:r>
              <a:rPr lang="en-US" altLang="en-US" sz="2300">
                <a:solidFill>
                  <a:srgbClr val="FF3399"/>
                </a:solidFill>
                <a:latin typeface="Times New Roman" panose="02020603050405020304" pitchFamily="18" charset="0"/>
              </a:rPr>
              <a:t>A3</a:t>
            </a:r>
            <a:r>
              <a:rPr lang="en-US" altLang="en-US" sz="2300" b="1">
                <a:solidFill>
                  <a:srgbClr val="0000CC"/>
                </a:solidFill>
                <a:latin typeface="Times New Roman" panose="02020603050405020304" pitchFamily="18" charset="0"/>
              </a:rPr>
              <a:t> WITH GRANT OPTION</a:t>
            </a:r>
            <a:r>
              <a:rPr lang="en-US" altLang="en-US" sz="2300" b="1">
                <a:solidFill>
                  <a:srgbClr val="FF0066"/>
                </a:solidFill>
                <a:latin typeface="Times New Roman" panose="02020603050405020304" pitchFamily="18" charset="0"/>
              </a:rPr>
              <a:t>;</a:t>
            </a:r>
          </a:p>
          <a:p>
            <a:pPr eaLnBrk="1" hangingPunct="1">
              <a:lnSpc>
                <a:spcPct val="80000"/>
              </a:lnSpc>
              <a:spcBef>
                <a:spcPts val="575"/>
              </a:spcBef>
              <a:buClr>
                <a:srgbClr val="0000CC"/>
              </a:buClr>
              <a:buFont typeface="Wingdings" panose="05000000000000000000" pitchFamily="2" charset="2"/>
              <a:buChar char=""/>
            </a:pPr>
            <a:r>
              <a:rPr lang="en-US" altLang="en-US" sz="2300" b="1">
                <a:solidFill>
                  <a:srgbClr val="0000CC"/>
                </a:solidFill>
                <a:latin typeface="Times New Roman" panose="02020603050405020304" pitchFamily="18" charset="0"/>
              </a:rPr>
              <a:t>A3</a:t>
            </a:r>
            <a:r>
              <a:rPr lang="en-US" altLang="en-US" sz="2300">
                <a:latin typeface="Times New Roman" panose="02020603050405020304" pitchFamily="18" charset="0"/>
              </a:rPr>
              <a:t> can grant the </a:t>
            </a:r>
            <a:r>
              <a:rPr lang="en-US" altLang="en-US" sz="2300" b="1">
                <a:latin typeface="Times New Roman" panose="02020603050405020304" pitchFamily="18" charset="0"/>
              </a:rPr>
              <a:t>SELECT</a:t>
            </a:r>
            <a:r>
              <a:rPr lang="en-US" altLang="en-US" sz="2300">
                <a:latin typeface="Times New Roman" panose="02020603050405020304" pitchFamily="18" charset="0"/>
              </a:rPr>
              <a:t> privilege on the </a:t>
            </a:r>
            <a:r>
              <a:rPr lang="en-US" altLang="en-US" sz="2300" b="1">
                <a:latin typeface="Times New Roman" panose="02020603050405020304" pitchFamily="18" charset="0"/>
              </a:rPr>
              <a:t>EMPLOYEE</a:t>
            </a:r>
            <a:r>
              <a:rPr lang="en-US" altLang="en-US" sz="2300">
                <a:latin typeface="Times New Roman" panose="02020603050405020304" pitchFamily="18" charset="0"/>
              </a:rPr>
              <a:t> relation to A4 by issuing:</a:t>
            </a:r>
          </a:p>
          <a:p>
            <a:pPr eaLnBrk="1" hangingPunct="1">
              <a:lnSpc>
                <a:spcPct val="80000"/>
              </a:lnSpc>
              <a:spcBef>
                <a:spcPts val="575"/>
              </a:spcBef>
              <a:buClrTx/>
              <a:buFontTx/>
              <a:buNone/>
            </a:pPr>
            <a:r>
              <a:rPr lang="en-US" altLang="en-US" sz="2300">
                <a:solidFill>
                  <a:srgbClr val="800000"/>
                </a:solidFill>
                <a:latin typeface="Times New Roman" panose="02020603050405020304" pitchFamily="18" charset="0"/>
              </a:rPr>
              <a:t>	</a:t>
            </a:r>
            <a:r>
              <a:rPr lang="en-US" altLang="en-US" sz="2300" b="1">
                <a:solidFill>
                  <a:srgbClr val="0000CC"/>
                </a:solidFill>
                <a:latin typeface="Times New Roman" panose="02020603050405020304" pitchFamily="18" charset="0"/>
              </a:rPr>
              <a:t>GRANT</a:t>
            </a:r>
            <a:r>
              <a:rPr lang="en-US" altLang="en-US" sz="2300" b="1">
                <a:solidFill>
                  <a:srgbClr val="FF0066"/>
                </a:solidFill>
                <a:latin typeface="Times New Roman" panose="02020603050405020304" pitchFamily="18" charset="0"/>
              </a:rPr>
              <a:t> SELECT</a:t>
            </a:r>
            <a:r>
              <a:rPr lang="en-US" altLang="en-US" sz="2300">
                <a:solidFill>
                  <a:srgbClr val="FF0066"/>
                </a:solidFill>
                <a:latin typeface="Times New Roman" panose="02020603050405020304" pitchFamily="18" charset="0"/>
              </a:rPr>
              <a:t> </a:t>
            </a:r>
            <a:r>
              <a:rPr lang="en-US" altLang="en-US" sz="2300" b="1">
                <a:solidFill>
                  <a:srgbClr val="0000CC"/>
                </a:solidFill>
                <a:latin typeface="Times New Roman" panose="02020603050405020304" pitchFamily="18" charset="0"/>
              </a:rPr>
              <a:t>ON</a:t>
            </a:r>
            <a:r>
              <a:rPr lang="en-US" altLang="en-US" sz="2300">
                <a:solidFill>
                  <a:srgbClr val="FF0066"/>
                </a:solidFill>
                <a:latin typeface="Times New Roman" panose="02020603050405020304" pitchFamily="18" charset="0"/>
              </a:rPr>
              <a:t> EMPLOYEE </a:t>
            </a:r>
            <a:r>
              <a:rPr lang="en-US" altLang="en-US" sz="2300" b="1">
                <a:solidFill>
                  <a:srgbClr val="0000CC"/>
                </a:solidFill>
                <a:latin typeface="Times New Roman" panose="02020603050405020304" pitchFamily="18" charset="0"/>
              </a:rPr>
              <a:t>TO</a:t>
            </a:r>
            <a:r>
              <a:rPr lang="en-US" altLang="en-US" sz="2300">
                <a:solidFill>
                  <a:srgbClr val="FF0066"/>
                </a:solidFill>
                <a:latin typeface="Times New Roman" panose="02020603050405020304" pitchFamily="18" charset="0"/>
              </a:rPr>
              <a:t> A4;</a:t>
            </a:r>
          </a:p>
          <a:p>
            <a:pPr lvl="1" eaLnBrk="1" hangingPunct="1">
              <a:lnSpc>
                <a:spcPct val="80000"/>
              </a:lnSpc>
              <a:spcBef>
                <a:spcPts val="575"/>
              </a:spcBef>
              <a:buClr>
                <a:srgbClr val="0000CC"/>
              </a:buClr>
              <a:buFont typeface="Wingdings" panose="05000000000000000000" pitchFamily="2" charset="2"/>
              <a:buChar char=""/>
            </a:pPr>
            <a:r>
              <a:rPr lang="en-US" altLang="en-US" sz="2300">
                <a:latin typeface="Times New Roman" panose="02020603050405020304" pitchFamily="18" charset="0"/>
              </a:rPr>
              <a:t>Notice that A4 can’t propagate the SELECT privilege because GRANT OPTION was not given to A4</a:t>
            </a:r>
          </a:p>
          <a:p>
            <a:pPr eaLnBrk="1" hangingPunct="1">
              <a:lnSpc>
                <a:spcPct val="80000"/>
              </a:lnSpc>
              <a:spcBef>
                <a:spcPts val="575"/>
              </a:spcBef>
              <a:buClrTx/>
              <a:buFontTx/>
              <a:buNone/>
            </a:pPr>
            <a:r>
              <a:rPr lang="en-US" altLang="en-US" sz="2300" u="sng">
                <a:solidFill>
                  <a:srgbClr val="0000CC"/>
                </a:solidFill>
                <a:latin typeface="Times New Roman" panose="02020603050405020304" pitchFamily="18" charset="0"/>
              </a:rPr>
              <a:t>Example 4</a:t>
            </a:r>
          </a:p>
          <a:p>
            <a:pPr eaLnBrk="1" hangingPunct="1">
              <a:lnSpc>
                <a:spcPct val="80000"/>
              </a:lnSpc>
              <a:spcBef>
                <a:spcPts val="575"/>
              </a:spcBef>
              <a:buClr>
                <a:srgbClr val="0000CC"/>
              </a:buClr>
              <a:buFont typeface="Wingdings" panose="05000000000000000000" pitchFamily="2" charset="2"/>
              <a:buChar char=""/>
            </a:pPr>
            <a:r>
              <a:rPr lang="en-US" altLang="en-US" sz="2300">
                <a:latin typeface="Times New Roman" panose="02020603050405020304" pitchFamily="18" charset="0"/>
              </a:rPr>
              <a:t>Suppose that A1 decides to revoke the SELECT privilege on the EMPLOYEE relation from A3; A1 can issue:</a:t>
            </a:r>
          </a:p>
          <a:p>
            <a:pPr eaLnBrk="1" hangingPunct="1">
              <a:lnSpc>
                <a:spcPct val="80000"/>
              </a:lnSpc>
              <a:spcBef>
                <a:spcPts val="575"/>
              </a:spcBef>
              <a:buClrTx/>
              <a:buFontTx/>
              <a:buNone/>
            </a:pPr>
            <a:r>
              <a:rPr lang="en-US" altLang="en-US" sz="2300" b="1">
                <a:solidFill>
                  <a:srgbClr val="800000"/>
                </a:solidFill>
                <a:latin typeface="Times New Roman" panose="02020603050405020304" pitchFamily="18" charset="0"/>
              </a:rPr>
              <a:t>	</a:t>
            </a:r>
            <a:r>
              <a:rPr lang="en-US" altLang="en-US" sz="2300" b="1">
                <a:solidFill>
                  <a:srgbClr val="0000CC"/>
                </a:solidFill>
                <a:latin typeface="Times New Roman" panose="02020603050405020304" pitchFamily="18" charset="0"/>
              </a:rPr>
              <a:t>REVOKE</a:t>
            </a:r>
            <a:r>
              <a:rPr lang="en-US" altLang="en-US" sz="2300" b="1">
                <a:solidFill>
                  <a:srgbClr val="FF3399"/>
                </a:solidFill>
                <a:latin typeface="Times New Roman" panose="02020603050405020304" pitchFamily="18" charset="0"/>
              </a:rPr>
              <a:t> SELECT </a:t>
            </a:r>
            <a:r>
              <a:rPr lang="en-US" altLang="en-US" sz="2300" b="1">
                <a:solidFill>
                  <a:srgbClr val="0000CC"/>
                </a:solidFill>
                <a:latin typeface="Times New Roman" panose="02020603050405020304" pitchFamily="18" charset="0"/>
              </a:rPr>
              <a:t>ON</a:t>
            </a:r>
            <a:r>
              <a:rPr lang="en-US" altLang="en-US" sz="2300" b="1">
                <a:solidFill>
                  <a:srgbClr val="FF3399"/>
                </a:solidFill>
                <a:latin typeface="Times New Roman" panose="02020603050405020304" pitchFamily="18" charset="0"/>
              </a:rPr>
              <a:t> </a:t>
            </a:r>
            <a:r>
              <a:rPr lang="en-US" altLang="en-US" sz="2300">
                <a:solidFill>
                  <a:srgbClr val="FF3399"/>
                </a:solidFill>
                <a:latin typeface="Times New Roman" panose="02020603050405020304" pitchFamily="18" charset="0"/>
              </a:rPr>
              <a:t>EMPLOYEE</a:t>
            </a:r>
            <a:r>
              <a:rPr lang="en-US" altLang="en-US" sz="2300" b="1">
                <a:solidFill>
                  <a:srgbClr val="FF3399"/>
                </a:solidFill>
                <a:latin typeface="Times New Roman" panose="02020603050405020304" pitchFamily="18" charset="0"/>
              </a:rPr>
              <a:t> </a:t>
            </a:r>
            <a:r>
              <a:rPr lang="en-US" altLang="en-US" sz="2300" b="1">
                <a:solidFill>
                  <a:srgbClr val="0000CC"/>
                </a:solidFill>
                <a:latin typeface="Times New Roman" panose="02020603050405020304" pitchFamily="18" charset="0"/>
              </a:rPr>
              <a:t>FROM</a:t>
            </a:r>
            <a:r>
              <a:rPr lang="en-US" altLang="en-US" sz="2300" b="1">
                <a:solidFill>
                  <a:srgbClr val="FF3399"/>
                </a:solidFill>
                <a:latin typeface="Times New Roman" panose="02020603050405020304" pitchFamily="18" charset="0"/>
              </a:rPr>
              <a:t> </a:t>
            </a:r>
            <a:r>
              <a:rPr lang="en-US" altLang="en-US" sz="2300">
                <a:solidFill>
                  <a:srgbClr val="FF3399"/>
                </a:solidFill>
                <a:latin typeface="Times New Roman" panose="02020603050405020304" pitchFamily="18" charset="0"/>
              </a:rPr>
              <a:t>A3</a:t>
            </a:r>
            <a:r>
              <a:rPr lang="en-US" altLang="en-US" sz="2300" b="1">
                <a:solidFill>
                  <a:srgbClr val="FF3399"/>
                </a:solidFill>
                <a:latin typeface="Times New Roman" panose="02020603050405020304" pitchFamily="18" charset="0"/>
              </a:rPr>
              <a:t>;</a:t>
            </a:r>
          </a:p>
          <a:p>
            <a:pPr eaLnBrk="1" hangingPunct="1">
              <a:lnSpc>
                <a:spcPct val="80000"/>
              </a:lnSpc>
              <a:spcBef>
                <a:spcPts val="575"/>
              </a:spcBef>
              <a:buClr>
                <a:srgbClr val="0000CC"/>
              </a:buClr>
              <a:buFont typeface="Wingdings" panose="05000000000000000000" pitchFamily="2" charset="2"/>
              <a:buChar char=""/>
            </a:pPr>
            <a:r>
              <a:rPr lang="en-US" altLang="en-US" sz="2300">
                <a:latin typeface="Times New Roman" panose="02020603050405020304" pitchFamily="18" charset="0"/>
              </a:rPr>
              <a:t>The DBMS must now automatically revoke the SELECT privilege on EMPLOYEE from A4, too, because A3 granted that privilege to A4 and A3 does not have the privilege any more.</a:t>
            </a:r>
          </a:p>
          <a:p>
            <a:pPr eaLnBrk="1" hangingPunct="1">
              <a:lnSpc>
                <a:spcPct val="80000"/>
              </a:lnSpc>
              <a:spcBef>
                <a:spcPts val="575"/>
              </a:spcBef>
              <a:buFont typeface="Times New Roman" panose="02020603050405020304" pitchFamily="18" charset="0"/>
              <a:buNone/>
            </a:pPr>
            <a:endParaRPr lang="en-US" altLang="en-US" sz="2300">
              <a:latin typeface="Times New Roman" panose="02020603050405020304" pitchFamily="18" charset="0"/>
            </a:endParaRPr>
          </a:p>
          <a:p>
            <a:pPr eaLnBrk="1" hangingPunct="1">
              <a:lnSpc>
                <a:spcPct val="80000"/>
              </a:lnSpc>
              <a:spcBef>
                <a:spcPts val="575"/>
              </a:spcBef>
              <a:buFont typeface="Times New Roman" panose="02020603050405020304" pitchFamily="18" charset="0"/>
              <a:buNone/>
            </a:pPr>
            <a:endParaRPr lang="en-US" altLang="en-US" sz="2300">
              <a:latin typeface="Times New Roman" panose="02020603050405020304" pitchFamily="18" charset="0"/>
            </a:endParaRPr>
          </a:p>
          <a:p>
            <a:pPr eaLnBrk="1" hangingPunct="1">
              <a:lnSpc>
                <a:spcPct val="80000"/>
              </a:lnSpc>
              <a:spcBef>
                <a:spcPts val="575"/>
              </a:spcBef>
              <a:buFont typeface="Times New Roman" panose="02020603050405020304" pitchFamily="18" charset="0"/>
              <a:buNone/>
            </a:pPr>
            <a:endParaRPr lang="en-US" altLang="en-US" sz="2300">
              <a:latin typeface="Times New Roman" panose="02020603050405020304" pitchFamily="18" charset="0"/>
            </a:endParaRPr>
          </a:p>
        </p:txBody>
      </p:sp>
    </p:spTree>
  </p:cSld>
  <p:clrMapOvr>
    <a:masterClrMapping/>
  </p:clrMapOvr>
  <p:transition spd="med">
    <p:strips dir="rd"/>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1">
            <a:extLst>
              <a:ext uri="{FF2B5EF4-FFF2-40B4-BE49-F238E27FC236}">
                <a16:creationId xmlns:a16="http://schemas.microsoft.com/office/drawing/2014/main" xmlns="" id="{8BBAF763-21E3-4575-9572-469C46AC8755}"/>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algn="r" eaLnBrk="1" hangingPunct="1">
              <a:spcBef>
                <a:spcPct val="0"/>
              </a:spcBef>
              <a:buClrTx/>
              <a:buFontTx/>
              <a:buNone/>
            </a:pPr>
            <a:fld id="{93BA0FAF-DE3A-49A3-9101-CD36C893F5FB}" type="slidenum">
              <a:rPr lang="en-US" altLang="en-US" sz="1400"/>
              <a:pPr algn="r" eaLnBrk="1" hangingPunct="1">
                <a:spcBef>
                  <a:spcPct val="0"/>
                </a:spcBef>
                <a:buClrTx/>
                <a:buFontTx/>
                <a:buNone/>
              </a:pPr>
              <a:t>30</a:t>
            </a:fld>
            <a:endParaRPr lang="en-US" altLang="en-US" sz="1400"/>
          </a:p>
        </p:txBody>
      </p:sp>
      <p:sp>
        <p:nvSpPr>
          <p:cNvPr id="40963" name="Text Box 2">
            <a:extLst>
              <a:ext uri="{FF2B5EF4-FFF2-40B4-BE49-F238E27FC236}">
                <a16:creationId xmlns:a16="http://schemas.microsoft.com/office/drawing/2014/main" xmlns="" id="{D95FE5C9-33C6-445B-8666-D0C6DDC60C08}"/>
              </a:ext>
            </a:extLst>
          </p:cNvPr>
          <p:cNvSpPr txBox="1">
            <a:spLocks noChangeArrowheads="1"/>
          </p:cNvSpPr>
          <p:nvPr/>
        </p:nvSpPr>
        <p:spPr bwMode="auto">
          <a:xfrm>
            <a:off x="457200" y="1524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eaLnBrk="1" hangingPunct="1">
              <a:spcBef>
                <a:spcPct val="0"/>
              </a:spcBef>
              <a:buClrTx/>
              <a:buFontTx/>
              <a:buNone/>
            </a:pPr>
            <a:r>
              <a:rPr lang="en-US" altLang="en-US" sz="2400" b="1">
                <a:solidFill>
                  <a:srgbClr val="0000CC"/>
                </a:solidFill>
                <a:latin typeface="Times New Roman" panose="02020603050405020304" pitchFamily="18" charset="0"/>
              </a:rPr>
              <a:t>2.2 Mandatory Access Control</a:t>
            </a:r>
          </a:p>
        </p:txBody>
      </p:sp>
      <p:sp>
        <p:nvSpPr>
          <p:cNvPr id="40964" name="Text Box 3">
            <a:extLst>
              <a:ext uri="{FF2B5EF4-FFF2-40B4-BE49-F238E27FC236}">
                <a16:creationId xmlns:a16="http://schemas.microsoft.com/office/drawing/2014/main" xmlns="" id="{03A9B8D0-170C-4794-A75D-A27A91FE399D}"/>
              </a:ext>
            </a:extLst>
          </p:cNvPr>
          <p:cNvSpPr txBox="1">
            <a:spLocks noChangeArrowheads="1"/>
          </p:cNvSpPr>
          <p:nvPr/>
        </p:nvSpPr>
        <p:spPr bwMode="auto">
          <a:xfrm>
            <a:off x="457200" y="838200"/>
            <a:ext cx="8458200" cy="591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1313" indent="-341313">
              <a:spcBef>
                <a:spcPts val="8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panose="020B0604020202020204" pitchFamily="34" charset="0"/>
                <a:cs typeface="WenQuanYi Micro Hei" charset="0"/>
              </a:defRPr>
            </a:lvl1pPr>
            <a:lvl2pPr marL="741363" indent="-284163">
              <a:spcBef>
                <a:spcPts val="7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9pPr>
          </a:lstStyle>
          <a:p>
            <a:pPr>
              <a:lnSpc>
                <a:spcPct val="150000"/>
              </a:lnSpc>
              <a:spcBef>
                <a:spcPts val="600"/>
              </a:spcBef>
              <a:buClr>
                <a:srgbClr val="FF0066"/>
              </a:buClr>
              <a:buFont typeface="Wingdings" panose="05000000000000000000" pitchFamily="2" charset="2"/>
              <a:buChar char=""/>
            </a:pPr>
            <a:r>
              <a:rPr lang="en-US" altLang="en-US" sz="2000" dirty="0">
                <a:latin typeface="Times New Roman" panose="02020603050405020304" pitchFamily="18" charset="0"/>
              </a:rPr>
              <a:t>Access is controlled by the system or security policy, not by the owner.</a:t>
            </a:r>
          </a:p>
          <a:p>
            <a:pPr>
              <a:lnSpc>
                <a:spcPct val="150000"/>
              </a:lnSpc>
              <a:spcBef>
                <a:spcPts val="600"/>
              </a:spcBef>
              <a:buClr>
                <a:srgbClr val="FF0066"/>
              </a:buClr>
              <a:buFont typeface="Wingdings" panose="05000000000000000000" pitchFamily="2" charset="2"/>
              <a:buChar char=""/>
            </a:pPr>
            <a:r>
              <a:rPr lang="en-US" altLang="en-US" sz="2000" dirty="0">
                <a:latin typeface="Times New Roman" panose="02020603050405020304" pitchFamily="18" charset="0"/>
              </a:rPr>
              <a:t>Users and data objects are assigned security levels (e.g., Top Secret, Secret).</a:t>
            </a:r>
          </a:p>
          <a:p>
            <a:pPr>
              <a:lnSpc>
                <a:spcPct val="150000"/>
              </a:lnSpc>
              <a:spcBef>
                <a:spcPts val="600"/>
              </a:spcBef>
              <a:buClr>
                <a:srgbClr val="FF0066"/>
              </a:buClr>
              <a:buFont typeface="Wingdings" panose="05000000000000000000" pitchFamily="2" charset="2"/>
              <a:buChar char=""/>
            </a:pPr>
            <a:r>
              <a:rPr lang="en-US" altLang="en-US" sz="2000" dirty="0">
                <a:latin typeface="Times New Roman" panose="02020603050405020304" pitchFamily="18" charset="0"/>
              </a:rPr>
              <a:t>Very strict and highly secure.</a:t>
            </a:r>
          </a:p>
          <a:p>
            <a:pPr>
              <a:lnSpc>
                <a:spcPct val="150000"/>
              </a:lnSpc>
              <a:spcBef>
                <a:spcPts val="600"/>
              </a:spcBef>
              <a:buClr>
                <a:srgbClr val="FF0066"/>
              </a:buClr>
              <a:buFont typeface="Wingdings" panose="05000000000000000000" pitchFamily="2" charset="2"/>
              <a:buChar char=""/>
            </a:pPr>
            <a:r>
              <a:rPr lang="en-US" altLang="en-US" sz="2000" dirty="0">
                <a:latin typeface="Times New Roman" panose="02020603050405020304" pitchFamily="18" charset="0"/>
              </a:rPr>
              <a:t>Common in military, government, and high-security systems.</a:t>
            </a:r>
          </a:p>
          <a:p>
            <a:pPr eaLnBrk="1" hangingPunct="1">
              <a:lnSpc>
                <a:spcPct val="150000"/>
              </a:lnSpc>
              <a:spcBef>
                <a:spcPts val="600"/>
              </a:spcBef>
              <a:buClr>
                <a:srgbClr val="FF0066"/>
              </a:buClr>
              <a:buFont typeface="Wingdings" panose="05000000000000000000" pitchFamily="2" charset="2"/>
              <a:buChar char=""/>
            </a:pPr>
            <a:r>
              <a:rPr lang="en-US" altLang="en-US" sz="2000" dirty="0">
                <a:latin typeface="Times New Roman" panose="02020603050405020304" pitchFamily="18" charset="0"/>
              </a:rPr>
              <a:t>In many applications, </a:t>
            </a:r>
            <a:r>
              <a:rPr lang="en-US" altLang="en-US" sz="2000" b="1" dirty="0">
                <a:latin typeface="Times New Roman" panose="02020603050405020304" pitchFamily="18" charset="0"/>
              </a:rPr>
              <a:t>additional security policy</a:t>
            </a:r>
            <a:r>
              <a:rPr lang="en-US" altLang="en-US" sz="2000" dirty="0">
                <a:latin typeface="Times New Roman" panose="02020603050405020304" pitchFamily="18" charset="0"/>
              </a:rPr>
              <a:t> is needed that classifies data and users based on </a:t>
            </a:r>
            <a:r>
              <a:rPr lang="en-US" altLang="en-US" sz="2000" dirty="0">
                <a:solidFill>
                  <a:srgbClr val="FF3399"/>
                </a:solidFill>
                <a:latin typeface="Times New Roman" panose="02020603050405020304" pitchFamily="18" charset="0"/>
              </a:rPr>
              <a:t>security classes.</a:t>
            </a:r>
            <a:r>
              <a:rPr lang="en-US" altLang="en-US" sz="2000" dirty="0">
                <a:latin typeface="Times New Roman" panose="02020603050405020304" pitchFamily="18" charset="0"/>
              </a:rPr>
              <a:t> </a:t>
            </a:r>
          </a:p>
          <a:p>
            <a:pPr eaLnBrk="1" hangingPunct="1">
              <a:lnSpc>
                <a:spcPct val="150000"/>
              </a:lnSpc>
              <a:spcBef>
                <a:spcPts val="600"/>
              </a:spcBef>
              <a:buClr>
                <a:srgbClr val="FF0066"/>
              </a:buClr>
              <a:buFont typeface="Wingdings" panose="05000000000000000000" pitchFamily="2" charset="2"/>
              <a:buChar char=""/>
            </a:pPr>
            <a:r>
              <a:rPr lang="en-US" altLang="en-US" sz="2000" dirty="0">
                <a:latin typeface="Times New Roman" panose="02020603050405020304" pitchFamily="18" charset="0"/>
              </a:rPr>
              <a:t>Typical </a:t>
            </a:r>
            <a:r>
              <a:rPr lang="en-US" altLang="en-US" sz="2000" b="1" dirty="0">
                <a:latin typeface="Times New Roman" panose="02020603050405020304" pitchFamily="18" charset="0"/>
              </a:rPr>
              <a:t>security classes</a:t>
            </a:r>
            <a:r>
              <a:rPr lang="en-US" altLang="en-US" sz="2000" dirty="0">
                <a:latin typeface="Times New Roman" panose="02020603050405020304" pitchFamily="18" charset="0"/>
              </a:rPr>
              <a:t> are top secret (TS), secret (S), confidential (C), and unclassified (U), where TS is the highest level and U the lowest: TS ≥ S ≥ C ≥ U</a:t>
            </a:r>
          </a:p>
          <a:p>
            <a:pPr eaLnBrk="1" hangingPunct="1">
              <a:lnSpc>
                <a:spcPct val="105000"/>
              </a:lnSpc>
              <a:spcBef>
                <a:spcPts val="600"/>
              </a:spcBef>
              <a:buClr>
                <a:srgbClr val="FF0066"/>
              </a:buClr>
              <a:buFont typeface="Wingdings" panose="05000000000000000000" pitchFamily="2" charset="2"/>
              <a:buNone/>
            </a:pPr>
            <a:endParaRPr lang="en-US" altLang="en-US" sz="2400" dirty="0">
              <a:latin typeface="Times New Roman" panose="02020603050405020304" pitchFamily="18" charset="0"/>
            </a:endParaRPr>
          </a:p>
        </p:txBody>
      </p:sp>
    </p:spTree>
  </p:cSld>
  <p:clrMapOvr>
    <a:masterClrMapping/>
  </p:clrMapOvr>
  <p:transition spd="med">
    <p:strips dir="rd"/>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1">
            <a:extLst>
              <a:ext uri="{FF2B5EF4-FFF2-40B4-BE49-F238E27FC236}">
                <a16:creationId xmlns:a16="http://schemas.microsoft.com/office/drawing/2014/main" xmlns="" id="{8BBAF763-21E3-4575-9572-469C46AC8755}"/>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algn="r" eaLnBrk="1" hangingPunct="1">
              <a:spcBef>
                <a:spcPct val="0"/>
              </a:spcBef>
              <a:buClrTx/>
              <a:buFontTx/>
              <a:buNone/>
            </a:pPr>
            <a:fld id="{93BA0FAF-DE3A-49A3-9101-CD36C893F5FB}" type="slidenum">
              <a:rPr lang="en-US" altLang="en-US" sz="1400"/>
              <a:pPr algn="r" eaLnBrk="1" hangingPunct="1">
                <a:spcBef>
                  <a:spcPct val="0"/>
                </a:spcBef>
                <a:buClrTx/>
                <a:buFontTx/>
                <a:buNone/>
              </a:pPr>
              <a:t>31</a:t>
            </a:fld>
            <a:endParaRPr lang="en-US" altLang="en-US" sz="1400"/>
          </a:p>
        </p:txBody>
      </p:sp>
      <p:sp>
        <p:nvSpPr>
          <p:cNvPr id="40963" name="Text Box 2">
            <a:extLst>
              <a:ext uri="{FF2B5EF4-FFF2-40B4-BE49-F238E27FC236}">
                <a16:creationId xmlns:a16="http://schemas.microsoft.com/office/drawing/2014/main" xmlns="" id="{D95FE5C9-33C6-445B-8666-D0C6DDC60C08}"/>
              </a:ext>
            </a:extLst>
          </p:cNvPr>
          <p:cNvSpPr txBox="1">
            <a:spLocks noChangeArrowheads="1"/>
          </p:cNvSpPr>
          <p:nvPr/>
        </p:nvSpPr>
        <p:spPr bwMode="auto">
          <a:xfrm>
            <a:off x="457200" y="1524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eaLnBrk="1" hangingPunct="1">
              <a:spcBef>
                <a:spcPct val="0"/>
              </a:spcBef>
              <a:buClrTx/>
              <a:buFontTx/>
              <a:buNone/>
            </a:pPr>
            <a:r>
              <a:rPr lang="en-US" altLang="en-US" sz="2400" b="1">
                <a:solidFill>
                  <a:srgbClr val="0000CC"/>
                </a:solidFill>
                <a:latin typeface="Times New Roman" panose="02020603050405020304" pitchFamily="18" charset="0"/>
              </a:rPr>
              <a:t>2.2 Mandatory Access Control</a:t>
            </a:r>
          </a:p>
        </p:txBody>
      </p:sp>
      <p:sp>
        <p:nvSpPr>
          <p:cNvPr id="40964" name="Text Box 3">
            <a:extLst>
              <a:ext uri="{FF2B5EF4-FFF2-40B4-BE49-F238E27FC236}">
                <a16:creationId xmlns:a16="http://schemas.microsoft.com/office/drawing/2014/main" xmlns="" id="{03A9B8D0-170C-4794-A75D-A27A91FE399D}"/>
              </a:ext>
            </a:extLst>
          </p:cNvPr>
          <p:cNvSpPr txBox="1">
            <a:spLocks noChangeArrowheads="1"/>
          </p:cNvSpPr>
          <p:nvPr/>
        </p:nvSpPr>
        <p:spPr bwMode="auto">
          <a:xfrm>
            <a:off x="457200" y="838200"/>
            <a:ext cx="8458200" cy="591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1313" indent="-341313">
              <a:spcBef>
                <a:spcPts val="8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panose="020B0604020202020204" pitchFamily="34" charset="0"/>
                <a:cs typeface="WenQuanYi Micro Hei" charset="0"/>
              </a:defRPr>
            </a:lvl1pPr>
            <a:lvl2pPr marL="741363" indent="-284163">
              <a:spcBef>
                <a:spcPts val="7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9pPr>
          </a:lstStyle>
          <a:p>
            <a:pPr marL="0" indent="0">
              <a:buNone/>
            </a:pPr>
            <a:r>
              <a:rPr lang="en-US" sz="2000" b="1" dirty="0"/>
              <a:t>Example:</a:t>
            </a:r>
          </a:p>
          <a:p>
            <a:pPr marL="0" indent="0">
              <a:buNone/>
            </a:pPr>
            <a:r>
              <a:rPr lang="en-US" sz="2000" dirty="0"/>
              <a:t>1. </a:t>
            </a:r>
            <a:r>
              <a:rPr lang="en-US" sz="2000" dirty="0">
                <a:solidFill>
                  <a:schemeClr val="accent2"/>
                </a:solidFill>
                <a:latin typeface="Times New Roman" panose="02020603050405020304" pitchFamily="18" charset="0"/>
                <a:cs typeface="Times New Roman" panose="02020603050405020304" pitchFamily="18" charset="0"/>
              </a:rPr>
              <a:t>Hospital Medical Records (High-security systems)</a:t>
            </a:r>
            <a:endParaRPr lang="en-US" sz="2000" b="1" dirty="0">
              <a:solidFill>
                <a:schemeClr val="accent2"/>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Doctors: can see medical details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Nurses: can only see basic care instructions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Admin staff: can only see billing info</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Access is controlled by </a:t>
            </a:r>
            <a:r>
              <a:rPr lang="en-US" sz="2000" b="1" dirty="0">
                <a:latin typeface="Times New Roman" panose="02020603050405020304" pitchFamily="18" charset="0"/>
                <a:cs typeface="Times New Roman" panose="02020603050405020304" pitchFamily="18" charset="0"/>
              </a:rPr>
              <a:t>hospital policy</a:t>
            </a:r>
            <a:r>
              <a:rPr lang="en-US" sz="2000" dirty="0">
                <a:latin typeface="Times New Roman" panose="02020603050405020304" pitchFamily="18" charset="0"/>
                <a:cs typeface="Times New Roman" panose="02020603050405020304" pitchFamily="18" charset="0"/>
              </a:rPr>
              <a:t>, not by the doctor who created the data.</a:t>
            </a:r>
          </a:p>
          <a:p>
            <a:pPr marL="0" indent="0">
              <a:buNone/>
            </a:pPr>
            <a:r>
              <a:rPr lang="en-US" sz="2000" dirty="0">
                <a:latin typeface="Times New Roman" panose="02020603050405020304" pitchFamily="18" charset="0"/>
                <a:cs typeface="Times New Roman" panose="02020603050405020304" pitchFamily="18" charset="0"/>
              </a:rPr>
              <a:t>2</a:t>
            </a:r>
            <a:r>
              <a:rPr lang="en-US" sz="2000" dirty="0">
                <a:solidFill>
                  <a:schemeClr val="accent2"/>
                </a:solidFill>
                <a:latin typeface="Times New Roman" panose="02020603050405020304" pitchFamily="18" charset="0"/>
                <a:cs typeface="Times New Roman" panose="02020603050405020304" pitchFamily="18" charset="0"/>
              </a:rPr>
              <a:t>. Military Security System</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Documents labeled: </a:t>
            </a:r>
            <a:r>
              <a:rPr lang="en-US" sz="2000" b="1" dirty="0">
                <a:latin typeface="Times New Roman" panose="02020603050405020304" pitchFamily="18" charset="0"/>
                <a:cs typeface="Times New Roman" panose="02020603050405020304" pitchFamily="18" charset="0"/>
              </a:rPr>
              <a:t>Top Secret</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Secret</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Confidential</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Unclassified</a:t>
            </a: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Users (soldiers/officers) have clearance levels.</a:t>
            </a:r>
          </a:p>
          <a:p>
            <a:pP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If a user has </a:t>
            </a:r>
            <a:r>
              <a:rPr lang="en-US" sz="2000" b="1" dirty="0">
                <a:solidFill>
                  <a:srgbClr val="FF0000"/>
                </a:solidFill>
                <a:latin typeface="Times New Roman" panose="02020603050405020304" pitchFamily="18" charset="0"/>
                <a:cs typeface="Times New Roman" panose="02020603050405020304" pitchFamily="18" charset="0"/>
              </a:rPr>
              <a:t>Secret clearance</a:t>
            </a:r>
            <a:r>
              <a:rPr lang="en-US" sz="2000" dirty="0">
                <a:solidFill>
                  <a:srgbClr val="FF0000"/>
                </a:solidFill>
                <a:latin typeface="Times New Roman" panose="02020603050405020304" pitchFamily="18" charset="0"/>
                <a:cs typeface="Times New Roman" panose="02020603050405020304" pitchFamily="18" charset="0"/>
              </a:rPr>
              <a:t>, they </a:t>
            </a:r>
            <a:r>
              <a:rPr lang="en-US" sz="2000" b="1" dirty="0">
                <a:solidFill>
                  <a:srgbClr val="FF0000"/>
                </a:solidFill>
                <a:latin typeface="Times New Roman" panose="02020603050405020304" pitchFamily="18" charset="0"/>
                <a:cs typeface="Times New Roman" panose="02020603050405020304" pitchFamily="18" charset="0"/>
              </a:rPr>
              <a:t>cannot</a:t>
            </a:r>
            <a:r>
              <a:rPr lang="en-US" sz="2000" dirty="0">
                <a:solidFill>
                  <a:srgbClr val="FF0000"/>
                </a:solidFill>
                <a:latin typeface="Times New Roman" panose="02020603050405020304" pitchFamily="18" charset="0"/>
                <a:cs typeface="Times New Roman" panose="02020603050405020304" pitchFamily="18" charset="0"/>
              </a:rPr>
              <a:t> read </a:t>
            </a:r>
            <a:r>
              <a:rPr lang="en-US" sz="2000" b="1" dirty="0">
                <a:solidFill>
                  <a:srgbClr val="FF0000"/>
                </a:solidFill>
                <a:latin typeface="Times New Roman" panose="02020603050405020304" pitchFamily="18" charset="0"/>
                <a:cs typeface="Times New Roman" panose="02020603050405020304" pitchFamily="18" charset="0"/>
              </a:rPr>
              <a:t>Top Secret</a:t>
            </a:r>
            <a:r>
              <a:rPr lang="en-US" sz="2000" dirty="0">
                <a:solidFill>
                  <a:srgbClr val="FF0000"/>
                </a:solidFill>
                <a:latin typeface="Times New Roman" panose="02020603050405020304" pitchFamily="18" charset="0"/>
                <a:cs typeface="Times New Roman" panose="02020603050405020304" pitchFamily="18" charset="0"/>
              </a:rPr>
              <a:t> documents.</a:t>
            </a:r>
            <a:br>
              <a:rPr lang="en-US" sz="2000" dirty="0">
                <a:solidFill>
                  <a:srgbClr val="FF0000"/>
                </a:solidFill>
                <a:latin typeface="Times New Roman" panose="02020603050405020304" pitchFamily="18" charset="0"/>
                <a:cs typeface="Times New Roman" panose="02020603050405020304" pitchFamily="18" charset="0"/>
              </a:rPr>
            </a:br>
            <a:r>
              <a:rPr lang="en-US" sz="2000" dirty="0">
                <a:solidFill>
                  <a:srgbClr val="FF0000"/>
                </a:solidFill>
                <a:latin typeface="Times New Roman" panose="02020603050405020304" pitchFamily="18" charset="0"/>
                <a:cs typeface="Times New Roman" panose="02020603050405020304" pitchFamily="18" charset="0"/>
              </a:rPr>
              <a:t> The </a:t>
            </a:r>
            <a:r>
              <a:rPr lang="en-US" sz="2000" b="1" dirty="0">
                <a:solidFill>
                  <a:srgbClr val="FF0000"/>
                </a:solidFill>
                <a:latin typeface="Times New Roman" panose="02020603050405020304" pitchFamily="18" charset="0"/>
                <a:cs typeface="Times New Roman" panose="02020603050405020304" pitchFamily="18" charset="0"/>
              </a:rPr>
              <a:t>system</a:t>
            </a:r>
            <a:r>
              <a:rPr lang="en-US" sz="2000" dirty="0">
                <a:solidFill>
                  <a:srgbClr val="FF0000"/>
                </a:solidFill>
                <a:latin typeface="Times New Roman" panose="02020603050405020304" pitchFamily="18" charset="0"/>
                <a:cs typeface="Times New Roman" panose="02020603050405020304" pitchFamily="18" charset="0"/>
              </a:rPr>
              <a:t> decides access, not the user.</a:t>
            </a:r>
          </a:p>
          <a:p>
            <a:pPr eaLnBrk="1" hangingPunct="1">
              <a:lnSpc>
                <a:spcPct val="105000"/>
              </a:lnSpc>
              <a:spcBef>
                <a:spcPts val="600"/>
              </a:spcBef>
              <a:buClr>
                <a:srgbClr val="FF0066"/>
              </a:buClr>
              <a:buFont typeface="Wingdings" panose="05000000000000000000" pitchFamily="2" charset="2"/>
              <a:buNone/>
            </a:pPr>
            <a:endParaRPr lang="en-US" altLang="en-US" sz="2400" dirty="0">
              <a:latin typeface="Times New Roman" panose="02020603050405020304" pitchFamily="18" charset="0"/>
            </a:endParaRPr>
          </a:p>
        </p:txBody>
      </p:sp>
    </p:spTree>
    <p:extLst>
      <p:ext uri="{BB962C8B-B14F-4D97-AF65-F5344CB8AC3E}">
        <p14:creationId xmlns:p14="http://schemas.microsoft.com/office/powerpoint/2010/main" val="779995989"/>
      </p:ext>
    </p:extLst>
  </p:cSld>
  <p:clrMapOvr>
    <a:masterClrMapping/>
  </p:clrMapOvr>
  <p:transition spd="med">
    <p:strips dir="rd"/>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1">
            <a:extLst>
              <a:ext uri="{FF2B5EF4-FFF2-40B4-BE49-F238E27FC236}">
                <a16:creationId xmlns:a16="http://schemas.microsoft.com/office/drawing/2014/main" xmlns="" id="{D086A826-4FC6-41A6-B737-59995B6F554F}"/>
              </a:ext>
            </a:extLst>
          </p:cNvPr>
          <p:cNvSpPr txBox="1">
            <a:spLocks noChangeArrowheads="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algn="r" eaLnBrk="1" hangingPunct="1">
              <a:spcBef>
                <a:spcPct val="0"/>
              </a:spcBef>
              <a:buClrTx/>
              <a:buFontTx/>
              <a:buNone/>
            </a:pPr>
            <a:fld id="{5819DC96-13F9-4B64-8DDF-D8708969744E}" type="slidenum">
              <a:rPr lang="en-US" altLang="en-US" sz="1400"/>
              <a:pPr algn="r" eaLnBrk="1" hangingPunct="1">
                <a:spcBef>
                  <a:spcPct val="0"/>
                </a:spcBef>
                <a:buClrTx/>
                <a:buFontTx/>
                <a:buNone/>
              </a:pPr>
              <a:t>32</a:t>
            </a:fld>
            <a:endParaRPr lang="en-US" altLang="en-US" sz="1400"/>
          </a:p>
        </p:txBody>
      </p:sp>
      <p:sp>
        <p:nvSpPr>
          <p:cNvPr id="51203" name="Text Box 2">
            <a:extLst>
              <a:ext uri="{FF2B5EF4-FFF2-40B4-BE49-F238E27FC236}">
                <a16:creationId xmlns:a16="http://schemas.microsoft.com/office/drawing/2014/main" xmlns="" id="{9222CFBF-9E51-48F2-942F-E8240AD52FE2}"/>
              </a:ext>
            </a:extLst>
          </p:cNvPr>
          <p:cNvSpPr txBox="1">
            <a:spLocks noChangeArrowheads="1"/>
          </p:cNvSpPr>
          <p:nvPr/>
        </p:nvSpPr>
        <p:spPr bwMode="auto">
          <a:xfrm>
            <a:off x="457200" y="252413"/>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3200">
                <a:solidFill>
                  <a:srgbClr val="000000"/>
                </a:solidFill>
                <a:latin typeface="Arial" panose="020B0604020202020204" pitchFamily="34" charset="0"/>
                <a:cs typeface="WenQuanYi Micro Hei" charset="0"/>
              </a:defRPr>
            </a:lvl1pPr>
            <a:lvl2pPr>
              <a:spcBef>
                <a:spcPts val="7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Arial" panose="020B0604020202020204" pitchFamily="34" charset="0"/>
                <a:cs typeface="WenQuanYi Micro Hei" charset="0"/>
              </a:defRPr>
            </a:lvl9pPr>
          </a:lstStyle>
          <a:p>
            <a:pPr eaLnBrk="1" hangingPunct="1">
              <a:spcBef>
                <a:spcPct val="0"/>
              </a:spcBef>
              <a:buClr>
                <a:srgbClr val="FF3399"/>
              </a:buClr>
              <a:buFont typeface="Wingdings" panose="05000000000000000000" pitchFamily="2" charset="2"/>
              <a:buChar char=""/>
            </a:pPr>
            <a:r>
              <a:rPr lang="en-US" altLang="en-US" sz="2400" b="1">
                <a:solidFill>
                  <a:srgbClr val="0000CC"/>
                </a:solidFill>
                <a:latin typeface="Times New Roman" panose="02020603050405020304" pitchFamily="18" charset="0"/>
              </a:rPr>
              <a:t> Comparing DAC and MAC</a:t>
            </a:r>
          </a:p>
        </p:txBody>
      </p:sp>
      <p:sp>
        <p:nvSpPr>
          <p:cNvPr id="51204" name="Text Box 3">
            <a:extLst>
              <a:ext uri="{FF2B5EF4-FFF2-40B4-BE49-F238E27FC236}">
                <a16:creationId xmlns:a16="http://schemas.microsoft.com/office/drawing/2014/main" xmlns="" id="{E8481CCE-42DD-426B-B84C-973E77122362}"/>
              </a:ext>
            </a:extLst>
          </p:cNvPr>
          <p:cNvSpPr txBox="1">
            <a:spLocks noChangeArrowheads="1"/>
          </p:cNvSpPr>
          <p:nvPr/>
        </p:nvSpPr>
        <p:spPr bwMode="auto">
          <a:xfrm>
            <a:off x="457200" y="762000"/>
            <a:ext cx="8229600" cy="541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341313" indent="-341313">
              <a:spcBef>
                <a:spcPts val="8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3200">
                <a:solidFill>
                  <a:srgbClr val="000000"/>
                </a:solidFill>
                <a:latin typeface="Arial" panose="020B0604020202020204" pitchFamily="34" charset="0"/>
                <a:cs typeface="WenQuanYi Micro Hei" charset="0"/>
              </a:defRPr>
            </a:lvl1pPr>
            <a:lvl2pPr marL="741363" indent="-284163">
              <a:spcBef>
                <a:spcPts val="7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800">
                <a:solidFill>
                  <a:srgbClr val="000000"/>
                </a:solidFill>
                <a:latin typeface="Arial" panose="020B0604020202020204" pitchFamily="34" charset="0"/>
                <a:cs typeface="WenQuanYi Micro Hei" charset="0"/>
              </a:defRPr>
            </a:lvl2pPr>
            <a:lvl3pPr>
              <a:spcBef>
                <a:spcPts val="6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400">
                <a:solidFill>
                  <a:srgbClr val="000000"/>
                </a:solidFill>
                <a:latin typeface="Arial" panose="020B0604020202020204" pitchFamily="34" charset="0"/>
                <a:cs typeface="WenQuanYi Micro Hei" charset="0"/>
              </a:defRPr>
            </a:lvl3pPr>
            <a:lvl4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4pPr>
            <a:lvl5pPr>
              <a:spcBef>
                <a:spcPts val="500"/>
              </a:spcBef>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5pPr>
            <a:lvl6pPr marL="25146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6pPr>
            <a:lvl7pPr marL="29718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7pPr>
            <a:lvl8pPr marL="34290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8pPr>
            <a:lvl9pPr marL="3886200" indent="-228600" defTabSz="457200" eaLnBrk="0" fontAlgn="base" hangingPunct="0">
              <a:spcBef>
                <a:spcPts val="500"/>
              </a:spcBef>
              <a:spcAft>
                <a:spcPct val="0"/>
              </a:spcAft>
              <a:buClr>
                <a:srgbClr val="000000"/>
              </a:buClr>
              <a:buSzPct val="100000"/>
              <a:buFont typeface="Times New Roman" panose="02020603050405020304" pitchFamily="18" charset="0"/>
              <a:buChar char="»"/>
              <a:tabLst>
                <a:tab pos="911225" algn="l"/>
                <a:tab pos="1825625" algn="l"/>
                <a:tab pos="2740025" algn="l"/>
                <a:tab pos="3654425" algn="l"/>
                <a:tab pos="4568825" algn="l"/>
                <a:tab pos="5483225" algn="l"/>
                <a:tab pos="6397625" algn="l"/>
                <a:tab pos="7312025" algn="l"/>
                <a:tab pos="8226425" algn="l"/>
                <a:tab pos="9140825" algn="l"/>
                <a:tab pos="10055225" algn="l"/>
              </a:tabLst>
              <a:defRPr sz="2000">
                <a:solidFill>
                  <a:srgbClr val="000000"/>
                </a:solidFill>
                <a:latin typeface="Arial" panose="020B0604020202020204" pitchFamily="34" charset="0"/>
                <a:cs typeface="WenQuanYi Micro Hei" charset="0"/>
              </a:defRPr>
            </a:lvl9pPr>
          </a:lstStyle>
          <a:p>
            <a:pPr eaLnBrk="1" hangingPunct="1">
              <a:lnSpc>
                <a:spcPct val="90000"/>
              </a:lnSpc>
              <a:spcBef>
                <a:spcPts val="600"/>
              </a:spcBef>
              <a:buFont typeface="Times New Roman" panose="02020603050405020304" pitchFamily="18" charset="0"/>
              <a:buNone/>
            </a:pPr>
            <a:endParaRPr lang="en-US" altLang="en-US" sz="2400" dirty="0">
              <a:latin typeface="Times New Roman" panose="02020603050405020304" pitchFamily="18" charset="0"/>
            </a:endParaRPr>
          </a:p>
        </p:txBody>
      </p:sp>
      <p:pic>
        <p:nvPicPr>
          <p:cNvPr id="3" name="Picture 2">
            <a:extLst>
              <a:ext uri="{FF2B5EF4-FFF2-40B4-BE49-F238E27FC236}">
                <a16:creationId xmlns:a16="http://schemas.microsoft.com/office/drawing/2014/main" xmlns="" id="{05AAD69A-5D7B-4EF1-AB96-90714733D04F}"/>
              </a:ext>
            </a:extLst>
          </p:cNvPr>
          <p:cNvPicPr>
            <a:picLocks noChangeAspect="1"/>
          </p:cNvPicPr>
          <p:nvPr/>
        </p:nvPicPr>
        <p:blipFill>
          <a:blip r:embed="rId3"/>
          <a:stretch>
            <a:fillRect/>
          </a:stretch>
        </p:blipFill>
        <p:spPr>
          <a:xfrm>
            <a:off x="152400" y="684212"/>
            <a:ext cx="8991600" cy="6173788"/>
          </a:xfrm>
          <a:prstGeom prst="rect">
            <a:avLst/>
          </a:prstGeom>
        </p:spPr>
      </p:pic>
    </p:spTree>
  </p:cSld>
  <p:clrMapOvr>
    <a:masterClrMapping/>
  </p:clrMapOvr>
  <p:transition spd="med">
    <p:strips dir="rd"/>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a:solidFill>
            <a:srgbClr val="7030A0"/>
          </a:solidFill>
        </p:spPr>
        <p:txBody>
          <a:bodyPr>
            <a:normAutofit fontScale="90000"/>
          </a:bodyPr>
          <a:lstStyle/>
          <a:p>
            <a:r>
              <a:rPr lang="en-US" dirty="0"/>
              <a:t>Data Encryption</a:t>
            </a:r>
            <a:br>
              <a:rPr lang="en-US" dirty="0"/>
            </a:br>
            <a:endParaRPr lang="en-US" dirty="0"/>
          </a:p>
        </p:txBody>
      </p:sp>
      <p:sp>
        <p:nvSpPr>
          <p:cNvPr id="3" name="Content Placeholder 2"/>
          <p:cNvSpPr>
            <a:spLocks noGrp="1"/>
          </p:cNvSpPr>
          <p:nvPr>
            <p:ph idx="1"/>
          </p:nvPr>
        </p:nvSpPr>
        <p:spPr>
          <a:xfrm>
            <a:off x="0" y="685800"/>
            <a:ext cx="8991600" cy="6324600"/>
          </a:xfrm>
        </p:spPr>
        <p:txBody>
          <a:bodyPr>
            <a:normAutofit fontScale="25000" lnSpcReduction="20000"/>
          </a:bodyPr>
          <a:lstStyle/>
          <a:p>
            <a:endParaRPr lang="en-US" dirty="0"/>
          </a:p>
          <a:p>
            <a:pPr>
              <a:lnSpc>
                <a:spcPct val="170000"/>
              </a:lnSpc>
              <a:buBlip>
                <a:blip r:embed="rId2"/>
              </a:buBlip>
            </a:pPr>
            <a:r>
              <a:rPr lang="en-US" sz="8000" b="1" dirty="0">
                <a:latin typeface="Times New Roman" panose="02020603050405020304" pitchFamily="18" charset="0"/>
                <a:cs typeface="Times New Roman" panose="02020603050405020304" pitchFamily="18" charset="0"/>
              </a:rPr>
              <a:t>Encryption </a:t>
            </a:r>
            <a:r>
              <a:rPr lang="en-US" sz="8000" dirty="0">
                <a:latin typeface="Times New Roman" panose="02020603050405020304" pitchFamily="18" charset="0"/>
                <a:cs typeface="Times New Roman" panose="02020603050405020304" pitchFamily="18" charset="0"/>
              </a:rPr>
              <a:t>refers to the coding of information in order to keep it secret. </a:t>
            </a:r>
          </a:p>
          <a:p>
            <a:pPr>
              <a:lnSpc>
                <a:spcPct val="170000"/>
              </a:lnSpc>
              <a:buBlip>
                <a:blip r:embed="rId2"/>
              </a:buBlip>
            </a:pPr>
            <a:r>
              <a:rPr lang="en-US" sz="8000" dirty="0">
                <a:latin typeface="Times New Roman" panose="02020603050405020304" pitchFamily="18" charset="0"/>
                <a:cs typeface="Times New Roman" panose="02020603050405020304" pitchFamily="18" charset="0"/>
              </a:rPr>
              <a:t>Encryption of data means encoding of data by a special algorithm, that senders the data unreadable by any program without the decryption key </a:t>
            </a:r>
          </a:p>
          <a:p>
            <a:pPr>
              <a:lnSpc>
                <a:spcPct val="170000"/>
              </a:lnSpc>
              <a:buBlip>
                <a:blip r:embed="rId2"/>
              </a:buBlip>
            </a:pPr>
            <a:r>
              <a:rPr lang="en-US" sz="8000" dirty="0">
                <a:latin typeface="Times New Roman" panose="02020603050405020304" pitchFamily="18" charset="0"/>
                <a:cs typeface="Times New Roman" panose="02020603050405020304" pitchFamily="18" charset="0"/>
              </a:rPr>
              <a:t>This security issue used to protect sensitive data (such as credit card numbers) that is being transmitted via some type communication network. </a:t>
            </a:r>
          </a:p>
          <a:p>
            <a:pPr>
              <a:lnSpc>
                <a:spcPct val="170000"/>
              </a:lnSpc>
              <a:buBlip>
                <a:blip r:embed="rId2"/>
              </a:buBlip>
            </a:pPr>
            <a:r>
              <a:rPr lang="en-US" sz="8000" dirty="0">
                <a:latin typeface="Times New Roman" panose="02020603050405020304" pitchFamily="18" charset="0"/>
                <a:cs typeface="Times New Roman" panose="02020603050405020304" pitchFamily="18" charset="0"/>
              </a:rPr>
              <a:t>The data is encoded using some encoding algorithm.</a:t>
            </a:r>
          </a:p>
          <a:p>
            <a:pPr>
              <a:lnSpc>
                <a:spcPct val="170000"/>
              </a:lnSpc>
              <a:buBlip>
                <a:blip r:embed="rId2"/>
              </a:buBlip>
            </a:pPr>
            <a:r>
              <a:rPr lang="en-US" sz="8000" dirty="0">
                <a:latin typeface="Times New Roman" panose="02020603050405020304" pitchFamily="18" charset="0"/>
                <a:cs typeface="Times New Roman" panose="02020603050405020304" pitchFamily="18" charset="0"/>
              </a:rPr>
              <a:t>An unauthorized user who access encoded data will have difficulty deciphering it, but authorized users are given decoding or decrypting algorithms (or keys) to decipher data. </a:t>
            </a:r>
            <a:br>
              <a:rPr lang="en-US" sz="8000" dirty="0">
                <a:latin typeface="Times New Roman" panose="02020603050405020304" pitchFamily="18" charset="0"/>
                <a:cs typeface="Times New Roman" panose="02020603050405020304" pitchFamily="18" charset="0"/>
              </a:rPr>
            </a:br>
            <a:r>
              <a:rPr lang="en-US" dirty="0">
                <a:latin typeface="Century Gothic" pitchFamily="34" charset="0"/>
              </a:rPr>
              <a:t/>
            </a:r>
            <a:br>
              <a:rPr lang="en-US" dirty="0">
                <a:latin typeface="Century Gothic" pitchFamily="34" charset="0"/>
              </a:rPr>
            </a:br>
            <a:endParaRPr lang="en-US" dirty="0">
              <a:latin typeface="Century Gothic" pitchFamily="34" charset="0"/>
            </a:endParaRPr>
          </a:p>
        </p:txBody>
      </p:sp>
      <p:sp>
        <p:nvSpPr>
          <p:cNvPr id="4" name="Slide Number Placeholder 3"/>
          <p:cNvSpPr>
            <a:spLocks noGrp="1"/>
          </p:cNvSpPr>
          <p:nvPr>
            <p:ph type="sldNum" sz="quarter" idx="12"/>
          </p:nvPr>
        </p:nvSpPr>
        <p:spPr/>
        <p:txBody>
          <a:bodyPr/>
          <a:lstStyle/>
          <a:p>
            <a:fld id="{91D10D00-2BA4-4EFE-9A20-A49A608F2010}" type="slidenum">
              <a:rPr lang="en-US" smtClean="0"/>
              <a:t>33</a:t>
            </a:fld>
            <a:endParaRPr lang="en-US"/>
          </a:p>
        </p:txBody>
      </p:sp>
    </p:spTree>
    <p:extLst>
      <p:ext uri="{BB962C8B-B14F-4D97-AF65-F5344CB8AC3E}">
        <p14:creationId xmlns:p14="http://schemas.microsoft.com/office/powerpoint/2010/main" val="3115201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Encryption Process</a:t>
            </a:r>
          </a:p>
        </p:txBody>
      </p:sp>
      <p:sp>
        <p:nvSpPr>
          <p:cNvPr id="3" name="Content Placeholder 2"/>
          <p:cNvSpPr>
            <a:spLocks noGrp="1"/>
          </p:cNvSpPr>
          <p:nvPr>
            <p:ph idx="1"/>
          </p:nvPr>
        </p:nvSpPr>
        <p:spPr/>
        <p:txBody>
          <a:bodyPr/>
          <a:lstStyle/>
          <a:p>
            <a:endParaRPr lang="en-US" dirty="0"/>
          </a:p>
          <a:p>
            <a:endParaRPr lang="en-US" dirty="0"/>
          </a:p>
        </p:txBody>
      </p:sp>
      <p:sp>
        <p:nvSpPr>
          <p:cNvPr id="4" name="Slide Number Placeholder 3"/>
          <p:cNvSpPr>
            <a:spLocks noGrp="1"/>
          </p:cNvSpPr>
          <p:nvPr>
            <p:ph type="sldNum" sz="quarter" idx="12"/>
          </p:nvPr>
        </p:nvSpPr>
        <p:spPr/>
        <p:txBody>
          <a:bodyPr/>
          <a:lstStyle/>
          <a:p>
            <a:fld id="{91D10D00-2BA4-4EFE-9A20-A49A608F2010}" type="slidenum">
              <a:rPr lang="en-US" smtClean="0"/>
              <a:t>34</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47801"/>
            <a:ext cx="7391399"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89698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8991600" cy="838200"/>
          </a:xfrm>
          <a:solidFill>
            <a:srgbClr val="7030A0"/>
          </a:solidFill>
        </p:spPr>
        <p:txBody>
          <a:bodyPr>
            <a:normAutofit fontScale="90000"/>
          </a:bodyPr>
          <a:lstStyle/>
          <a:p>
            <a:r>
              <a:rPr lang="en-US" dirty="0"/>
              <a:t/>
            </a:r>
            <a:br>
              <a:rPr lang="en-US" dirty="0"/>
            </a:br>
            <a:r>
              <a:rPr lang="en-US" b="1" dirty="0">
                <a:latin typeface="Century Gothic" pitchFamily="34" charset="0"/>
              </a:rPr>
              <a:t>Types of encryption</a:t>
            </a:r>
            <a:br>
              <a:rPr lang="en-US" b="1" dirty="0">
                <a:latin typeface="Century Gothic" pitchFamily="34" charset="0"/>
              </a:rPr>
            </a:br>
            <a:endParaRPr lang="en-US" b="1" dirty="0">
              <a:latin typeface="Century Gothic" pitchFamily="34" charset="0"/>
            </a:endParaRPr>
          </a:p>
        </p:txBody>
      </p:sp>
      <p:sp>
        <p:nvSpPr>
          <p:cNvPr id="3" name="Content Placeholder 2"/>
          <p:cNvSpPr>
            <a:spLocks noGrp="1"/>
          </p:cNvSpPr>
          <p:nvPr>
            <p:ph idx="1"/>
          </p:nvPr>
        </p:nvSpPr>
        <p:spPr>
          <a:xfrm>
            <a:off x="152400" y="914400"/>
            <a:ext cx="8839200" cy="6096000"/>
          </a:xfrm>
        </p:spPr>
        <p:txBody>
          <a:bodyPr>
            <a:normAutofit/>
          </a:bodyPr>
          <a:lstStyle/>
          <a:p>
            <a:endParaRPr lang="en-US" dirty="0"/>
          </a:p>
          <a:p>
            <a:pPr>
              <a:lnSpc>
                <a:spcPct val="16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There are two types of encryption in widespread use today: </a:t>
            </a:r>
            <a:r>
              <a:rPr lang="en-US" sz="2000" b="1" dirty="0">
                <a:latin typeface="Times New Roman" panose="02020603050405020304" pitchFamily="18" charset="0"/>
                <a:cs typeface="Times New Roman" panose="02020603050405020304" pitchFamily="18" charset="0"/>
              </a:rPr>
              <a:t>symmetric </a:t>
            </a:r>
            <a:r>
              <a:rPr lang="en-US" sz="2000" dirty="0">
                <a:latin typeface="Times New Roman" panose="02020603050405020304" pitchFamily="18" charset="0"/>
                <a:cs typeface="Times New Roman" panose="02020603050405020304" pitchFamily="18" charset="0"/>
              </a:rPr>
              <a:t>and </a:t>
            </a:r>
            <a:r>
              <a:rPr lang="en-US" sz="2000" b="1" dirty="0">
                <a:latin typeface="Times New Roman" panose="02020603050405020304" pitchFamily="18" charset="0"/>
                <a:cs typeface="Times New Roman" panose="02020603050405020304" pitchFamily="18" charset="0"/>
              </a:rPr>
              <a:t>asymmetric </a:t>
            </a:r>
            <a:r>
              <a:rPr lang="en-US" sz="2000" dirty="0">
                <a:latin typeface="Times New Roman" panose="02020603050405020304" pitchFamily="18" charset="0"/>
                <a:cs typeface="Times New Roman" panose="02020603050405020304" pitchFamily="18" charset="0"/>
              </a:rPr>
              <a:t>encryption. </a:t>
            </a:r>
          </a:p>
          <a:p>
            <a:pPr>
              <a:lnSpc>
                <a:spcPct val="16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name derives from whether or not the same key is used for encryption and decryption.</a:t>
            </a:r>
          </a:p>
          <a:p>
            <a:pPr marL="0" indent="0">
              <a:lnSpc>
                <a:spcPct val="160000"/>
              </a:lnSpc>
              <a:buNone/>
            </a:pPr>
            <a:r>
              <a:rPr lang="en-US" sz="2000" dirty="0">
                <a:solidFill>
                  <a:srgbClr val="FF0000"/>
                </a:solidFill>
                <a:latin typeface="Times New Roman" panose="02020603050405020304" pitchFamily="18" charset="0"/>
                <a:cs typeface="Times New Roman" panose="02020603050405020304" pitchFamily="18" charset="0"/>
              </a:rPr>
              <a:t>Symmetric encryption</a:t>
            </a:r>
          </a:p>
          <a:p>
            <a:pPr>
              <a:lnSpc>
                <a:spcPct val="16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 symmetric encryption the same key is used for encryption and decryption. </a:t>
            </a:r>
          </a:p>
          <a:p>
            <a:pPr>
              <a:lnSpc>
                <a:spcPct val="16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is therefore critical that a secure method is considered to transfer the key between sender and recipient.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1D10D00-2BA4-4EFE-9A20-A49A608F2010}" type="slidenum">
              <a:rPr lang="en-US" smtClean="0"/>
              <a:t>35</a:t>
            </a:fld>
            <a:endParaRPr lang="en-US"/>
          </a:p>
        </p:txBody>
      </p:sp>
    </p:spTree>
    <p:extLst>
      <p:ext uri="{BB962C8B-B14F-4D97-AF65-F5344CB8AC3E}">
        <p14:creationId xmlns:p14="http://schemas.microsoft.com/office/powerpoint/2010/main" val="19364295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p>
        </p:txBody>
      </p:sp>
      <p:sp>
        <p:nvSpPr>
          <p:cNvPr id="3" name="Content Placeholder 2"/>
          <p:cNvSpPr>
            <a:spLocks noGrp="1"/>
          </p:cNvSpPr>
          <p:nvPr>
            <p:ph idx="1"/>
          </p:nvPr>
        </p:nvSpPr>
        <p:spPr/>
        <p:txBody>
          <a:bodyPr/>
          <a:lstStyle/>
          <a:p>
            <a:endParaRPr lang="en-US" dirty="0"/>
          </a:p>
          <a:p>
            <a:endParaRPr lang="en-US" dirty="0"/>
          </a:p>
        </p:txBody>
      </p:sp>
      <p:sp>
        <p:nvSpPr>
          <p:cNvPr id="4" name="Slide Number Placeholder 3"/>
          <p:cNvSpPr>
            <a:spLocks noGrp="1"/>
          </p:cNvSpPr>
          <p:nvPr>
            <p:ph type="sldNum" sz="quarter" idx="12"/>
          </p:nvPr>
        </p:nvSpPr>
        <p:spPr/>
        <p:txBody>
          <a:bodyPr/>
          <a:lstStyle/>
          <a:p>
            <a:fld id="{91D10D00-2BA4-4EFE-9A20-A49A608F2010}" type="slidenum">
              <a:rPr lang="en-US" smtClean="0"/>
              <a:t>36</a:t>
            </a:fld>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0"/>
            <a:ext cx="8839200" cy="6781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36387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a:solidFill>
            <a:schemeClr val="bg1"/>
          </a:solidFill>
        </p:spPr>
        <p:txBody>
          <a:bodyPr>
            <a:normAutofit fontScale="90000"/>
          </a:bodyPr>
          <a:lstStyle/>
          <a:p>
            <a:r>
              <a:rPr lang="en-US" b="1" dirty="0">
                <a:solidFill>
                  <a:srgbClr val="C00000"/>
                </a:solidFill>
                <a:latin typeface="Century Gothic" pitchFamily="34" charset="0"/>
              </a:rPr>
              <a:t>Asymmetric encryption</a:t>
            </a:r>
            <a:r>
              <a:rPr lang="en-US" dirty="0">
                <a:solidFill>
                  <a:srgbClr val="C00000"/>
                </a:solidFill>
                <a:latin typeface="Century Gothic" pitchFamily="34" charset="0"/>
              </a:rPr>
              <a:t/>
            </a:r>
            <a:br>
              <a:rPr lang="en-US" dirty="0">
                <a:solidFill>
                  <a:srgbClr val="C00000"/>
                </a:solidFill>
                <a:latin typeface="Century Gothic" pitchFamily="34" charset="0"/>
              </a:rPr>
            </a:br>
            <a:endParaRPr lang="en-US" dirty="0">
              <a:solidFill>
                <a:srgbClr val="C00000"/>
              </a:solidFill>
              <a:latin typeface="Century Gothic" pitchFamily="34" charset="0"/>
            </a:endParaRPr>
          </a:p>
        </p:txBody>
      </p:sp>
      <p:sp>
        <p:nvSpPr>
          <p:cNvPr id="3" name="Content Placeholder 2"/>
          <p:cNvSpPr>
            <a:spLocks noGrp="1"/>
          </p:cNvSpPr>
          <p:nvPr>
            <p:ph idx="1"/>
          </p:nvPr>
        </p:nvSpPr>
        <p:spPr>
          <a:xfrm>
            <a:off x="228600" y="609600"/>
            <a:ext cx="8686800" cy="6096000"/>
          </a:xfrm>
        </p:spPr>
        <p:txBody>
          <a:bodyPr>
            <a:normAutofit fontScale="25000" lnSpcReduction="20000"/>
          </a:bodyPr>
          <a:lstStyle/>
          <a:p>
            <a:endParaRPr lang="en-US" dirty="0"/>
          </a:p>
          <a:p>
            <a:pPr>
              <a:lnSpc>
                <a:spcPct val="170000"/>
              </a:lnSpc>
              <a:buFont typeface="Wingdings" panose="05000000000000000000" pitchFamily="2" charset="2"/>
              <a:buChar char="Ø"/>
            </a:pPr>
            <a:r>
              <a:rPr lang="en-US" sz="8000" dirty="0">
                <a:latin typeface="Times New Roman" panose="02020603050405020304" pitchFamily="18" charset="0"/>
                <a:cs typeface="Times New Roman" panose="02020603050405020304" pitchFamily="18" charset="0"/>
              </a:rPr>
              <a:t>Asymmetric encryption uses the notion of a key pair: a different key is used for the encryption and decryption process. </a:t>
            </a:r>
          </a:p>
          <a:p>
            <a:pPr>
              <a:lnSpc>
                <a:spcPct val="170000"/>
              </a:lnSpc>
              <a:buFont typeface="Wingdings" panose="05000000000000000000" pitchFamily="2" charset="2"/>
              <a:buChar char="Ø"/>
            </a:pPr>
            <a:r>
              <a:rPr lang="en-US" sz="8000" dirty="0">
                <a:latin typeface="Times New Roman" panose="02020603050405020304" pitchFamily="18" charset="0"/>
                <a:cs typeface="Times New Roman" panose="02020603050405020304" pitchFamily="18" charset="0"/>
              </a:rPr>
              <a:t>One of the keys is typically known as the private key and the other is known as the public key.</a:t>
            </a:r>
          </a:p>
          <a:p>
            <a:pPr>
              <a:lnSpc>
                <a:spcPct val="170000"/>
              </a:lnSpc>
              <a:buFont typeface="Wingdings" panose="05000000000000000000" pitchFamily="2" charset="2"/>
              <a:buChar char="Ø"/>
            </a:pPr>
            <a:r>
              <a:rPr lang="en-US" sz="8000" dirty="0">
                <a:latin typeface="Times New Roman" panose="02020603050405020304" pitchFamily="18" charset="0"/>
                <a:cs typeface="Times New Roman" panose="02020603050405020304" pitchFamily="18" charset="0"/>
              </a:rPr>
              <a:t>The private key is kept secret by the owner and the public key is either shared amongst authorized recipients or made available to the public at large.</a:t>
            </a:r>
          </a:p>
          <a:p>
            <a:pPr>
              <a:lnSpc>
                <a:spcPct val="170000"/>
              </a:lnSpc>
              <a:buFont typeface="Wingdings" panose="05000000000000000000" pitchFamily="2" charset="2"/>
              <a:buChar char="Ø"/>
            </a:pPr>
            <a:r>
              <a:rPr lang="en-US" sz="8000" dirty="0">
                <a:latin typeface="Times New Roman" panose="02020603050405020304" pitchFamily="18" charset="0"/>
                <a:cs typeface="Times New Roman" panose="02020603050405020304" pitchFamily="18" charset="0"/>
              </a:rPr>
              <a:t>Data encrypted with the recipient’s public key can only be decrypted with the corresponding private key. </a:t>
            </a:r>
          </a:p>
          <a:p>
            <a:pPr>
              <a:lnSpc>
                <a:spcPct val="170000"/>
              </a:lnSpc>
              <a:buFont typeface="Wingdings" panose="05000000000000000000" pitchFamily="2" charset="2"/>
              <a:buChar char="Ø"/>
            </a:pPr>
            <a:r>
              <a:rPr lang="en-US" sz="8000" dirty="0">
                <a:latin typeface="Times New Roman" panose="02020603050405020304" pitchFamily="18" charset="0"/>
                <a:cs typeface="Times New Roman" panose="02020603050405020304" pitchFamily="18" charset="0"/>
              </a:rPr>
              <a:t>Data can therefore be transferred without the risk of unauthorized or unlawful access to the data. </a:t>
            </a:r>
            <a:br>
              <a:rPr lang="en-US" sz="8000" dirty="0">
                <a:latin typeface="Times New Roman" panose="02020603050405020304" pitchFamily="18" charset="0"/>
                <a:cs typeface="Times New Roman" panose="02020603050405020304" pitchFamily="18" charset="0"/>
              </a:rPr>
            </a:br>
            <a:r>
              <a:rPr lang="en-US" sz="8000" dirty="0"/>
              <a:t/>
            </a:r>
            <a:br>
              <a:rPr lang="en-US" sz="8000" dirty="0"/>
            </a:br>
            <a:endParaRPr lang="en-US" sz="8000" dirty="0"/>
          </a:p>
        </p:txBody>
      </p:sp>
      <p:sp>
        <p:nvSpPr>
          <p:cNvPr id="4" name="Slide Number Placeholder 3"/>
          <p:cNvSpPr>
            <a:spLocks noGrp="1"/>
          </p:cNvSpPr>
          <p:nvPr>
            <p:ph type="sldNum" sz="quarter" idx="12"/>
          </p:nvPr>
        </p:nvSpPr>
        <p:spPr/>
        <p:txBody>
          <a:bodyPr/>
          <a:lstStyle/>
          <a:p>
            <a:fld id="{91D10D00-2BA4-4EFE-9A20-A49A608F2010}" type="slidenum">
              <a:rPr lang="en-US" smtClean="0"/>
              <a:t>37</a:t>
            </a:fld>
            <a:endParaRPr lang="en-US"/>
          </a:p>
        </p:txBody>
      </p:sp>
    </p:spTree>
    <p:extLst>
      <p:ext uri="{BB962C8B-B14F-4D97-AF65-F5344CB8AC3E}">
        <p14:creationId xmlns:p14="http://schemas.microsoft.com/office/powerpoint/2010/main" val="21056499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76200"/>
            <a:ext cx="8915400" cy="838200"/>
          </a:xfrm>
        </p:spPr>
        <p:txBody>
          <a:bodyPr>
            <a:normAutofit fontScale="90000"/>
          </a:bodyPr>
          <a:lstStyle/>
          <a:p>
            <a:r>
              <a:rPr lang="en-US" dirty="0"/>
              <a:t/>
            </a:r>
            <a:br>
              <a:rPr lang="en-US" dirty="0"/>
            </a:br>
            <a:r>
              <a:rPr lang="en-US" b="1" dirty="0">
                <a:latin typeface="Century Gothic" pitchFamily="34" charset="0"/>
              </a:rPr>
              <a:t>Implementing Encryption</a:t>
            </a:r>
            <a:br>
              <a:rPr lang="en-US" b="1" dirty="0">
                <a:latin typeface="Century Gothic" pitchFamily="34" charset="0"/>
              </a:rPr>
            </a:br>
            <a:r>
              <a:rPr lang="en-US" dirty="0"/>
              <a:t/>
            </a:r>
            <a:br>
              <a:rPr lang="en-US" dirty="0"/>
            </a:br>
            <a:endParaRPr lang="en-US" dirty="0"/>
          </a:p>
        </p:txBody>
      </p:sp>
      <p:sp>
        <p:nvSpPr>
          <p:cNvPr id="3" name="Content Placeholder 2"/>
          <p:cNvSpPr>
            <a:spLocks noGrp="1"/>
          </p:cNvSpPr>
          <p:nvPr>
            <p:ph idx="1"/>
          </p:nvPr>
        </p:nvSpPr>
        <p:spPr>
          <a:xfrm>
            <a:off x="457200" y="533400"/>
            <a:ext cx="8229600" cy="5592763"/>
          </a:xfrm>
        </p:spPr>
        <p:txBody>
          <a:bodyPr/>
          <a:lstStyle/>
          <a:p>
            <a:endParaRPr lang="en-US" dirty="0"/>
          </a:p>
          <a:p>
            <a:pPr>
              <a:lnSpc>
                <a:spcPct val="150000"/>
              </a:lnSpc>
              <a:buBlip>
                <a:blip r:embed="rId2"/>
              </a:buBlip>
            </a:pPr>
            <a:r>
              <a:rPr lang="en-US" sz="2000" dirty="0">
                <a:latin typeface="Times New Roman" panose="02020603050405020304" pitchFamily="18" charset="0"/>
                <a:cs typeface="Times New Roman" panose="02020603050405020304" pitchFamily="18" charset="0"/>
              </a:rPr>
              <a:t>Choosing the right algorithm</a:t>
            </a:r>
          </a:p>
          <a:p>
            <a:pPr>
              <a:lnSpc>
                <a:spcPct val="150000"/>
              </a:lnSpc>
              <a:buBlip>
                <a:blip r:embed="rId2"/>
              </a:buBlip>
            </a:pPr>
            <a:r>
              <a:rPr lang="en-US" sz="2000" dirty="0">
                <a:latin typeface="Times New Roman" panose="02020603050405020304" pitchFamily="18" charset="0"/>
                <a:cs typeface="Times New Roman" panose="02020603050405020304" pitchFamily="18" charset="0"/>
              </a:rPr>
              <a:t>Choosing the right key size </a:t>
            </a:r>
          </a:p>
          <a:p>
            <a:pPr>
              <a:lnSpc>
                <a:spcPct val="150000"/>
              </a:lnSpc>
              <a:buBlip>
                <a:blip r:embed="rId2"/>
              </a:buBlip>
            </a:pPr>
            <a:r>
              <a:rPr lang="en-US" sz="2000" dirty="0">
                <a:latin typeface="Times New Roman" panose="02020603050405020304" pitchFamily="18" charset="0"/>
                <a:cs typeface="Times New Roman" panose="02020603050405020304" pitchFamily="18" charset="0"/>
              </a:rPr>
              <a:t>Choosing the right software </a:t>
            </a:r>
          </a:p>
          <a:p>
            <a:pPr>
              <a:lnSpc>
                <a:spcPct val="150000"/>
              </a:lnSpc>
              <a:buBlip>
                <a:blip r:embed="rId2"/>
              </a:buBlip>
            </a:pPr>
            <a:r>
              <a:rPr lang="en-US" sz="2000" dirty="0">
                <a:latin typeface="Times New Roman" panose="02020603050405020304" pitchFamily="18" charset="0"/>
                <a:cs typeface="Times New Roman" panose="02020603050405020304" pitchFamily="18" charset="0"/>
              </a:rPr>
              <a:t>Keeping the key secure </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1D10D00-2BA4-4EFE-9A20-A49A608F2010}" type="slidenum">
              <a:rPr lang="en-US" smtClean="0"/>
              <a:t>38</a:t>
            </a:fld>
            <a:endParaRPr lang="en-US"/>
          </a:p>
        </p:txBody>
      </p:sp>
    </p:spTree>
    <p:extLst>
      <p:ext uri="{BB962C8B-B14F-4D97-AF65-F5344CB8AC3E}">
        <p14:creationId xmlns:p14="http://schemas.microsoft.com/office/powerpoint/2010/main" val="13451035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6200"/>
            <a:ext cx="8686800" cy="685800"/>
          </a:xfrm>
          <a:solidFill>
            <a:schemeClr val="accent4"/>
          </a:solidFill>
        </p:spPr>
        <p:txBody>
          <a:bodyPr>
            <a:normAutofit fontScale="90000"/>
          </a:bodyPr>
          <a:lstStyle/>
          <a:p>
            <a:r>
              <a:rPr lang="en-US" dirty="0"/>
              <a:t/>
            </a:r>
            <a:br>
              <a:rPr lang="en-US" dirty="0"/>
            </a:br>
            <a:r>
              <a:rPr lang="en-US" dirty="0">
                <a:latin typeface="Century Gothic" pitchFamily="34" charset="0"/>
              </a:rPr>
              <a:t>Database Security and the DBA </a:t>
            </a:r>
            <a:r>
              <a:rPr lang="en-US" dirty="0"/>
              <a:t/>
            </a:r>
            <a:br>
              <a:rPr lang="en-US" dirty="0"/>
            </a:br>
            <a:endParaRPr lang="en-US" dirty="0"/>
          </a:p>
        </p:txBody>
      </p:sp>
      <p:sp>
        <p:nvSpPr>
          <p:cNvPr id="3" name="Content Placeholder 2"/>
          <p:cNvSpPr>
            <a:spLocks noGrp="1"/>
          </p:cNvSpPr>
          <p:nvPr>
            <p:ph idx="1"/>
          </p:nvPr>
        </p:nvSpPr>
        <p:spPr>
          <a:xfrm>
            <a:off x="228600" y="685800"/>
            <a:ext cx="8686800" cy="6400800"/>
          </a:xfrm>
        </p:spPr>
        <p:txBody>
          <a:bodyPr>
            <a:normAutofit fontScale="77500" lnSpcReduction="20000"/>
          </a:bodyPr>
          <a:lstStyle/>
          <a:p>
            <a:endParaRPr lang="en-US" dirty="0"/>
          </a:p>
          <a:p>
            <a:pPr algn="just">
              <a:lnSpc>
                <a:spcPct val="220000"/>
              </a:lnSpc>
              <a:buFont typeface="Wingdings" pitchFamily="2" charset="2"/>
              <a:buChar char="Ø"/>
            </a:pPr>
            <a:r>
              <a:rPr lang="en-US" sz="2900" dirty="0">
                <a:latin typeface="Times New Roman" panose="02020603050405020304" pitchFamily="18" charset="0"/>
                <a:cs typeface="Times New Roman" panose="02020603050405020304" pitchFamily="18" charset="0"/>
              </a:rPr>
              <a:t>The database administrator (DBA) is the central authority for managing a database system.</a:t>
            </a:r>
          </a:p>
          <a:p>
            <a:pPr algn="just">
              <a:lnSpc>
                <a:spcPct val="220000"/>
              </a:lnSpc>
              <a:buFont typeface="Wingdings" pitchFamily="2" charset="2"/>
              <a:buChar char="Ø"/>
            </a:pPr>
            <a:r>
              <a:rPr lang="en-US" sz="2900" dirty="0">
                <a:latin typeface="Times New Roman" panose="02020603050405020304" pitchFamily="18" charset="0"/>
                <a:cs typeface="Times New Roman" panose="02020603050405020304" pitchFamily="18" charset="0"/>
              </a:rPr>
              <a:t>The DBA’s responsibilities include</a:t>
            </a:r>
          </a:p>
          <a:p>
            <a:pPr algn="just">
              <a:lnSpc>
                <a:spcPct val="220000"/>
              </a:lnSpc>
              <a:buFont typeface="Wingdings" pitchFamily="2" charset="2"/>
              <a:buChar char="Ø"/>
            </a:pPr>
            <a:r>
              <a:rPr lang="en-US" sz="2900" dirty="0">
                <a:latin typeface="Times New Roman" panose="02020603050405020304" pitchFamily="18" charset="0"/>
                <a:cs typeface="Times New Roman" panose="02020603050405020304" pitchFamily="18" charset="0"/>
              </a:rPr>
              <a:t>granting privileges to users who need to use the system</a:t>
            </a:r>
          </a:p>
          <a:p>
            <a:pPr algn="just">
              <a:lnSpc>
                <a:spcPct val="220000"/>
              </a:lnSpc>
              <a:buFont typeface="Wingdings" pitchFamily="2" charset="2"/>
              <a:buChar char="Ø"/>
            </a:pPr>
            <a:r>
              <a:rPr lang="en-US" sz="2900" dirty="0">
                <a:latin typeface="Times New Roman" panose="02020603050405020304" pitchFamily="18" charset="0"/>
                <a:cs typeface="Times New Roman" panose="02020603050405020304" pitchFamily="18" charset="0"/>
              </a:rPr>
              <a:t> classifying users and data in accordance with the policy of the organization</a:t>
            </a:r>
          </a:p>
          <a:p>
            <a:pPr marL="0" indent="0">
              <a:lnSpc>
                <a:spcPct val="220000"/>
              </a:lnSpc>
              <a:buNone/>
            </a:pPr>
            <a:r>
              <a:rPr lang="en-US" sz="2900" dirty="0">
                <a:latin typeface="Times New Roman" panose="02020603050405020304" pitchFamily="18" charset="0"/>
                <a:cs typeface="Times New Roman" panose="02020603050405020304" pitchFamily="18" charset="0"/>
              </a:rPr>
              <a:t> The DBA is responsible for the overall security of the database system. </a:t>
            </a:r>
            <a:br>
              <a:rPr lang="en-US" sz="2900" dirty="0">
                <a:latin typeface="Times New Roman" panose="02020603050405020304" pitchFamily="18" charset="0"/>
                <a:cs typeface="Times New Roman" panose="02020603050405020304" pitchFamily="18" charset="0"/>
              </a:rPr>
            </a:br>
            <a:endParaRPr lang="en-US" sz="29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1D10D00-2BA4-4EFE-9A20-A49A608F2010}" type="slidenum">
              <a:rPr lang="en-US" smtClean="0"/>
              <a:t>39</a:t>
            </a:fld>
            <a:endParaRPr lang="en-US"/>
          </a:p>
        </p:txBody>
      </p:sp>
    </p:spTree>
    <p:extLst>
      <p:ext uri="{BB962C8B-B14F-4D97-AF65-F5344CB8AC3E}">
        <p14:creationId xmlns:p14="http://schemas.microsoft.com/office/powerpoint/2010/main" val="20340724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2562"/>
          </a:xfrm>
        </p:spPr>
        <p:txBody>
          <a:bodyPr>
            <a:normAutofit fontScale="90000"/>
          </a:bodyPr>
          <a:lstStyle/>
          <a:p>
            <a:r>
              <a:rPr lang="en-US" dirty="0"/>
              <a:t>..</a:t>
            </a:r>
          </a:p>
        </p:txBody>
      </p:sp>
      <p:sp>
        <p:nvSpPr>
          <p:cNvPr id="3" name="Content Placeholder 2"/>
          <p:cNvSpPr>
            <a:spLocks noGrp="1"/>
          </p:cNvSpPr>
          <p:nvPr>
            <p:ph idx="1"/>
          </p:nvPr>
        </p:nvSpPr>
        <p:spPr>
          <a:xfrm>
            <a:off x="457200" y="152400"/>
            <a:ext cx="8610600" cy="6858000"/>
          </a:xfrm>
        </p:spPr>
        <p:txBody>
          <a:bodyPr>
            <a:normAutofit/>
          </a:bodyPr>
          <a:lstStyle/>
          <a:p>
            <a:endParaRPr lang="en-US" dirty="0"/>
          </a:p>
          <a:p>
            <a:pPr>
              <a:lnSpc>
                <a:spcPct val="17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DBA has a DBA account in the DBMS Sometimes these are called a system or super user account</a:t>
            </a:r>
          </a:p>
          <a:p>
            <a:pPr>
              <a:lnSpc>
                <a:spcPct val="17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These accounts provide powerful capabilities such as:</a:t>
            </a:r>
          </a:p>
          <a:p>
            <a:pPr marL="0" indent="0">
              <a:lnSpc>
                <a:spcPct val="170000"/>
              </a:lnSpc>
              <a:buNone/>
            </a:pPr>
            <a:r>
              <a:rPr lang="en-US" sz="2000" dirty="0">
                <a:latin typeface="Times New Roman" panose="02020603050405020304" pitchFamily="18" charset="0"/>
                <a:cs typeface="Times New Roman" panose="02020603050405020304" pitchFamily="18" charset="0"/>
              </a:rPr>
              <a:t> 1. Account creation</a:t>
            </a:r>
          </a:p>
          <a:p>
            <a:pPr marL="0" indent="0">
              <a:lnSpc>
                <a:spcPct val="170000"/>
              </a:lnSpc>
              <a:buNone/>
            </a:pPr>
            <a:r>
              <a:rPr lang="en-US" sz="2000" dirty="0">
                <a:latin typeface="Times New Roman" panose="02020603050405020304" pitchFamily="18" charset="0"/>
                <a:cs typeface="Times New Roman" panose="02020603050405020304" pitchFamily="18" charset="0"/>
              </a:rPr>
              <a:t>2. Privilege granting</a:t>
            </a:r>
          </a:p>
          <a:p>
            <a:pPr marL="0" indent="0">
              <a:lnSpc>
                <a:spcPct val="170000"/>
              </a:lnSpc>
              <a:buNone/>
            </a:pPr>
            <a:r>
              <a:rPr lang="en-US" sz="2000" dirty="0">
                <a:latin typeface="Times New Roman" panose="02020603050405020304" pitchFamily="18" charset="0"/>
                <a:cs typeface="Times New Roman" panose="02020603050405020304" pitchFamily="18" charset="0"/>
              </a:rPr>
              <a:t> 3. Privilege revocation</a:t>
            </a:r>
          </a:p>
          <a:p>
            <a:pPr marL="0" indent="0">
              <a:lnSpc>
                <a:spcPct val="170000"/>
              </a:lnSpc>
              <a:buNone/>
            </a:pPr>
            <a:r>
              <a:rPr lang="en-US" sz="2000" dirty="0">
                <a:latin typeface="Times New Roman" panose="02020603050405020304" pitchFamily="18" charset="0"/>
                <a:cs typeface="Times New Roman" panose="02020603050405020304" pitchFamily="18" charset="0"/>
              </a:rPr>
              <a:t>4. Security level assignment</a:t>
            </a:r>
          </a:p>
          <a:p>
            <a:pPr marL="0" indent="0">
              <a:lnSpc>
                <a:spcPct val="170000"/>
              </a:lnSpc>
              <a:buNone/>
            </a:pPr>
            <a:r>
              <a:rPr lang="en-US" sz="2000" dirty="0">
                <a:latin typeface="Times New Roman" panose="02020603050405020304" pitchFamily="18" charset="0"/>
                <a:cs typeface="Times New Roman" panose="02020603050405020304" pitchFamily="18" charset="0"/>
              </a:rPr>
              <a:t>Action 1 is access control, whereas 2 and 3 are discretionary and 4 is used to control mandatory authorization </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1D10D00-2BA4-4EFE-9A20-A49A608F2010}" type="slidenum">
              <a:rPr lang="en-US" smtClean="0"/>
              <a:t>40</a:t>
            </a:fld>
            <a:endParaRPr lang="en-US"/>
          </a:p>
        </p:txBody>
      </p:sp>
    </p:spTree>
    <p:extLst>
      <p:ext uri="{BB962C8B-B14F-4D97-AF65-F5344CB8AC3E}">
        <p14:creationId xmlns:p14="http://schemas.microsoft.com/office/powerpoint/2010/main" val="106123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32D58A1-FCB5-44C3-86FE-F4CDD0EB7309}"/>
              </a:ext>
            </a:extLst>
          </p:cNvPr>
          <p:cNvSpPr>
            <a:spLocks noGrp="1"/>
          </p:cNvSpPr>
          <p:nvPr>
            <p:ph idx="1"/>
          </p:nvPr>
        </p:nvSpPr>
        <p:spPr/>
        <p:txBody>
          <a:bodyPr>
            <a:normAutofit/>
          </a:bodyPr>
          <a:lstStyle/>
          <a:p>
            <a:pPr marL="0" indent="0" algn="ctr">
              <a:buNone/>
            </a:pPr>
            <a:endParaRPr lang="en-US" sz="9600" dirty="0">
              <a:latin typeface="Times New Roman" panose="02020603050405020304" pitchFamily="18" charset="0"/>
              <a:cs typeface="Times New Roman" panose="02020603050405020304" pitchFamily="18" charset="0"/>
            </a:endParaRPr>
          </a:p>
          <a:p>
            <a:pPr marL="0" indent="0" algn="ctr">
              <a:buNone/>
            </a:pPr>
            <a:r>
              <a:rPr lang="en-US" sz="9600" dirty="0">
                <a:latin typeface="Times New Roman" panose="02020603050405020304" pitchFamily="18" charset="0"/>
                <a:cs typeface="Times New Roman" panose="02020603050405020304" pitchFamily="18" charset="0"/>
              </a:rPr>
              <a:t>?</a:t>
            </a:r>
          </a:p>
        </p:txBody>
      </p:sp>
      <p:sp>
        <p:nvSpPr>
          <p:cNvPr id="4" name="Slide Number Placeholder 3">
            <a:extLst>
              <a:ext uri="{FF2B5EF4-FFF2-40B4-BE49-F238E27FC236}">
                <a16:creationId xmlns:a16="http://schemas.microsoft.com/office/drawing/2014/main" xmlns="" id="{9225160F-66AD-4EFB-B1A7-125F1B90BB18}"/>
              </a:ext>
            </a:extLst>
          </p:cNvPr>
          <p:cNvSpPr>
            <a:spLocks noGrp="1"/>
          </p:cNvSpPr>
          <p:nvPr>
            <p:ph type="sldNum" sz="quarter" idx="12"/>
          </p:nvPr>
        </p:nvSpPr>
        <p:spPr/>
        <p:txBody>
          <a:bodyPr/>
          <a:lstStyle/>
          <a:p>
            <a:fld id="{91D10D00-2BA4-4EFE-9A20-A49A608F2010}" type="slidenum">
              <a:rPr lang="en-US" smtClean="0"/>
              <a:t>41</a:t>
            </a:fld>
            <a:endParaRPr lang="en-US"/>
          </a:p>
        </p:txBody>
      </p:sp>
    </p:spTree>
    <p:extLst>
      <p:ext uri="{BB962C8B-B14F-4D97-AF65-F5344CB8AC3E}">
        <p14:creationId xmlns:p14="http://schemas.microsoft.com/office/powerpoint/2010/main" val="2882812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1348</TotalTime>
  <Words>3037</Words>
  <Application>Microsoft Office PowerPoint</Application>
  <PresentationFormat>On-screen Show (4:3)</PresentationFormat>
  <Paragraphs>350</Paragraphs>
  <Slides>41</Slides>
  <Notes>12</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Office Theme</vt:lpstr>
      <vt:lpstr>Chapter 3````x</vt:lpstr>
      <vt:lpstr>Outline</vt:lpstr>
      <vt:lpstr>Database integrity</vt:lpstr>
      <vt:lpstr> Integrity Constraints </vt:lpstr>
      <vt:lpstr>Types of constraints </vt:lpstr>
      <vt:lpstr>1. Domain constraints </vt:lpstr>
      <vt:lpstr>PowerPoint Presentation</vt:lpstr>
      <vt:lpstr> 2. Entity integrity constraints </vt:lpstr>
      <vt:lpstr>.</vt:lpstr>
      <vt:lpstr>.</vt:lpstr>
      <vt:lpstr> 3. Referential Integrity Constraints </vt:lpstr>
      <vt:lpstr>..</vt:lpstr>
      <vt:lpstr> 4. Key constraints/Unique Constraint/ </vt:lpstr>
      <vt:lpstr>.</vt:lpstr>
      <vt:lpstr> Database Security </vt:lpstr>
      <vt:lpstr>Cont..</vt:lpstr>
      <vt:lpstr>Security attackers</vt:lpstr>
      <vt:lpstr> Database Security Properties  </vt:lpstr>
      <vt:lpstr>.</vt:lpstr>
      <vt:lpstr> Identification, Authentication </vt:lpstr>
      <vt:lpstr>Authorization, Access Controls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Encryption </vt:lpstr>
      <vt:lpstr>Encryption Process</vt:lpstr>
      <vt:lpstr> Types of encryption </vt:lpstr>
      <vt:lpstr>.</vt:lpstr>
      <vt:lpstr>Asymmetric encryption </vt:lpstr>
      <vt:lpstr> Implementing Encryption  </vt:lpstr>
      <vt:lpstr> Database Security and the DBA  </vt:lpstr>
      <vt:lpstr>..</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Abc</dc:creator>
  <cp:lastModifiedBy>MR AME</cp:lastModifiedBy>
  <cp:revision>461</cp:revision>
  <dcterms:created xsi:type="dcterms:W3CDTF">2024-12-02T13:36:40Z</dcterms:created>
  <dcterms:modified xsi:type="dcterms:W3CDTF">2025-12-28T08:26:47Z</dcterms:modified>
</cp:coreProperties>
</file>